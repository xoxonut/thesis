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0" r:id="rId5"/>
    <p:sldId id="286" r:id="rId6"/>
    <p:sldId id="296" r:id="rId7"/>
    <p:sldId id="263" r:id="rId8"/>
    <p:sldId id="264" r:id="rId9"/>
    <p:sldId id="299" r:id="rId10"/>
    <p:sldId id="265" r:id="rId11"/>
    <p:sldId id="295" r:id="rId12"/>
    <p:sldId id="285" r:id="rId13"/>
    <p:sldId id="273" r:id="rId14"/>
    <p:sldId id="297" r:id="rId15"/>
    <p:sldId id="298" r:id="rId16"/>
    <p:sldId id="280" r:id="rId17"/>
    <p:sldId id="281" r:id="rId18"/>
    <p:sldId id="283" r:id="rId19"/>
    <p:sldId id="294" r:id="rId20"/>
    <p:sldId id="293" r:id="rId21"/>
    <p:sldId id="292" r:id="rId22"/>
    <p:sldId id="300" r:id="rId23"/>
    <p:sldId id="287" r:id="rId24"/>
    <p:sldId id="289" r:id="rId25"/>
    <p:sldId id="269" r:id="rId26"/>
    <p:sldId id="291" r:id="rId27"/>
    <p:sldId id="290" r:id="rId28"/>
    <p:sldId id="266" r:id="rId29"/>
    <p:sldId id="282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9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35" autoAdjust="0"/>
  </p:normalViewPr>
  <p:slideViewPr>
    <p:cSldViewPr snapToGrid="0">
      <p:cViewPr varScale="1">
        <p:scale>
          <a:sx n="65" d="100"/>
          <a:sy n="65" d="100"/>
        </p:scale>
        <p:origin x="7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7CF6E-5A4E-6AF1-66DF-5993D896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72C8-66E1-A5C9-9D59-998412A92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B2AB3-43E7-54D6-9A95-9E3E5F21B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830D-E81E-086A-B2DA-F0D3D9CD97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00248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0345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23883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887537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3602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https://www.sciencedirect.com/science/article/pii/S209099771300031X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88682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 err="1"/>
              <a:t>AoA</a:t>
            </a:r>
            <a:r>
              <a:rPr sz="4000" dirty="0"/>
              <a:t>-Assisted Dynamic RTS Threshold Adaptation for Hidden-Node Risk Mitigation 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altLang="zh-TW" sz="2400" dirty="0"/>
              <a:t>AoA-Assisted Dynamic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 and RTS/CTS 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</a:p>
          <a:p>
            <a:pPr lvl="1"/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pPr lvl="1"/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2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  <a:p>
            <a:r>
              <a:rPr lang="en-US" altLang="zh-TW" dirty="0"/>
              <a:t>Request To Send / Clear To Send (RTS/CTS)</a:t>
            </a:r>
          </a:p>
          <a:p>
            <a:pPr lvl="1"/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pPr lvl="1"/>
            <a:r>
              <a:rPr lang="en-US" altLang="zh-TW" dirty="0"/>
              <a:t>M</a:t>
            </a:r>
            <a:r>
              <a:rPr lang="zh-TW" altLang="zh-TW" dirty="0"/>
              <a:t>akes nearby nodes defer, reducing hidden-node collisions</a:t>
            </a:r>
            <a:endParaRPr lang="en-US" altLang="zh-TW" dirty="0"/>
          </a:p>
          <a:p>
            <a:endParaRPr lang="en-US" altLang="zh-TW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98C49B58-B337-4F13-B1F2-4C6BE0A54E61}"/>
              </a:ext>
            </a:extLst>
          </p:cNvPr>
          <p:cNvGrpSpPr/>
          <p:nvPr/>
        </p:nvGrpSpPr>
        <p:grpSpPr>
          <a:xfrm>
            <a:off x="3697162" y="4146294"/>
            <a:ext cx="5053115" cy="2711706"/>
            <a:chOff x="4883726" y="4163353"/>
            <a:chExt cx="4910802" cy="273303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4883726" y="4163353"/>
              <a:ext cx="4910802" cy="2733034"/>
              <a:chOff x="2864188" y="3407243"/>
              <a:chExt cx="6255516" cy="3356965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4"/>
                <a:ext cx="3432558" cy="3356964"/>
                <a:chOff x="2177143" y="3429001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8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1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720429" y="5547577"/>
              <a:ext cx="320056" cy="12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6637768" y="5547582"/>
              <a:ext cx="320055" cy="14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 Static RTS Threshold Fits All Scenarios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RTS/CTS is used only for frames above threshold</a:t>
            </a:r>
          </a:p>
          <a:p>
            <a:r>
              <a:rPr lang="en-US" altLang="zh-TW" dirty="0"/>
              <a:t>Commodity APs use one fixed</a:t>
            </a:r>
            <a:r>
              <a:rPr lang="zh-TW" altLang="en-US" dirty="0"/>
              <a:t> </a:t>
            </a:r>
            <a:r>
              <a:rPr lang="en-US" altLang="zh-TW" dirty="0"/>
              <a:t>threshold</a:t>
            </a:r>
          </a:p>
          <a:p>
            <a:r>
              <a:rPr lang="en-US" altLang="zh-TW" dirty="0"/>
              <a:t>Suitable threshold changes as nodes move </a:t>
            </a:r>
          </a:p>
          <a:p>
            <a:r>
              <a:rPr lang="en-US" altLang="zh-TW" dirty="0"/>
              <a:t>A fixed value falls below or above the suitable value</a:t>
            </a:r>
          </a:p>
          <a:p>
            <a:pPr lvl="1"/>
            <a:r>
              <a:rPr lang="en-US" altLang="zh-TW" dirty="0"/>
              <a:t>Below → RTS/CTS overhead even without hidden nodes</a:t>
            </a:r>
          </a:p>
          <a:p>
            <a:pPr lvl="1"/>
            <a:r>
              <a:rPr lang="en-US" altLang="zh-TW" dirty="0"/>
              <a:t>Above → Hidden-node collisions stay unresolved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5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537BE-4165-4A69-AB5D-4F2F037A6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Location Info Unused for RTS Control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8B4F06-0621-4167-94AA-CF779A3DE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Adaptive RTS threshold control already exists </a:t>
            </a:r>
          </a:p>
          <a:p>
            <a:pPr lvl="1"/>
            <a:r>
              <a:rPr lang="en-US" altLang="zh-TW" dirty="0"/>
              <a:t>Switch RTS/CTS on or off per frame </a:t>
            </a:r>
          </a:p>
          <a:p>
            <a:pPr lvl="1"/>
            <a:r>
              <a:rPr lang="en-US" altLang="zh-TW" dirty="0"/>
              <a:t>Tune the RTS threshold value</a:t>
            </a:r>
          </a:p>
          <a:p>
            <a:r>
              <a:rPr lang="en-US" altLang="zh-TW" dirty="0"/>
              <a:t>Prior work relies on link information only </a:t>
            </a:r>
          </a:p>
          <a:p>
            <a:pPr lvl="1"/>
            <a:r>
              <a:rPr lang="en-US" altLang="zh-TW" dirty="0"/>
              <a:t>E.g., Loss statistics or traffic models</a:t>
            </a:r>
          </a:p>
          <a:p>
            <a:r>
              <a:rPr lang="en-US" altLang="zh-TW" dirty="0"/>
              <a:t>No design uses location information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2F0DEB-F8E2-4DFD-B328-4570945C9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6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108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Dynamic RTS Threshold Adapts to Device Location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Sense Environment</a:t>
            </a:r>
          </a:p>
          <a:p>
            <a:pPr lvl="1"/>
            <a:r>
              <a:rPr lang="en-US" altLang="zh-TW" dirty="0"/>
              <a:t>Collect CSI </a:t>
            </a:r>
          </a:p>
          <a:p>
            <a:pPr lvl="2"/>
            <a:r>
              <a:rPr lang="en-US" altLang="zh-TW" dirty="0"/>
              <a:t>Estimate STA direction</a:t>
            </a:r>
          </a:p>
          <a:p>
            <a:pPr lvl="1"/>
            <a:r>
              <a:rPr lang="en-US" altLang="zh-TW" dirty="0"/>
              <a:t>Collect link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zh-TW" dirty="0"/>
              <a:t>Evaluate</a:t>
            </a:r>
            <a:r>
              <a:rPr lang="en-US" altLang="zh-TW" dirty="0"/>
              <a:t> R</a:t>
            </a:r>
            <a:r>
              <a:rPr lang="zh-TW" altLang="zh-TW" dirty="0"/>
              <a:t>isk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Update Threshold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C5F783FE-1E47-36FC-7FBB-AC6D79F181E7}"/>
              </a:ext>
            </a:extLst>
          </p:cNvPr>
          <p:cNvGrpSpPr/>
          <p:nvPr/>
        </p:nvGrpSpPr>
        <p:grpSpPr>
          <a:xfrm>
            <a:off x="1564688" y="3971064"/>
            <a:ext cx="9062624" cy="1213893"/>
            <a:chOff x="2874153" y="4009587"/>
            <a:chExt cx="9062624" cy="1213893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D2B9C383-F0D0-CC86-0B71-0A271DF4BA30}"/>
                </a:ext>
              </a:extLst>
            </p:cNvPr>
            <p:cNvGrpSpPr/>
            <p:nvPr/>
          </p:nvGrpSpPr>
          <p:grpSpPr>
            <a:xfrm>
              <a:off x="2874153" y="4009587"/>
              <a:ext cx="9062624" cy="1213893"/>
              <a:chOff x="3668361" y="2041499"/>
              <a:chExt cx="9062624" cy="1213893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0E7E70E-F4D2-80E1-E6D6-26E405709EA3}"/>
                  </a:ext>
                </a:extLst>
              </p:cNvPr>
              <p:cNvSpPr/>
              <p:nvPr/>
            </p:nvSpPr>
            <p:spPr bwMode="auto">
              <a:xfrm>
                <a:off x="3668361" y="2041499"/>
                <a:ext cx="1869311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Sense Environment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D7C3D99-E3B9-9B99-7BBD-E1D2A9DCD5F7}"/>
                  </a:ext>
                </a:extLst>
              </p:cNvPr>
              <p:cNvSpPr/>
              <p:nvPr/>
            </p:nvSpPr>
            <p:spPr bwMode="auto">
              <a:xfrm>
                <a:off x="7265929" y="2041499"/>
                <a:ext cx="1868400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Evaluate</a:t>
                </a:r>
              </a:p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 Risk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C9078BCB-85D7-B81A-6F0D-1FF5C3B9FC56}"/>
                  </a:ext>
                </a:extLst>
              </p:cNvPr>
              <p:cNvSpPr/>
              <p:nvPr/>
            </p:nvSpPr>
            <p:spPr bwMode="auto">
              <a:xfrm>
                <a:off x="10862585" y="2041845"/>
                <a:ext cx="1868400" cy="1213200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Update</a:t>
                </a:r>
                <a:b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</a:b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Threshold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57" name="直線單箭頭接點 56">
              <a:extLst>
                <a:ext uri="{FF2B5EF4-FFF2-40B4-BE49-F238E27FC236}">
                  <a16:creationId xmlns:a16="http://schemas.microsoft.com/office/drawing/2014/main" id="{3923DA69-D341-5362-C03C-45F824C69875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 bwMode="auto">
            <a:xfrm>
              <a:off x="4743464" y="4616534"/>
              <a:ext cx="1728257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1BFCCB47-3052-D618-C418-52AF680EDF3E}"/>
                </a:ext>
              </a:extLst>
            </p:cNvPr>
            <p:cNvCxnSpPr>
              <a:cxnSpLocks/>
              <a:stCxn id="51" idx="3"/>
              <a:endCxn id="53" idx="1"/>
            </p:cNvCxnSpPr>
            <p:nvPr/>
          </p:nvCxnSpPr>
          <p:spPr bwMode="auto">
            <a:xfrm flipV="1">
              <a:off x="8340121" y="4616533"/>
              <a:ext cx="1728256" cy="1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/>
              <a:t>Background</a:t>
            </a:r>
          </a:p>
          <a:p>
            <a:pPr lvl="1"/>
            <a:r>
              <a:rPr lang="en-US" altLang="zh-TW" dirty="0"/>
              <a:t>Angle of Arrival</a:t>
            </a:r>
          </a:p>
          <a:p>
            <a:pPr lvl="1"/>
            <a:r>
              <a:rPr lang="en-US" altLang="zh-TW" dirty="0"/>
              <a:t>Channel State Information</a:t>
            </a:r>
          </a:p>
          <a:p>
            <a:pPr lvl="1"/>
            <a:r>
              <a:rPr lang="en-US" altLang="zh-TW" dirty="0"/>
              <a:t>Steering Vector</a:t>
            </a:r>
          </a:p>
          <a:p>
            <a:pPr lvl="1"/>
            <a:r>
              <a:rPr lang="en-US" altLang="zh-TW" dirty="0"/>
              <a:t>Multiple Signal Classification</a:t>
            </a:r>
            <a:endParaRPr lang="en-US" dirty="0"/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3E885-0C2F-F8C7-10BC-C5E1B9B98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D873EE-BA1B-0C90-D69C-C403157E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Angle of Arrival</a:t>
            </a:r>
            <a:r>
              <a:rPr lang="zh-TW" altLang="en-US" dirty="0"/>
              <a:t> </a:t>
            </a:r>
            <a:r>
              <a:rPr lang="en-US" altLang="zh-TW" dirty="0"/>
              <a:t>(AoA): STA Direction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C459A-8BC6-53C3-5511-CE4631C4DD0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DD7CD-7D88-FB43-3D4F-DD8986747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/>
              <a:t>AoA tells</a:t>
            </a:r>
            <a:r>
              <a:rPr lang="zh-TW" altLang="en-US"/>
              <a:t> </a:t>
            </a:r>
            <a:r>
              <a:rPr lang="zh-TW" altLang="zh-TW"/>
              <a:t>STA's </a:t>
            </a:r>
            <a:r>
              <a:rPr lang="zh-TW" altLang="zh-TW" dirty="0"/>
              <a:t>direction </a:t>
            </a:r>
            <a:endParaRPr lang="en-US" altLang="zh-TW" dirty="0"/>
          </a:p>
          <a:p>
            <a:r>
              <a:rPr lang="zh-TW" altLang="zh-TW" dirty="0"/>
              <a:t>AP measures AoA from normal uplink frames</a:t>
            </a:r>
            <a:endParaRPr lang="en-US" altLang="zh-TW" dirty="0"/>
          </a:p>
          <a:p>
            <a:r>
              <a:rPr lang="zh-TW" altLang="zh-TW" dirty="0"/>
              <a:t>Rays from a distant STA arrive parallel</a:t>
            </a:r>
            <a:endParaRPr lang="en-US" altLang="zh-TW" dirty="0"/>
          </a:p>
          <a:p>
            <a:pPr lvl="1"/>
            <a:r>
              <a:rPr lang="zh-TW" altLang="zh-TW" dirty="0"/>
              <a:t>Both antennas see the same angle</a:t>
            </a:r>
            <a:endParaRPr lang="en-US" altLang="zh-TW" dirty="0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A4207697-A731-D810-722D-D85B268880A8}"/>
              </a:ext>
            </a:extLst>
          </p:cNvPr>
          <p:cNvGrpSpPr/>
          <p:nvPr/>
        </p:nvGrpSpPr>
        <p:grpSpPr>
          <a:xfrm>
            <a:off x="5059157" y="2708576"/>
            <a:ext cx="5030558" cy="3777770"/>
            <a:chOff x="3643905" y="2835055"/>
            <a:chExt cx="4333010" cy="3197244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3C3AF028-2166-5B5A-7868-9D265220E7C4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7" name="群組 46">
                <a:extLst>
                  <a:ext uri="{FF2B5EF4-FFF2-40B4-BE49-F238E27FC236}">
                    <a16:creationId xmlns:a16="http://schemas.microsoft.com/office/drawing/2014/main" id="{9C6FCE05-A696-1C10-3297-2F86536C51CF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49" name="圖片 48">
                  <a:extLst>
                    <a:ext uri="{FF2B5EF4-FFF2-40B4-BE49-F238E27FC236}">
                      <a16:creationId xmlns:a16="http://schemas.microsoft.com/office/drawing/2014/main" id="{CDC82F43-CB61-8383-4AC2-D2DC6EFED6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50" name="圖片 49">
                  <a:extLst>
                    <a:ext uri="{FF2B5EF4-FFF2-40B4-BE49-F238E27FC236}">
                      <a16:creationId xmlns:a16="http://schemas.microsoft.com/office/drawing/2014/main" id="{0BFFD1B8-29F8-19CD-10DA-53915595B9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51" name="直線單箭頭接點 50">
                  <a:extLst>
                    <a:ext uri="{FF2B5EF4-FFF2-40B4-BE49-F238E27FC236}">
                      <a16:creationId xmlns:a16="http://schemas.microsoft.com/office/drawing/2014/main" id="{49A074F4-AC64-AB0C-76AA-0F17B16AE248}"/>
                    </a:ext>
                  </a:extLst>
                </p:cNvPr>
                <p:cNvCxnSpPr>
                  <a:cxnSpLocks/>
                  <a:endCxn id="50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5AA392D2-34F2-4F76-5CB8-794DFF583DBB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53" name="直線單箭頭接點 52">
                  <a:extLst>
                    <a:ext uri="{FF2B5EF4-FFF2-40B4-BE49-F238E27FC236}">
                      <a16:creationId xmlns:a16="http://schemas.microsoft.com/office/drawing/2014/main" id="{2D770139-0D6A-F1F5-F16D-1920D95A6D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接點 53">
                  <a:extLst>
                    <a:ext uri="{FF2B5EF4-FFF2-40B4-BE49-F238E27FC236}">
                      <a16:creationId xmlns:a16="http://schemas.microsoft.com/office/drawing/2014/main" id="{6475B873-A345-32EC-BE3F-09BC88D67DA8}"/>
                    </a:ext>
                  </a:extLst>
                </p:cNvPr>
                <p:cNvCxnSpPr>
                  <a:cxnSpLocks/>
                  <a:stCxn id="49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線接點 54">
                  <a:extLst>
                    <a:ext uri="{FF2B5EF4-FFF2-40B4-BE49-F238E27FC236}">
                      <a16:creationId xmlns:a16="http://schemas.microsoft.com/office/drawing/2014/main" id="{6D2B28E2-478C-1E72-33CC-EBEE6477E7DD}"/>
                    </a:ext>
                  </a:extLst>
                </p:cNvPr>
                <p:cNvCxnSpPr>
                  <a:cxnSpLocks/>
                  <a:stCxn id="50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單箭頭接點 55">
                  <a:extLst>
                    <a:ext uri="{FF2B5EF4-FFF2-40B4-BE49-F238E27FC236}">
                      <a16:creationId xmlns:a16="http://schemas.microsoft.com/office/drawing/2014/main" id="{E8F4D14C-089B-FC9E-A759-00D284B14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接點 56">
                  <a:extLst>
                    <a:ext uri="{FF2B5EF4-FFF2-40B4-BE49-F238E27FC236}">
                      <a16:creationId xmlns:a16="http://schemas.microsoft.com/office/drawing/2014/main" id="{C17F19A3-6A42-C34C-57A8-B5A409B74DCA}"/>
                    </a:ext>
                  </a:extLst>
                </p:cNvPr>
                <p:cNvCxnSpPr>
                  <a:stCxn id="49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L 圖案 57">
                  <a:extLst>
                    <a:ext uri="{FF2B5EF4-FFF2-40B4-BE49-F238E27FC236}">
                      <a16:creationId xmlns:a16="http://schemas.microsoft.com/office/drawing/2014/main" id="{E043CC52-3FAA-0B2B-0302-7631EDD54281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9C86064-E6A9-2323-443F-49351E173A79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8" name="弧形 47">
                <a:extLst>
                  <a:ext uri="{FF2B5EF4-FFF2-40B4-BE49-F238E27FC236}">
                    <a16:creationId xmlns:a16="http://schemas.microsoft.com/office/drawing/2014/main" id="{E5B5824A-99B9-BE8D-804F-EDE1D648D630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8FAEA767-46B5-8F2E-1737-1AA17CB4B55D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弧形 45">
              <a:extLst>
                <a:ext uri="{FF2B5EF4-FFF2-40B4-BE49-F238E27FC236}">
                  <a16:creationId xmlns:a16="http://schemas.microsoft.com/office/drawing/2014/main" id="{C361BF22-B3D3-F065-2806-16D1480953D9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4796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Contains geometric information</a:t>
            </a:r>
          </a:p>
          <a:p>
            <a:r>
              <a:rPr lang="zh-TW" altLang="zh-TW" dirty="0"/>
              <a:t>CSI is estimated from a known pattern</a:t>
            </a:r>
            <a:endParaRPr lang="en-US" altLang="zh-TW" dirty="0"/>
          </a:p>
          <a:p>
            <a:pPr lvl="1"/>
            <a:r>
              <a:rPr lang="en-US" altLang="zh-TW" dirty="0"/>
              <a:t>Sender transmits a pattern known to receiver</a:t>
            </a:r>
          </a:p>
          <a:p>
            <a:pPr lvl="1"/>
            <a:r>
              <a:rPr lang="en-US" altLang="zh-TW" dirty="0"/>
              <a:t>Receiver estimates CSI from received pattern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1984109" y="3928599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Vector:</a:t>
            </a:r>
            <a:r>
              <a:rPr lang="zh-TW" altLang="en-US" dirty="0"/>
              <a:t> </a:t>
            </a:r>
            <a:r>
              <a:rPr lang="en-US" altLang="zh-TW" dirty="0"/>
              <a:t>Direction's Fingerprint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 signal at slightly different times</a:t>
            </a:r>
          </a:p>
          <a:p>
            <a:r>
              <a:rPr lang="en-US" altLang="zh-TW" dirty="0"/>
              <a:t>Each AoA has a predictable arrival pattern</a:t>
            </a:r>
          </a:p>
          <a:p>
            <a:pPr lvl="1"/>
            <a:r>
              <a:rPr lang="en-US" altLang="zh-TW" dirty="0"/>
              <a:t>Predicted pattern is </a:t>
            </a:r>
            <a:r>
              <a:rPr lang="en-US" altLang="zh-TW" b="1" dirty="0"/>
              <a:t>Steering Vector</a:t>
            </a:r>
          </a:p>
          <a:p>
            <a:r>
              <a:rPr lang="en-US" altLang="zh-TW" dirty="0"/>
              <a:t>Compare measured CSI with every fingerprint</a:t>
            </a:r>
          </a:p>
          <a:p>
            <a:pPr lvl="1"/>
            <a:r>
              <a:rPr lang="en-US" altLang="zh-TW" dirty="0"/>
              <a:t>The best match is the AoA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11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7E7AC0B8-E206-48B0-82EB-C7C7FBDD70D1}"/>
              </a:ext>
            </a:extLst>
          </p:cNvPr>
          <p:cNvGrpSpPr/>
          <p:nvPr/>
        </p:nvGrpSpPr>
        <p:grpSpPr>
          <a:xfrm>
            <a:off x="4794524" y="2297482"/>
            <a:ext cx="7083343" cy="4140063"/>
            <a:chOff x="3682697" y="2357120"/>
            <a:chExt cx="7083343" cy="414006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82697" y="3289102"/>
              <a:ext cx="4479876" cy="3197244"/>
              <a:chOff x="3546935" y="3137919"/>
              <a:chExt cx="4479876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479876" cy="3197244"/>
                <a:chOff x="2992580" y="1973964"/>
                <a:chExt cx="4479876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1973964"/>
                  <a:ext cx="3201793" cy="260842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4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𝑑𝑠𝑖𝑛</m:t>
                            </m:r>
                            <m:r>
                              <a:rPr lang="el-GR" altLang="zh-TW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zh-TW" altLang="en-US" sz="2400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113" r="-105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42" name="直線單箭頭接點 41">
                  <a:extLst>
                    <a:ext uri="{FF2B5EF4-FFF2-40B4-BE49-F238E27FC236}">
                      <a16:creationId xmlns:a16="http://schemas.microsoft.com/office/drawing/2014/main" id="{0BF44F4A-6F25-415D-A27F-6F39896AB33A}"/>
                    </a:ext>
                  </a:extLst>
                </p:cNvPr>
                <p:cNvCxnSpPr>
                  <a:endCxn id="7" idx="0"/>
                </p:cNvCxnSpPr>
                <p:nvPr/>
              </p:nvCxnSpPr>
              <p:spPr>
                <a:xfrm>
                  <a:off x="5864780" y="3278177"/>
                  <a:ext cx="1166402" cy="1304214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01373AC0-E96E-4464-A232-F5F3E3A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77223" y="5908366"/>
              <a:ext cx="588817" cy="588817"/>
            </a:xfrm>
            <a:prstGeom prst="rect">
              <a:avLst/>
            </a:prstGeom>
          </p:spPr>
        </p:pic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7D38B8C8-C97F-4BBE-AB3C-92270E79969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711112" y="5885506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B076A017-029F-42DB-8D08-E3852581F4A1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10471632" y="4464030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A2BD27C6-9FA1-43A8-B2A9-32B149143C9B}"/>
                </a:ext>
              </a:extLst>
            </p:cNvPr>
            <p:cNvSpPr txBox="1"/>
            <p:nvPr/>
          </p:nvSpPr>
          <p:spPr>
            <a:xfrm>
              <a:off x="8975040" y="5882014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34B230B2-CEA4-42FC-B3C4-7E3C3C98663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347258" y="2357120"/>
              <a:ext cx="3124374" cy="355124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單箭頭接點 32">
              <a:extLst>
                <a:ext uri="{FF2B5EF4-FFF2-40B4-BE49-F238E27FC236}">
                  <a16:creationId xmlns:a16="http://schemas.microsoft.com/office/drawing/2014/main" id="{DDF36F0F-620F-4B21-A9EB-035C19207A01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8162573" y="3279598"/>
              <a:ext cx="2309059" cy="262876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/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solidFill>
                        <a:srgbClr val="FF0000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2</a:t>
                  </a:r>
                  <a14:m>
                    <m:oMath xmlns:m="http://schemas.openxmlformats.org/officeDocument/2006/math">
                      <m:r>
                        <a:rPr lang="en-US" altLang="zh-TW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𝑑𝑠𝑖𝑛</m:t>
                      </m:r>
                      <m:r>
                        <a:rPr lang="el-GR" altLang="zh-TW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</m:oMath>
                  </a14:m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7979" t="-11842" b="-2763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011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A6F68BC6-C333-4646-BEC6-2D2D5F10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152" y="2757576"/>
            <a:ext cx="6908753" cy="367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Signal Classification </a:t>
            </a:r>
            <a:r>
              <a:rPr lang="en-US" altLang="zh-TW" b="1" dirty="0"/>
              <a:t>(MUSIC)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TW" dirty="0"/>
              <a:t>MUSIC is algorithm that estimates AoA from CSI</a:t>
            </a:r>
            <a:r>
              <a:rPr lang="zh-TW" altLang="en-US" dirty="0"/>
              <a:t> </a:t>
            </a:r>
            <a:endParaRPr lang="en-US" altLang="zh-TW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Widely used in Wi-Fi localization</a:t>
            </a:r>
          </a:p>
          <a:p>
            <a:r>
              <a:rPr lang="en-US" dirty="0"/>
              <a:t>MUSIC matches every angle's steering vector to CSI</a:t>
            </a:r>
          </a:p>
          <a:p>
            <a:pPr lvl="1"/>
            <a:r>
              <a:rPr lang="en-US" dirty="0"/>
              <a:t>Matching produces a spatial spectrum</a:t>
            </a:r>
          </a:p>
          <a:p>
            <a:pPr lvl="1"/>
            <a:r>
              <a:rPr lang="en-US" dirty="0"/>
              <a:t>Peaks indicate likely </a:t>
            </a:r>
            <a:r>
              <a:rPr lang="en-US" dirty="0" err="1"/>
              <a:t>AoAs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/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Hidden-Node Risk Score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65" y="1073274"/>
            <a:ext cx="10916870" cy="5413072"/>
          </a:xfrm>
        </p:spPr>
        <p:txBody>
          <a:bodyPr/>
          <a:lstStyle/>
          <a:p>
            <a:r>
              <a:rPr lang="en-US" altLang="zh-TW" dirty="0"/>
              <a:t>Risk computed for each active STA pair</a:t>
            </a:r>
          </a:p>
          <a:p>
            <a:pPr lvl="1"/>
            <a:r>
              <a:rPr lang="en-US" altLang="zh-TW" dirty="0"/>
              <a:t>Geometric information</a:t>
            </a:r>
          </a:p>
          <a:p>
            <a:pPr lvl="2"/>
            <a:r>
              <a:rPr lang="en-US" altLang="zh-TW" dirty="0"/>
              <a:t>AoA between two active STAs</a:t>
            </a:r>
          </a:p>
          <a:p>
            <a:pPr lvl="1"/>
            <a:r>
              <a:rPr lang="en-US" altLang="zh-TW" dirty="0"/>
              <a:t>Link information</a:t>
            </a:r>
          </a:p>
          <a:p>
            <a:pPr lvl="2"/>
            <a:r>
              <a:rPr lang="en-US" altLang="zh-TW" dirty="0"/>
              <a:t>Retry rate / RSSI / MCS / traffic activity</a:t>
            </a:r>
          </a:p>
          <a:p>
            <a:r>
              <a:rPr lang="en-US" altLang="zh-TW" dirty="0"/>
              <a:t>Risks aggregate into a BSS-level score </a:t>
            </a:r>
          </a:p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4140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C1B5A-7ECB-4B29-938A-FE380B20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Risk-Driven RTS Threshold Adaptation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73DB14-0049-47E8-9DE5-C2EF1F96A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High risk → lower the RTS threshold </a:t>
            </a:r>
          </a:p>
          <a:p>
            <a:pPr lvl="1"/>
            <a:r>
              <a:rPr lang="en-US" altLang="zh-TW" dirty="0"/>
              <a:t>Protect more frames</a:t>
            </a:r>
          </a:p>
          <a:p>
            <a:r>
              <a:rPr lang="en-US" altLang="zh-TW" dirty="0"/>
              <a:t>Low risk → raise/restore the threshold </a:t>
            </a:r>
          </a:p>
          <a:p>
            <a:pPr lvl="1"/>
            <a:r>
              <a:rPr lang="en-US" altLang="zh-TW" dirty="0"/>
              <a:t>Avoid unnecessary overhead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FD60A6-02CF-43A6-97E9-1DB411585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15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370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Evaluation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Scenarios</a:t>
            </a:r>
          </a:p>
          <a:p>
            <a:pPr lvl="1"/>
            <a:r>
              <a:rPr lang="en-US" dirty="0"/>
              <a:t>H</a:t>
            </a:r>
            <a:r>
              <a:rPr dirty="0"/>
              <a:t>idden-node 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on-hidden-node</a:t>
            </a:r>
            <a:endParaRPr lang="en-US" dirty="0"/>
          </a:p>
          <a:p>
            <a:r>
              <a:rPr lang="en-US" altLang="zh-TW" dirty="0"/>
              <a:t>Threshold Control Policy</a:t>
            </a:r>
            <a:r>
              <a:rPr dirty="0"/>
              <a:t> </a:t>
            </a:r>
          </a:p>
          <a:p>
            <a:pPr lvl="1"/>
            <a:r>
              <a:rPr lang="en-US" dirty="0"/>
              <a:t>Static </a:t>
            </a:r>
            <a:r>
              <a:rPr dirty="0"/>
              <a:t>RTS </a:t>
            </a:r>
            <a:r>
              <a:rPr lang="en-US" altLang="zh-TW" dirty="0"/>
              <a:t>threshold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ynamic RTS threshold</a:t>
            </a:r>
            <a:endParaRPr lang="en-US" dirty="0"/>
          </a:p>
          <a:p>
            <a:pPr lvl="1"/>
            <a:r>
              <a:rPr lang="en-US" dirty="0"/>
              <a:t>Disable</a:t>
            </a:r>
            <a:r>
              <a:rPr lang="zh-TW" altLang="en-US" dirty="0"/>
              <a:t> </a:t>
            </a:r>
            <a:r>
              <a:rPr lang="en-US" altLang="zh-TW" dirty="0"/>
              <a:t>RTS/CTS</a:t>
            </a:r>
            <a:endParaRPr lang="en-US" dirty="0"/>
          </a:p>
          <a:p>
            <a:pPr marL="288000" lvl="1" indent="0">
              <a:buNone/>
            </a:pPr>
            <a:endParaRPr dirty="0"/>
          </a:p>
          <a:p>
            <a:r>
              <a:rPr lang="en-US" altLang="zh-TW" dirty="0"/>
              <a:t>Metrics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hroughput 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etry rate</a:t>
            </a:r>
            <a:endParaRPr lang="en-US" dirty="0"/>
          </a:p>
          <a:p>
            <a:pPr lvl="1"/>
            <a:r>
              <a:rPr lang="en-US" altLang="zh-TW" dirty="0"/>
              <a:t>L</a:t>
            </a:r>
            <a:r>
              <a:rPr dirty="0"/>
              <a:t>atency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8B381-88E0-4540-A720-E44FC5D00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Next Steps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AF9DBA-0B62-40AA-A21F-3A72F28DA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Define risk scoring and score-to-threshold mapping</a:t>
            </a:r>
          </a:p>
          <a:p>
            <a:pPr lvl="1"/>
            <a:r>
              <a:rPr lang="en-US" altLang="zh-TW" dirty="0"/>
              <a:t> Reinforcement learning?</a:t>
            </a:r>
          </a:p>
          <a:p>
            <a:r>
              <a:rPr lang="en-US" altLang="zh-TW" dirty="0"/>
              <a:t>Adopt other MUSIC variant for AoA estimation</a:t>
            </a:r>
          </a:p>
          <a:p>
            <a:r>
              <a:rPr lang="en-US" altLang="zh-TW" dirty="0"/>
              <a:t>Speed up MUSIC </a:t>
            </a:r>
          </a:p>
          <a:p>
            <a:r>
              <a:rPr lang="en-US" altLang="zh-TW" dirty="0"/>
              <a:t>Define evaluation scenarios, baselines, and metrics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95F32A-F583-40A3-82C9-26659D8E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19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69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20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65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Antenna Timing Differences Reveal AoA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</a:t>
            </a:r>
            <a:r>
              <a:rPr lang="zh-TW" altLang="en-US" dirty="0"/>
              <a:t> </a:t>
            </a:r>
            <a:r>
              <a:rPr lang="en-US" altLang="zh-TW" dirty="0"/>
              <a:t>signal at slightly different times	</a:t>
            </a:r>
          </a:p>
          <a:p>
            <a:r>
              <a:rPr lang="en-US" altLang="zh-TW" dirty="0"/>
              <a:t>Wave arrival pattern depends only on direction</a:t>
            </a:r>
          </a:p>
          <a:p>
            <a:r>
              <a:rPr lang="en-US" altLang="zh-TW" dirty="0"/>
              <a:t>Reading the pattern from CSI gives the AoA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23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82966C14-C85C-4C6B-95B8-93459039BC37}"/>
              </a:ext>
            </a:extLst>
          </p:cNvPr>
          <p:cNvGrpSpPr/>
          <p:nvPr/>
        </p:nvGrpSpPr>
        <p:grpSpPr>
          <a:xfrm>
            <a:off x="3685468" y="3289102"/>
            <a:ext cx="4333010" cy="3197244"/>
            <a:chOff x="3643905" y="2835055"/>
            <a:chExt cx="4333010" cy="319724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stCxn id="6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6CBC110D-A606-4AAD-A2A4-5BF86C2A99AA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" name="弧形 21">
              <a:extLst>
                <a:ext uri="{FF2B5EF4-FFF2-40B4-BE49-F238E27FC236}">
                  <a16:creationId xmlns:a16="http://schemas.microsoft.com/office/drawing/2014/main" id="{9CBF0CF5-E711-4472-AC10-DFA5BDA6E85D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015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Spatial spectrum estimation scores each angle by matching phase pattern to  CSI</a:t>
            </a:r>
          </a:p>
          <a:p>
            <a:pPr lvl="1"/>
            <a:r>
              <a:rPr lang="en-US" altLang="zh-TW" dirty="0"/>
              <a:t>Phase pattern of each angle is called </a:t>
            </a:r>
            <a:r>
              <a:rPr lang="en-US" altLang="zh-TW" b="1" dirty="0"/>
              <a:t>steering vector</a:t>
            </a:r>
          </a:p>
          <a:p>
            <a:r>
              <a:rPr lang="en-US" dirty="0"/>
              <a:t>Angle with the highest score is most likely signal's AoA</a:t>
            </a:r>
          </a:p>
          <a:p>
            <a:pPr lvl="1"/>
            <a:r>
              <a:rPr lang="en-US" dirty="0"/>
              <a:t>Multipath yields multiple peaks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3A1663-12B7-489A-912B-C9D30A360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802" y="2847109"/>
            <a:ext cx="6568395" cy="349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555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straightforward scorer: shift each antenna's signal to align with a candidate angle, then sum - a true arrival from that angle adds up in phase (delay-and-sum beamforming)</a:t>
            </a:r>
          </a:p>
          <a:p>
            <a:r>
              <a:rPr dirty="0"/>
              <a:t>Sweeping this listening beam across all angles gives the spatial spectrum - like turning an ear toward each direction</a:t>
            </a:r>
          </a:p>
          <a:p>
            <a:r>
              <a:rPr dirty="0"/>
              <a:t>The beam's width is set by array size: with only 2-4 antennas it is roughly 60 degrees wide</a:t>
            </a:r>
          </a:p>
          <a:p>
            <a:r>
              <a:rPr dirty="0"/>
              <a:t>Indoor paths arrive just 10-20 degrees apart, so they merge into one blob inside the wide beam</a:t>
            </a:r>
          </a:p>
          <a:p>
            <a:r>
              <a:rPr dirty="0"/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SpotFi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28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1873</TotalTime>
  <Words>1164</Words>
  <Application>Microsoft Office PowerPoint</Application>
  <DocSecurity>0</DocSecurity>
  <PresentationFormat>寬螢幕</PresentationFormat>
  <Paragraphs>237</Paragraphs>
  <Slides>29</Slides>
  <Notes>21</Notes>
  <HiddenSlides>9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7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Risk Mitigation in Wi-Fi</vt:lpstr>
      <vt:lpstr>Outline</vt:lpstr>
      <vt:lpstr>Outline</vt:lpstr>
      <vt:lpstr>Hidden Nodes Problem and RTS/CTS </vt:lpstr>
      <vt:lpstr>No Static RTS Threshold Fits All Scenarios</vt:lpstr>
      <vt:lpstr>Location Info Unused for RTS Control</vt:lpstr>
      <vt:lpstr>Dynamic RTS Threshold Adapts to Device Location</vt:lpstr>
      <vt:lpstr>Outline</vt:lpstr>
      <vt:lpstr>Angle of Arrival (AoA): STA Direction</vt:lpstr>
      <vt:lpstr>Wi-Fi Channel State Information (CSI)</vt:lpstr>
      <vt:lpstr>Steering Vector: Direction's Fingerprint</vt:lpstr>
      <vt:lpstr>Multiple Signal Classification (MUSIC)</vt:lpstr>
      <vt:lpstr>Outline</vt:lpstr>
      <vt:lpstr>Hidden-Node Risk Score</vt:lpstr>
      <vt:lpstr>Risk-Driven RTS Threshold Adaptation</vt:lpstr>
      <vt:lpstr>Outline</vt:lpstr>
      <vt:lpstr>Evaluation</vt:lpstr>
      <vt:lpstr>Outline</vt:lpstr>
      <vt:lpstr>Next Steps</vt:lpstr>
      <vt:lpstr>Appendix</vt:lpstr>
      <vt:lpstr>RTS/CTS Mitigates Hidden-Node Collisions</vt:lpstr>
      <vt:lpstr>RTS/CTS Mitigates Hidden-Node Collisions</vt:lpstr>
      <vt:lpstr>Antenna Timing Differences Reveal AoA</vt:lpstr>
      <vt:lpstr>CSI Representation</vt:lpstr>
      <vt:lpstr>Spatial Spectrum Estimation Estimates AoA</vt:lpstr>
      <vt:lpstr>Classic Beamforming Hits a Resolution Wall</vt:lpstr>
      <vt:lpstr>Why We Use MUSIC</vt:lpstr>
      <vt:lpstr>LRG1 Provides AP-Side Control and Measurements</vt:lpstr>
      <vt:lpstr>Performance Analysis Separates Gains from Limits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243</cp:revision>
  <dcterms:created xsi:type="dcterms:W3CDTF">2026-07-03T03:43:28Z</dcterms:created>
  <dcterms:modified xsi:type="dcterms:W3CDTF">2026-07-21T08:35:13Z</dcterms:modified>
</cp:coreProperties>
</file>