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60" r:id="rId5"/>
    <p:sldId id="262" r:id="rId6"/>
    <p:sldId id="286" r:id="rId7"/>
    <p:sldId id="263" r:id="rId8"/>
    <p:sldId id="264" r:id="rId9"/>
    <p:sldId id="265" r:id="rId10"/>
    <p:sldId id="287" r:id="rId11"/>
    <p:sldId id="285" r:id="rId12"/>
    <p:sldId id="273" r:id="rId13"/>
    <p:sldId id="275" r:id="rId14"/>
    <p:sldId id="280" r:id="rId15"/>
    <p:sldId id="281" r:id="rId16"/>
    <p:sldId id="283" r:id="rId17"/>
    <p:sldId id="294" r:id="rId18"/>
    <p:sldId id="293" r:id="rId19"/>
    <p:sldId id="292" r:id="rId20"/>
    <p:sldId id="289" r:id="rId21"/>
    <p:sldId id="269" r:id="rId22"/>
    <p:sldId id="291" r:id="rId23"/>
    <p:sldId id="290" r:id="rId24"/>
    <p:sldId id="266" r:id="rId25"/>
    <p:sldId id="282" r:id="rId2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35" autoAdjust="0"/>
  </p:normalViewPr>
  <p:slideViewPr>
    <p:cSldViewPr snapToGrid="0">
      <p:cViewPr varScale="1">
        <p:scale>
          <a:sx n="74" d="100"/>
          <a:sy n="74" d="100"/>
        </p:scale>
        <p:origin x="101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8AFD-031B-0436-DE48-43D141BD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3E3A4-B1A7-2C29-A3BB-1AC7E6D3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C6BEB-B163-351B-D7A5-C9DE47275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EBE5-E60A-E884-12FE-D8E2CA7D79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9168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3602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https://www.sciencedirect.com/science/article/pii/S209099771300031X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88682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3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6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microsoft.com/office/2007/relationships/hdphoto" Target="../media/hdphoto2.wdp"/><Relationship Id="rId19" Type="http://schemas.openxmlformats.org/officeDocument/2006/relationships/image" Target="../media/image18.png"/><Relationship Id="rId4" Type="http://schemas.openxmlformats.org/officeDocument/2006/relationships/image" Target="../media/image5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jpeg"/><Relationship Id="rId27" Type="http://schemas.openxmlformats.org/officeDocument/2006/relationships/image" Target="../media/image26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 err="1"/>
              <a:t>AoA</a:t>
            </a:r>
            <a:r>
              <a:rPr sz="4000" dirty="0"/>
              <a:t>-Assisted Dynamic RTS Threshold Adaptation for Hidden-Node Risk Mitigation in</a:t>
            </a:r>
            <a:r>
              <a:rPr lang="en-US" sz="4000" dirty="0"/>
              <a:t> </a:t>
            </a:r>
            <a:r>
              <a:rPr sz="4000" dirty="0"/>
              <a:t>Wi-Fi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altLang="zh-TW" sz="2400" dirty="0"/>
              <a:t>AoA-Assisted Dynamic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Problem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evices</a:t>
            </a:r>
            <a:r>
              <a:rPr lang="zh-TW" altLang="en-US" dirty="0"/>
              <a:t> </a:t>
            </a:r>
            <a:r>
              <a:rPr lang="zh-TW" altLang="zh-TW" dirty="0"/>
              <a:t>can communicate with AP but cannot detect each other</a:t>
            </a:r>
            <a:endParaRPr lang="en-US" altLang="zh-TW" dirty="0"/>
          </a:p>
          <a:p>
            <a:r>
              <a:rPr lang="zh-TW" altLang="zh-TW" dirty="0"/>
              <a:t>When they transmit at the same time, their signals collide at the AP</a:t>
            </a:r>
            <a:endParaRPr lang="en-US" altLang="zh-TW" dirty="0"/>
          </a:p>
          <a:p>
            <a:pPr lvl="1"/>
            <a:r>
              <a:rPr lang="en-US" altLang="zh-TW" dirty="0"/>
              <a:t>C</a:t>
            </a:r>
            <a:r>
              <a:rPr lang="zh-TW" altLang="zh-TW" dirty="0"/>
              <a:t>auses packet loss and lower throughput</a:t>
            </a:r>
            <a:endParaRPr lang="en-US" altLang="zh-TW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58B64D92-EB49-29A6-9035-D014E91FA694}"/>
              </a:ext>
            </a:extLst>
          </p:cNvPr>
          <p:cNvGrpSpPr/>
          <p:nvPr/>
        </p:nvGrpSpPr>
        <p:grpSpPr>
          <a:xfrm>
            <a:off x="3040250" y="2824942"/>
            <a:ext cx="6255516" cy="3356964"/>
            <a:chOff x="2864188" y="3407243"/>
            <a:chExt cx="6255516" cy="335696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2864188" y="3407243"/>
              <a:ext cx="6255516" cy="3356964"/>
              <a:chOff x="2864188" y="3407243"/>
              <a:chExt cx="6255516" cy="3356964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6477661" y="5107482"/>
              <a:ext cx="407696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5098536" y="5107482"/>
              <a:ext cx="407695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r>
              <a:rPr lang="zh-TW" altLang="zh-TW" dirty="0"/>
              <a:t>RTS/CTS makes nearby nodes defer, reducing hidden-node collisions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hear</a:t>
            </a:r>
            <a:r>
              <a:rPr lang="en-US" altLang="zh-TW" dirty="0" err="1"/>
              <a:t>ing</a:t>
            </a:r>
            <a:r>
              <a:rPr lang="zh-TW" altLang="zh-TW" dirty="0"/>
              <a:t>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r>
              <a:rPr lang="en-US" altLang="zh-TW" dirty="0"/>
              <a:t>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</a:t>
            </a:r>
            <a:r>
              <a:rPr lang="en-US" altLang="zh-TW" dirty="0" err="1"/>
              <a:t>ing</a:t>
            </a:r>
            <a:r>
              <a:rPr lang="zh-TW" altLang="zh-TW" dirty="0"/>
              <a:t> CTS </a:t>
            </a:r>
            <a:r>
              <a:rPr lang="en-US" altLang="zh-TW" dirty="0"/>
              <a:t> defers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86F1F333-313E-46BE-BEF9-DF3DBDE21760}"/>
              </a:ext>
            </a:extLst>
          </p:cNvPr>
          <p:cNvGrpSpPr/>
          <p:nvPr/>
        </p:nvGrpSpPr>
        <p:grpSpPr>
          <a:xfrm>
            <a:off x="38090" y="4268335"/>
            <a:ext cx="12259836" cy="2169210"/>
            <a:chOff x="-259180" y="4323740"/>
            <a:chExt cx="12259836" cy="2169210"/>
          </a:xfrm>
        </p:grpSpPr>
        <p:pic>
          <p:nvPicPr>
            <p:cNvPr id="37" name="內容版面配置區 5">
              <a:extLst>
                <a:ext uri="{FF2B5EF4-FFF2-40B4-BE49-F238E27FC236}">
                  <a16:creationId xmlns:a16="http://schemas.microsoft.com/office/drawing/2014/main" id="{BE4002B0-05F5-24BC-43DE-8D1C79553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50558" y="4845419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08FBFEB-86BB-0F6F-AF14-AFB5AA687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175" y="4895134"/>
              <a:ext cx="1492696" cy="1492696"/>
            </a:xfrm>
            <a:prstGeom prst="rect">
              <a:avLst/>
            </a:prstGeom>
          </p:spPr>
        </p:pic>
        <p:pic>
          <p:nvPicPr>
            <p:cNvPr id="7" name="內容版面配置區 5">
              <a:extLst>
                <a:ext uri="{FF2B5EF4-FFF2-40B4-BE49-F238E27FC236}">
                  <a16:creationId xmlns:a16="http://schemas.microsoft.com/office/drawing/2014/main" id="{85E5E06E-7868-F095-29F7-BC1065177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601" y="4845420"/>
              <a:ext cx="1592125" cy="1592125"/>
            </a:xfrm>
            <a:prstGeom prst="rect">
              <a:avLst/>
            </a:prstGeom>
            <a:noFill/>
          </p:spPr>
        </p:pic>
        <p:sp>
          <p:nvSpPr>
            <p:cNvPr id="15" name="乘號 14">
              <a:extLst>
                <a:ext uri="{FF2B5EF4-FFF2-40B4-BE49-F238E27FC236}">
                  <a16:creationId xmlns:a16="http://schemas.microsoft.com/office/drawing/2014/main" id="{B71CBB7F-6DC9-B75C-1780-EC99C1665C88}"/>
                </a:ext>
              </a:extLst>
            </p:cNvPr>
            <p:cNvSpPr/>
            <p:nvPr/>
          </p:nvSpPr>
          <p:spPr bwMode="auto">
            <a:xfrm>
              <a:off x="10123807" y="4652175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grpSp>
          <p:nvGrpSpPr>
            <p:cNvPr id="61" name="群組 60">
              <a:extLst>
                <a:ext uri="{FF2B5EF4-FFF2-40B4-BE49-F238E27FC236}">
                  <a16:creationId xmlns:a16="http://schemas.microsoft.com/office/drawing/2014/main" id="{072EE419-6040-C4E7-3DA2-11CB8999AD13}"/>
                </a:ext>
              </a:extLst>
            </p:cNvPr>
            <p:cNvGrpSpPr/>
            <p:nvPr/>
          </p:nvGrpSpPr>
          <p:grpSpPr>
            <a:xfrm>
              <a:off x="1023065" y="4806537"/>
              <a:ext cx="2145564" cy="461665"/>
              <a:chOff x="3434887" y="4679193"/>
              <a:chExt cx="2197420" cy="461665"/>
            </a:xfrm>
          </p:grpSpPr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8FF64304-0A77-F79F-5F50-8A0702D0EA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7F2047-660C-E84E-378E-2E011EE328F9}"/>
                  </a:ext>
                </a:extLst>
              </p:cNvPr>
              <p:cNvSpPr txBox="1"/>
              <p:nvPr/>
            </p:nvSpPr>
            <p:spPr>
              <a:xfrm flipH="1">
                <a:off x="4001703" y="4679193"/>
                <a:ext cx="102999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81BFEA1-7ABC-1013-F912-3579711DCB40}"/>
                </a:ext>
              </a:extLst>
            </p:cNvPr>
            <p:cNvGrpSpPr/>
            <p:nvPr/>
          </p:nvGrpSpPr>
          <p:grpSpPr>
            <a:xfrm>
              <a:off x="4227040" y="5410432"/>
              <a:ext cx="2197420" cy="461665"/>
              <a:chOff x="3434887" y="5325684"/>
              <a:chExt cx="2197420" cy="461665"/>
            </a:xfrm>
          </p:grpSpPr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9B858A10-FE34-4FB2-78D3-09A598E3F0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5556524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2286F52-F14D-2E59-7502-658EDE17413F}"/>
                  </a:ext>
                </a:extLst>
              </p:cNvPr>
              <p:cNvSpPr txBox="1"/>
              <p:nvPr/>
            </p:nvSpPr>
            <p:spPr>
              <a:xfrm>
                <a:off x="4082244" y="5325684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894F81D-9555-0AC5-7B6E-0370C4C47869}"/>
                </a:ext>
              </a:extLst>
            </p:cNvPr>
            <p:cNvGrpSpPr/>
            <p:nvPr/>
          </p:nvGrpSpPr>
          <p:grpSpPr>
            <a:xfrm>
              <a:off x="4227750" y="5990763"/>
              <a:ext cx="2196000" cy="461665"/>
              <a:chOff x="3510115" y="5972176"/>
              <a:chExt cx="2196000" cy="461665"/>
            </a:xfrm>
          </p:grpSpPr>
          <p:cxnSp>
            <p:nvCxnSpPr>
              <p:cNvPr id="13" name="直線接點 12">
                <a:extLst>
                  <a:ext uri="{FF2B5EF4-FFF2-40B4-BE49-F238E27FC236}">
                    <a16:creationId xmlns:a16="http://schemas.microsoft.com/office/drawing/2014/main" id="{3334BB22-7ADE-EB72-D461-FAF49340B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10115" y="6203000"/>
                <a:ext cx="2196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3D52C2F-24EE-4F29-C2C6-A4EBE550A421}"/>
                  </a:ext>
                </a:extLst>
              </p:cNvPr>
              <p:cNvSpPr txBox="1"/>
              <p:nvPr/>
            </p:nvSpPr>
            <p:spPr>
              <a:xfrm>
                <a:off x="3850362" y="5972176"/>
                <a:ext cx="141321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3. DATA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74CB0A6-0408-B210-82D7-66FED1EA8C97}"/>
                </a:ext>
              </a:extLst>
            </p:cNvPr>
            <p:cNvGrpSpPr/>
            <p:nvPr/>
          </p:nvGrpSpPr>
          <p:grpSpPr>
            <a:xfrm>
              <a:off x="8021922" y="5387544"/>
              <a:ext cx="2510966" cy="461665"/>
              <a:chOff x="7740307" y="5313936"/>
              <a:chExt cx="2169268" cy="461665"/>
            </a:xfrm>
          </p:grpSpPr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9F5A3781-6CD8-061D-B188-1C866BCEEA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0307" y="5544769"/>
                <a:ext cx="2169268" cy="862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6246AA-E294-228B-2264-6FE8B56B1AAB}"/>
                  </a:ext>
                </a:extLst>
              </p:cNvPr>
              <p:cNvSpPr txBox="1"/>
              <p:nvPr/>
            </p:nvSpPr>
            <p:spPr>
              <a:xfrm>
                <a:off x="8396171" y="5313936"/>
                <a:ext cx="100284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D15F7617-31D0-6A13-9354-34064B37185E}"/>
                </a:ext>
              </a:extLst>
            </p:cNvPr>
            <p:cNvSpPr txBox="1"/>
            <p:nvPr/>
          </p:nvSpPr>
          <p:spPr>
            <a:xfrm>
              <a:off x="2879585" y="443346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Sender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5B388D5-FA91-C7A0-E079-5EF72AF8B4A9}"/>
                </a:ext>
              </a:extLst>
            </p:cNvPr>
            <p:cNvSpPr txBox="1"/>
            <p:nvPr/>
          </p:nvSpPr>
          <p:spPr>
            <a:xfrm>
              <a:off x="6474461" y="441981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AP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BE80359-67D1-51E9-E7F7-FB94D7F10C68}"/>
                </a:ext>
              </a:extLst>
            </p:cNvPr>
            <p:cNvSpPr txBox="1"/>
            <p:nvPr/>
          </p:nvSpPr>
          <p:spPr>
            <a:xfrm>
              <a:off x="9831912" y="4323740"/>
              <a:ext cx="216874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Hidden 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65" name="內容版面配置區 5">
              <a:extLst>
                <a:ext uri="{FF2B5EF4-FFF2-40B4-BE49-F238E27FC236}">
                  <a16:creationId xmlns:a16="http://schemas.microsoft.com/office/drawing/2014/main" id="{DB9FAEA5-1EC1-5A07-00D6-CF7D2B07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59180" y="4785405"/>
              <a:ext cx="1592125" cy="1592125"/>
            </a:xfrm>
            <a:prstGeom prst="rect">
              <a:avLst/>
            </a:prstGeom>
            <a:noFill/>
          </p:spPr>
        </p:pic>
        <p:grpSp>
          <p:nvGrpSpPr>
            <p:cNvPr id="69" name="群組 68">
              <a:extLst>
                <a:ext uri="{FF2B5EF4-FFF2-40B4-BE49-F238E27FC236}">
                  <a16:creationId xmlns:a16="http://schemas.microsoft.com/office/drawing/2014/main" id="{81E715B8-4FA9-7848-A70B-58B56E527FAB}"/>
                </a:ext>
              </a:extLst>
            </p:cNvPr>
            <p:cNvGrpSpPr/>
            <p:nvPr/>
          </p:nvGrpSpPr>
          <p:grpSpPr>
            <a:xfrm>
              <a:off x="4227040" y="4830100"/>
              <a:ext cx="2197420" cy="461665"/>
              <a:chOff x="3434887" y="4679193"/>
              <a:chExt cx="2197420" cy="461665"/>
            </a:xfrm>
          </p:grpSpPr>
          <p:cxnSp>
            <p:nvCxnSpPr>
              <p:cNvPr id="70" name="直線接點 69">
                <a:extLst>
                  <a:ext uri="{FF2B5EF4-FFF2-40B4-BE49-F238E27FC236}">
                    <a16:creationId xmlns:a16="http://schemas.microsoft.com/office/drawing/2014/main" id="{FDC67D34-43FE-0D54-4111-58FFF1951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866A48AF-D1AE-BE7D-456D-2CA0DE8E508C}"/>
                  </a:ext>
                </a:extLst>
              </p:cNvPr>
              <p:cNvSpPr txBox="1"/>
              <p:nvPr/>
            </p:nvSpPr>
            <p:spPr>
              <a:xfrm>
                <a:off x="4082244" y="4679193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C15B66-6828-4C06-F554-AD0DAF2EDB35}"/>
                </a:ext>
              </a:extLst>
            </p:cNvPr>
            <p:cNvSpPr txBox="1"/>
            <p:nvPr/>
          </p:nvSpPr>
          <p:spPr>
            <a:xfrm>
              <a:off x="690284" y="5661953"/>
              <a:ext cx="1647605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Nearby</a:t>
              </a:r>
              <a:b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乘號 74">
              <a:extLst>
                <a:ext uri="{FF2B5EF4-FFF2-40B4-BE49-F238E27FC236}">
                  <a16:creationId xmlns:a16="http://schemas.microsoft.com/office/drawing/2014/main" id="{A3FAB8E5-1165-21A0-248D-352EAA57EC28}"/>
                </a:ext>
              </a:extLst>
            </p:cNvPr>
            <p:cNvSpPr/>
            <p:nvPr/>
          </p:nvSpPr>
          <p:spPr bwMode="auto">
            <a:xfrm>
              <a:off x="-134895" y="4433469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4D72133-74EA-4FB3-8CBE-5C34F9928419}"/>
              </a:ext>
            </a:extLst>
          </p:cNvPr>
          <p:cNvSpPr txBox="1"/>
          <p:nvPr/>
        </p:nvSpPr>
        <p:spPr>
          <a:xfrm>
            <a:off x="1842431" y="6492950"/>
            <a:ext cx="6224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To Send / Clear To Send (RTS/CTS)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Limitations of Static RTS Thresholds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Conventional 802.11 usually uses a fixed RTS threshold</a:t>
            </a:r>
            <a:endParaRPr lang="en-US" altLang="zh-TW" dirty="0"/>
          </a:p>
          <a:p>
            <a:r>
              <a:rPr lang="zh-TW" altLang="zh-TW" dirty="0"/>
              <a:t>A static threshold cannot adapt to changing node locations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6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Spatially Aware Dynamic RTS Threshold Using</a:t>
            </a:r>
            <a:r>
              <a:rPr lang="en-US" altLang="zh-TW" dirty="0"/>
              <a:t> AoA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AoA provides spatial cues about relative directions of stations</a:t>
            </a:r>
          </a:p>
          <a:p>
            <a:r>
              <a:rPr lang="zh-TW" altLang="zh-TW" dirty="0"/>
              <a:t>AP combines AoA with link information</a:t>
            </a:r>
            <a:r>
              <a:rPr lang="en-US" altLang="zh-TW" dirty="0"/>
              <a:t> </a:t>
            </a:r>
            <a:r>
              <a:rPr lang="zh-TW" altLang="zh-TW" dirty="0"/>
              <a:t>to estimate hidden-node risk</a:t>
            </a:r>
          </a:p>
          <a:p>
            <a:r>
              <a:rPr lang="en-US" altLang="zh-TW" dirty="0"/>
              <a:t>E</a:t>
            </a:r>
            <a:r>
              <a:rPr lang="zh-TW" altLang="zh-TW" dirty="0"/>
              <a:t>stimated risk guides dynamic RTS threshold adjustment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112E6F4-B8F3-66BC-DBB7-16D3CDCE5481}"/>
              </a:ext>
            </a:extLst>
          </p:cNvPr>
          <p:cNvSpPr txBox="1"/>
          <p:nvPr/>
        </p:nvSpPr>
        <p:spPr>
          <a:xfrm>
            <a:off x="8421329" y="5928484"/>
            <a:ext cx="3770671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TW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Angle of Arrival (AoA)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 Therefore, contains geometric information of the propagation space</a:t>
            </a:r>
          </a:p>
          <a:p>
            <a:r>
              <a:rPr lang="en-US" altLang="zh-TW" dirty="0"/>
              <a:t>Sender transmits a pattern known to receiver</a:t>
            </a:r>
          </a:p>
          <a:p>
            <a:r>
              <a:rPr lang="en-US" altLang="zh-TW" dirty="0"/>
              <a:t>The receiver estimates CSI for each subcarrier and transmit-receive antenna pair</a:t>
            </a:r>
            <a:endParaRPr lang="zh-TW" altLang="zh-TW" dirty="0"/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2174588" y="3779811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stCxn id="8" idx="3"/>
            </p:cNvCxnSpPr>
            <p:nvPr/>
          </p:nvCxnSpPr>
          <p:spPr>
            <a:xfrm flipV="1">
              <a:off x="2394178" y="4073236"/>
              <a:ext cx="3076635" cy="933030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</p:cNvCxnSpPr>
            <p:nvPr/>
          </p:nvCxnSpPr>
          <p:spPr>
            <a:xfrm>
              <a:off x="5462869" y="4073235"/>
              <a:ext cx="3163411" cy="751799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2394178" y="5006266"/>
              <a:ext cx="2125867" cy="644052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stCxn id="24" idx="3"/>
            </p:cNvCxnSpPr>
            <p:nvPr/>
          </p:nvCxnSpPr>
          <p:spPr>
            <a:xfrm flipV="1">
              <a:off x="5413664" y="5328292"/>
              <a:ext cx="3212616" cy="45944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A93578-5499-48CF-8E24-075DF5B181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Plane waves reach each antenna at different distances from angle </a:t>
                </a:r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altLang="zh-TW" dirty="0"/>
              </a:p>
              <a:p>
                <a:pPr lvl="1"/>
                <a:r>
                  <a:rPr lang="en-US" altLang="zh-TW" dirty="0"/>
                  <a:t>Path difference </a:t>
                </a:r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 altLang="zh-TW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altLang="zh-TW" dirty="0"/>
              </a:p>
              <a:p>
                <a:r>
                  <a:rPr lang="en-US" altLang="zh-TW" dirty="0"/>
                  <a:t>Formula</a:t>
                </a:r>
              </a:p>
              <a:p>
                <a:pPr marL="2880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i="1" smtClean="0"/>
                        <m:t>a</m:t>
                      </m:r>
                      <m:r>
                        <m:rPr>
                          <m:nor/>
                        </m:rPr>
                        <a:rPr lang="en-US" altLang="zh-TW" smtClean="0"/>
                        <m:t>(</m:t>
                      </m:r>
                      <m:r>
                        <m:rPr>
                          <m:nor/>
                        </m:rPr>
                        <a:rPr lang="el-GR" altLang="zh-TW" smtClean="0"/>
                        <m:t>θ</m:t>
                      </m:r>
                      <m:r>
                        <m:rPr>
                          <m:nor/>
                        </m:rPr>
                        <a:rPr lang="el-GR" altLang="zh-TW" smtClean="0"/>
                        <m:t>) = </m:t>
                      </m:r>
                      <m:sSup>
                        <m:sSupPr>
                          <m:ctrlPr>
                            <a:rPr lang="el-GR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l-GR" altLang="zh-TW"/>
                            <m:t>[</m:t>
                          </m:r>
                          <m:sSup>
                            <m:sSup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el-GR" altLang="zh-TW"/>
                            <m:t>, 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altLang="zh-TW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j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2</m:t>
                              </m:r>
                              <m:r>
                                <m:rPr>
                                  <m:nor/>
                                </m:rPr>
                                <a:rPr lang="el-GR" altLang="zh-TW"/>
                                <m:t>π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d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·</m:t>
                              </m:r>
                              <m:f>
                                <m:fPr>
                                  <m:ctrlPr>
                                    <a:rPr lang="el-GR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altLang="zh-TW"/>
                                    <m:t>sin</m:t>
                                  </m:r>
                                  <m:r>
                                    <m:rPr>
                                      <m:nor/>
                                    </m:rPr>
                                    <a:rPr lang="el-GR" altLang="zh-TW"/>
                                    <m:t>θ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l-GR" altLang="zh-TW"/>
                                    <m:t>λ</m:t>
                                  </m:r>
                                </m:den>
                              </m:f>
                            </m:sup>
                          </m:sSup>
                          <m:r>
                            <m:rPr>
                              <m:nor/>
                            </m:rPr>
                            <a:rPr lang="el-GR" altLang="zh-TW"/>
                            <m:t>, ⋯ 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altLang="zh-TW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j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2(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M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−1)</m:t>
                              </m:r>
                              <m:r>
                                <m:rPr>
                                  <m:nor/>
                                </m:rPr>
                                <a:rPr lang="el-GR" altLang="zh-TW"/>
                                <m:t>π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d</m:t>
                              </m:r>
                              <m:r>
                                <m:rPr>
                                  <m:nor/>
                                </m:rPr>
                                <a:rPr lang="en-US" altLang="zh-TW"/>
                                <m:t>·</m:t>
                              </m:r>
                              <m:f>
                                <m:fPr>
                                  <m:ctrlPr>
                                    <a:rPr lang="el-GR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altLang="zh-TW"/>
                                    <m:t>sin</m:t>
                                  </m:r>
                                  <m:r>
                                    <m:rPr>
                                      <m:nor/>
                                    </m:rPr>
                                    <a:rPr lang="el-GR" altLang="zh-TW"/>
                                    <m:t>θ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l-GR" altLang="zh-TW"/>
                                    <m:t>λ</m:t>
                                  </m:r>
                                </m:den>
                              </m:f>
                            </m:sup>
                          </m:sSup>
                          <m:r>
                            <m:rPr>
                              <m:nor/>
                            </m:rPr>
                            <a:rPr lang="el-GR" altLang="zh-TW"/>
                            <m:t>]</m:t>
                          </m:r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altLang="zh-TW" dirty="0"/>
              </a:p>
              <a:p>
                <a:pPr lvl="1"/>
                <a:endParaRPr lang="en-US" altLang="zh-TW" i="1" dirty="0"/>
              </a:p>
              <a:p>
                <a:pPr lvl="1"/>
                <a:r>
                  <a:rPr lang="en-US" altLang="zh-TW" i="1" dirty="0"/>
                  <a:t>d</a:t>
                </a:r>
                <a:r>
                  <a:rPr lang="en-US" altLang="zh-TW" dirty="0"/>
                  <a:t>: antenna spacing</a:t>
                </a:r>
              </a:p>
              <a:p>
                <a:pPr lvl="1"/>
                <a:r>
                  <a:rPr lang="en-US" altLang="zh-TW" i="1" dirty="0"/>
                  <a:t>λ</a:t>
                </a:r>
                <a:r>
                  <a:rPr lang="en-US" altLang="zh-TW" dirty="0"/>
                  <a:t>: wavelength</a:t>
                </a:r>
              </a:p>
              <a:p>
                <a:pPr lvl="1"/>
                <a:r>
                  <a:rPr lang="en-US" altLang="zh-TW" i="1" dirty="0"/>
                  <a:t>M</a:t>
                </a:r>
                <a:r>
                  <a:rPr lang="en-US" altLang="zh-TW" dirty="0"/>
                  <a:t>: number of antennas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A93578-5499-48CF-8E24-075DF5B181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10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06F3A160-F109-41A4-85A1-9142BAF75D9B}"/>
              </a:ext>
            </a:extLst>
          </p:cNvPr>
          <p:cNvGrpSpPr/>
          <p:nvPr/>
        </p:nvGrpSpPr>
        <p:grpSpPr>
          <a:xfrm>
            <a:off x="7218377" y="3240301"/>
            <a:ext cx="4333010" cy="3197244"/>
            <a:chOff x="3546935" y="3137919"/>
            <a:chExt cx="4333010" cy="3197244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3DAD3106-B511-445E-A7D5-CD1A30115821}"/>
                </a:ext>
              </a:extLst>
            </p:cNvPr>
            <p:cNvGrpSpPr/>
            <p:nvPr/>
          </p:nvGrpSpPr>
          <p:grpSpPr>
            <a:xfrm>
              <a:off x="3546935" y="3137919"/>
              <a:ext cx="4333010" cy="3197244"/>
              <a:chOff x="2992580" y="1973964"/>
              <a:chExt cx="4333010" cy="3197244"/>
            </a:xfrm>
          </p:grpSpPr>
          <p:pic>
            <p:nvPicPr>
              <p:cNvPr id="6" name="圖片 5">
                <a:extLst>
                  <a:ext uri="{FF2B5EF4-FFF2-40B4-BE49-F238E27FC236}">
                    <a16:creationId xmlns:a16="http://schemas.microsoft.com/office/drawing/2014/main" id="{9280B86F-59F2-4358-BE59-D7B56947E4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76254" y="4582391"/>
                <a:ext cx="588817" cy="588817"/>
              </a:xfrm>
              <a:prstGeom prst="rect">
                <a:avLst/>
              </a:prstGeom>
            </p:spPr>
          </p:pic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7991B78D-C694-4413-8027-C7A8ABC614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36773" y="4582391"/>
                <a:ext cx="588817" cy="588817"/>
              </a:xfrm>
              <a:prstGeom prst="rect">
                <a:avLst/>
              </a:prstGeom>
            </p:spPr>
          </p:pic>
          <p:cxnSp>
            <p:nvCxnSpPr>
              <p:cNvPr id="9" name="直線單箭頭接點 8">
                <a:extLst>
                  <a:ext uri="{FF2B5EF4-FFF2-40B4-BE49-F238E27FC236}">
                    <a16:creationId xmlns:a16="http://schemas.microsoft.com/office/drawing/2014/main" id="{A347363D-0293-4A51-A44B-DF7BB910E65A}"/>
                  </a:ext>
                </a:extLst>
              </p:cNvPr>
              <p:cNvCxnSpPr>
                <a:cxnSpLocks/>
                <a:endCxn id="7" idx="0"/>
              </p:cNvCxnSpPr>
              <p:nvPr/>
            </p:nvCxnSpPr>
            <p:spPr>
              <a:xfrm>
                <a:off x="4270662" y="4559531"/>
                <a:ext cx="2760520" cy="228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D9EB25E0-9122-4661-95C0-82F190E87EE9}"/>
                  </a:ext>
                </a:extLst>
              </p:cNvPr>
              <p:cNvSpPr txBox="1"/>
              <p:nvPr/>
            </p:nvSpPr>
            <p:spPr>
              <a:xfrm>
                <a:off x="5516684" y="4514461"/>
                <a:ext cx="3480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</a:t>
                </a:r>
                <a:endParaRPr lang="zh-TW" altLang="en-US" sz="24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13" name="直線單箭頭接點 12">
                <a:extLst>
                  <a:ext uri="{FF2B5EF4-FFF2-40B4-BE49-F238E27FC236}">
                    <a16:creationId xmlns:a16="http://schemas.microsoft.com/office/drawing/2014/main" id="{6DD2B31A-D3FE-476F-95EC-AF9E5AC58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2580" y="3138055"/>
                <a:ext cx="1278082" cy="1444336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接點 14">
                <a:extLst>
                  <a:ext uri="{FF2B5EF4-FFF2-40B4-BE49-F238E27FC236}">
                    <a16:creationId xmlns:a16="http://schemas.microsoft.com/office/drawing/2014/main" id="{59904E5F-5D86-40CC-B5E8-5BA0EB02523D}"/>
                  </a:ext>
                </a:extLst>
              </p:cNvPr>
              <p:cNvCxnSpPr>
                <a:cxnSpLocks/>
                <a:stCxn id="6" idx="0"/>
              </p:cNvCxnSpPr>
              <p:nvPr/>
            </p:nvCxnSpPr>
            <p:spPr>
              <a:xfrm flipV="1">
                <a:off x="4270663" y="3138055"/>
                <a:ext cx="0" cy="144433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線接點 17">
                <a:extLst>
                  <a:ext uri="{FF2B5EF4-FFF2-40B4-BE49-F238E27FC236}">
                    <a16:creationId xmlns:a16="http://schemas.microsoft.com/office/drawing/2014/main" id="{3E5496BA-FF98-415A-A9C7-8B7535B7A85A}"/>
                  </a:ext>
                </a:extLst>
              </p:cNvPr>
              <p:cNvCxnSpPr>
                <a:cxnSpLocks/>
                <a:stCxn id="7" idx="0"/>
              </p:cNvCxnSpPr>
              <p:nvPr/>
            </p:nvCxnSpPr>
            <p:spPr>
              <a:xfrm flipV="1">
                <a:off x="7031182" y="3138055"/>
                <a:ext cx="0" cy="144433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4074F5E6-307D-4F7A-8D8E-F32546B814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17472" y="1973964"/>
                <a:ext cx="2308177" cy="2608427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接點 23">
                <a:extLst>
                  <a:ext uri="{FF2B5EF4-FFF2-40B4-BE49-F238E27FC236}">
                    <a16:creationId xmlns:a16="http://schemas.microsoft.com/office/drawing/2014/main" id="{0ABF4525-4FF2-4A36-A0E0-C13AEC2A111F}"/>
                  </a:ext>
                </a:extLst>
              </p:cNvPr>
              <p:cNvCxnSpPr>
                <a:stCxn id="6" idx="0"/>
              </p:cNvCxnSpPr>
              <p:nvPr/>
            </p:nvCxnSpPr>
            <p:spPr>
              <a:xfrm flipV="1">
                <a:off x="4270663" y="3278177"/>
                <a:ext cx="1600897" cy="130421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L 圖案 35">
                <a:extLst>
                  <a:ext uri="{FF2B5EF4-FFF2-40B4-BE49-F238E27FC236}">
                    <a16:creationId xmlns:a16="http://schemas.microsoft.com/office/drawing/2014/main" id="{8AE751F1-DA3A-421B-B199-44EF09DCC82A}"/>
                  </a:ext>
                </a:extLst>
              </p:cNvPr>
              <p:cNvSpPr/>
              <p:nvPr/>
            </p:nvSpPr>
            <p:spPr>
              <a:xfrm rot="19381622">
                <a:off x="5773722" y="3317462"/>
                <a:ext cx="182117" cy="184893"/>
              </a:xfrm>
              <a:prstGeom prst="corner">
                <a:avLst>
                  <a:gd name="adj1" fmla="val 0"/>
                  <a:gd name="adj2" fmla="val 0"/>
                </a:avLst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D4B25BA2-5813-4C8D-9D08-1BD12C7361A8}"/>
                      </a:ext>
                    </a:extLst>
                  </p:cNvPr>
                  <p:cNvSpPr txBox="1"/>
                  <p:nvPr/>
                </p:nvSpPr>
                <p:spPr>
                  <a:xfrm>
                    <a:off x="5497322" y="3765943"/>
                    <a:ext cx="87004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𝑑𝑠𝑖𝑛</m:t>
                          </m:r>
                          <m:r>
                            <a:rPr lang="el-GR" altLang="zh-TW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𝜃</m:t>
                          </m:r>
                        </m:oMath>
                      </m:oMathPara>
                    </a14:m>
                    <a:endParaRPr lang="zh-TW" altLang="en-US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8" name="文字方塊 37">
                    <a:extLst>
                      <a:ext uri="{FF2B5EF4-FFF2-40B4-BE49-F238E27FC236}">
                        <a16:creationId xmlns:a16="http://schemas.microsoft.com/office/drawing/2014/main" id="{D4B25BA2-5813-4C8D-9D08-1BD12C7361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97322" y="3765943"/>
                    <a:ext cx="870046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113" r="-105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37FA17A4-A4B0-4E85-A16C-99439F452005}"/>
                  </a:ext>
                </a:extLst>
              </p:cNvPr>
              <p:cNvSpPr txBox="1"/>
              <p:nvPr/>
            </p:nvSpPr>
            <p:spPr>
              <a:xfrm>
                <a:off x="3649807" y="3273995"/>
                <a:ext cx="3480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θ</a:t>
                </a:r>
                <a:endParaRPr lang="zh-TW" altLang="en-US" sz="24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2" name="直線單箭頭接點 41">
                <a:extLst>
                  <a:ext uri="{FF2B5EF4-FFF2-40B4-BE49-F238E27FC236}">
                    <a16:creationId xmlns:a16="http://schemas.microsoft.com/office/drawing/2014/main" id="{0BF44F4A-6F25-415D-A27F-6F39896AB33A}"/>
                  </a:ext>
                </a:extLst>
              </p:cNvPr>
              <p:cNvCxnSpPr>
                <a:endCxn id="7" idx="0"/>
              </p:cNvCxnSpPr>
              <p:nvPr/>
            </p:nvCxnSpPr>
            <p:spPr>
              <a:xfrm>
                <a:off x="5864780" y="3278177"/>
                <a:ext cx="1166402" cy="130421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44" name="弧形 43">
              <a:extLst>
                <a:ext uri="{FF2B5EF4-FFF2-40B4-BE49-F238E27FC236}">
                  <a16:creationId xmlns:a16="http://schemas.microsoft.com/office/drawing/2014/main" id="{2F604DA9-8BA2-4B31-BDB9-A9E821837C39}"/>
                </a:ext>
              </a:extLst>
            </p:cNvPr>
            <p:cNvSpPr/>
            <p:nvPr/>
          </p:nvSpPr>
          <p:spPr>
            <a:xfrm>
              <a:off x="4218189" y="4881265"/>
              <a:ext cx="624840" cy="381000"/>
            </a:xfrm>
            <a:prstGeom prst="arc">
              <a:avLst>
                <a:gd name="adj1" fmla="val 11099362"/>
                <a:gd name="adj2" fmla="val 20898044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Signal Classification </a:t>
            </a:r>
            <a:r>
              <a:rPr lang="en-US" altLang="zh-TW" b="1" dirty="0"/>
              <a:t>(MUSIC)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MUSIC is a spatial spectrum estimator built on CSI and steering vectors</a:t>
            </a:r>
          </a:p>
          <a:p>
            <a:pPr lvl="1"/>
            <a:r>
              <a:rPr lang="en-US" altLang="zh-TW" dirty="0"/>
              <a:t>Invented in 1979</a:t>
            </a:r>
          </a:p>
          <a:p>
            <a:pPr lvl="1"/>
            <a:r>
              <a:rPr lang="en-US" altLang="zh-TW" dirty="0"/>
              <a:t>Widely used in Wi-Fi localization</a:t>
            </a:r>
          </a:p>
          <a:p>
            <a:endParaRPr b="1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/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600" dirty="0"/>
              <a:t>AoA-Assisted Dynamic RTS Threshold Adaptation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Estimate each STA's AoA from AP-side CSI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Combines AoA with RSSI, MCS, and traffic activity</a:t>
            </a:r>
            <a:r>
              <a:rPr lang="zh-TW" altLang="en-US" dirty="0"/>
              <a:t> </a:t>
            </a:r>
            <a:r>
              <a:rPr lang="en-US" altLang="zh-TW" dirty="0"/>
              <a:t>to assess hidden-node risk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 Adjust RTS threshold based on the risk score</a:t>
            </a:r>
          </a:p>
          <a:p>
            <a:pPr lvl="1"/>
            <a:r>
              <a:rPr lang="en-US" altLang="zh-TW" dirty="0"/>
              <a:t>High risk → lower RTS threshold</a:t>
            </a:r>
          </a:p>
          <a:p>
            <a:pPr lvl="1"/>
            <a:r>
              <a:rPr lang="en-US" altLang="zh-TW" dirty="0"/>
              <a:t>Low risk → raise RTS threshold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Distribute updated threshold to all STAs</a:t>
            </a:r>
            <a:br>
              <a:rPr lang="en-US" altLang="zh-TW" dirty="0"/>
            </a:b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Evaluation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Scenarios</a:t>
            </a:r>
          </a:p>
          <a:p>
            <a:pPr lvl="1"/>
            <a:r>
              <a:rPr lang="en-US" dirty="0"/>
              <a:t>H</a:t>
            </a:r>
            <a:r>
              <a:rPr dirty="0"/>
              <a:t>idden-node 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on-hidden-node</a:t>
            </a:r>
            <a:endParaRPr lang="en-US" dirty="0"/>
          </a:p>
          <a:p>
            <a:r>
              <a:rPr lang="en-US" altLang="zh-TW" dirty="0"/>
              <a:t>Threshold Control Policy</a:t>
            </a:r>
            <a:r>
              <a:rPr dirty="0"/>
              <a:t> </a:t>
            </a:r>
          </a:p>
          <a:p>
            <a:pPr lvl="1"/>
            <a:r>
              <a:rPr lang="en-US" dirty="0"/>
              <a:t>Static </a:t>
            </a:r>
            <a:r>
              <a:rPr dirty="0"/>
              <a:t>RTS </a:t>
            </a:r>
            <a:r>
              <a:rPr lang="en-US" altLang="zh-TW" dirty="0"/>
              <a:t>threshold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ynamic RTS threshold</a:t>
            </a:r>
            <a:endParaRPr lang="en-US" dirty="0"/>
          </a:p>
          <a:p>
            <a:pPr lvl="1"/>
            <a:r>
              <a:rPr lang="en-US" dirty="0"/>
              <a:t>Disable</a:t>
            </a:r>
            <a:r>
              <a:rPr lang="zh-TW" altLang="en-US" dirty="0"/>
              <a:t> </a:t>
            </a:r>
            <a:r>
              <a:rPr lang="en-US" altLang="zh-TW" dirty="0"/>
              <a:t>RTS/CTS</a:t>
            </a:r>
            <a:endParaRPr lang="en-US" dirty="0"/>
          </a:p>
          <a:p>
            <a:pPr marL="288000" lvl="1" indent="0">
              <a:buNone/>
            </a:pPr>
            <a:endParaRPr dirty="0"/>
          </a:p>
          <a:p>
            <a:r>
              <a:rPr lang="en-US" altLang="zh-TW" dirty="0"/>
              <a:t>Metrics</a:t>
            </a:r>
            <a:endParaRPr dirty="0"/>
          </a:p>
          <a:p>
            <a:pPr lvl="1"/>
            <a:r>
              <a:rPr lang="en-US" dirty="0"/>
              <a:t>T</a:t>
            </a:r>
            <a:r>
              <a:rPr dirty="0"/>
              <a:t>hroughput 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etry rate</a:t>
            </a:r>
            <a:endParaRPr lang="en-US" dirty="0"/>
          </a:p>
          <a:p>
            <a:pPr lvl="1"/>
            <a:r>
              <a:rPr dirty="0"/>
              <a:t> </a:t>
            </a:r>
            <a:r>
              <a:rPr lang="en-US" dirty="0"/>
              <a:t>L</a:t>
            </a:r>
            <a:r>
              <a:rPr dirty="0"/>
              <a:t>atency</a:t>
            </a:r>
            <a:endParaRPr lang="en-US" dirty="0"/>
          </a:p>
          <a:p>
            <a:pPr lvl="1"/>
            <a:r>
              <a:rPr dirty="0"/>
              <a:t> MCS 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68B381-88E0-4540-A720-E44FC5D00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Next Steps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AF9DBA-0B62-40AA-A21F-3A72F28DA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Adopt SpotFi's MUSIC variant for AoA estimation</a:t>
            </a:r>
          </a:p>
          <a:p>
            <a:pPr lvl="1"/>
            <a:r>
              <a:rPr lang="en-US" altLang="zh-TW" dirty="0"/>
              <a:t>SpotFi (ACM SIGCOMM CCR 45(4), Aug 2015)</a:t>
            </a:r>
          </a:p>
          <a:p>
            <a:r>
              <a:rPr lang="en-US" altLang="zh-TW" dirty="0"/>
              <a:t>Speed up eigen decomposition</a:t>
            </a:r>
          </a:p>
          <a:p>
            <a:r>
              <a:rPr lang="en-US" altLang="zh-TW" dirty="0"/>
              <a:t>Define risk scoring and score-to-threshold mapping</a:t>
            </a:r>
          </a:p>
          <a:p>
            <a:pPr lvl="1"/>
            <a:r>
              <a:rPr lang="en-US" altLang="zh-TW" dirty="0"/>
              <a:t> Reinforcement learning?</a:t>
            </a:r>
          </a:p>
          <a:p>
            <a:r>
              <a:rPr lang="en-US" altLang="zh-TW" dirty="0"/>
              <a:t>Define evaluation scenarios, baselines, and metrics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95F32A-F583-40A3-82C9-26659D8E3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17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69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94F076-2DF4-9E29-862A-AB256C8C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Appendix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AAB997-52DC-E930-769C-64DBDAF0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2EBAC9-5BB1-9D5C-FA3C-1E85B99DD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18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645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FBF0E1-39CB-5C7F-5C2C-3FAEEF8D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2A0F9-9AD2-8D3B-3924-7807A20D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014A24-8912-C2E4-B047-76FA0E7DBD9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  <a:prstDash val="solid"/>
          </a:ln>
        </p:spPr>
        <p:txBody>
          <a:bodyPr/>
          <a:lstStyle/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3A8A2A-9895-F6E4-2B85-BF908720991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66C6B06-146C-8446-740C-954B48AB9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73" y="0"/>
            <a:ext cx="6885079" cy="3874915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8F24FEFB-E948-6828-8820-A1BF738DBD54}"/>
              </a:ext>
            </a:extLst>
          </p:cNvPr>
          <p:cNvGrpSpPr/>
          <p:nvPr/>
        </p:nvGrpSpPr>
        <p:grpSpPr>
          <a:xfrm>
            <a:off x="683120" y="4412921"/>
            <a:ext cx="10525449" cy="1858978"/>
            <a:chOff x="683120" y="4412921"/>
            <a:chExt cx="10525449" cy="1858978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C34715-CD92-4EF6-E963-079FD2528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99497" y="4655880"/>
              <a:ext cx="1492696" cy="1492696"/>
            </a:xfrm>
            <a:prstGeom prst="rect">
              <a:avLst/>
            </a:prstGeom>
          </p:spPr>
        </p:pic>
        <p:pic>
          <p:nvPicPr>
            <p:cNvPr id="15" name="內容版面配置區 5">
              <a:extLst>
                <a:ext uri="{FF2B5EF4-FFF2-40B4-BE49-F238E27FC236}">
                  <a16:creationId xmlns:a16="http://schemas.microsoft.com/office/drawing/2014/main" id="{87DCA9B4-EBF1-BD47-0670-3F0E8127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120" y="4606166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13" name="內容版面配置區 5">
              <a:extLst>
                <a:ext uri="{FF2B5EF4-FFF2-40B4-BE49-F238E27FC236}">
                  <a16:creationId xmlns:a16="http://schemas.microsoft.com/office/drawing/2014/main" id="{CE1408E1-ECF2-BDAC-ECA9-38EAD55ED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16444" y="4606166"/>
              <a:ext cx="1592125" cy="1592125"/>
            </a:xfrm>
            <a:prstGeom prst="rect">
              <a:avLst/>
            </a:prstGeom>
            <a:noFill/>
          </p:spPr>
        </p:pic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89E78668-A021-D738-3EF8-802EA919A3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61" y="5376122"/>
              <a:ext cx="2924251" cy="1162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8C16597-8B5A-3D23-22AC-962DAD576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475132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DA1EB34A-BF3B-B9E7-B67E-4E0B7FB756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5181237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1B8D763-F711-C376-7B22-DD3174469F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561115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E3E8D74-23EA-EEB8-22B0-13A3E5B7F5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6041068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乘號 24">
              <a:extLst>
                <a:ext uri="{FF2B5EF4-FFF2-40B4-BE49-F238E27FC236}">
                  <a16:creationId xmlns:a16="http://schemas.microsoft.com/office/drawing/2014/main" id="{2ADC5F1C-DA21-6D69-13F5-E4252A5A7618}"/>
                </a:ext>
              </a:extLst>
            </p:cNvPr>
            <p:cNvSpPr/>
            <p:nvPr/>
          </p:nvSpPr>
          <p:spPr bwMode="auto">
            <a:xfrm>
              <a:off x="9620029" y="4412921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02DEAADC-FD9F-C6CA-E6F1-A67F1E247410}"/>
                </a:ext>
              </a:extLst>
            </p:cNvPr>
            <p:cNvSpPr txBox="1"/>
            <p:nvPr/>
          </p:nvSpPr>
          <p:spPr>
            <a:xfrm>
              <a:off x="3125774" y="443993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445FC50-601C-D5B8-5EDF-8B3B26827A35}"/>
                </a:ext>
              </a:extLst>
            </p:cNvPr>
            <p:cNvSpPr txBox="1"/>
            <p:nvPr/>
          </p:nvSpPr>
          <p:spPr>
            <a:xfrm>
              <a:off x="3125774" y="492607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DA75034-86A3-89B3-C452-1C71C7909568}"/>
                </a:ext>
              </a:extLst>
            </p:cNvPr>
            <p:cNvSpPr txBox="1"/>
            <p:nvPr/>
          </p:nvSpPr>
          <p:spPr>
            <a:xfrm>
              <a:off x="2880851" y="5371861"/>
              <a:ext cx="149269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BF62DC32-75D3-366C-6191-9F703C15AE94}"/>
                </a:ext>
              </a:extLst>
            </p:cNvPr>
            <p:cNvSpPr txBox="1"/>
            <p:nvPr/>
          </p:nvSpPr>
          <p:spPr>
            <a:xfrm>
              <a:off x="3125774" y="5810234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5. ACK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6564755-B0C2-1B87-E15E-1EDFFDB110A3}"/>
                </a:ext>
              </a:extLst>
            </p:cNvPr>
            <p:cNvSpPr txBox="1"/>
            <p:nvPr/>
          </p:nvSpPr>
          <p:spPr>
            <a:xfrm>
              <a:off x="7723862" y="5181237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9500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20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015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Spatial spectrum estimation scores each angle by matching phase pattern to  CSI</a:t>
            </a:r>
          </a:p>
          <a:p>
            <a:pPr lvl="1"/>
            <a:r>
              <a:rPr lang="en-US" altLang="zh-TW" dirty="0"/>
              <a:t>Phase pattern of each angle is called </a:t>
            </a:r>
            <a:r>
              <a:rPr lang="en-US" altLang="zh-TW" b="1" dirty="0"/>
              <a:t>steering vector</a:t>
            </a:r>
          </a:p>
          <a:p>
            <a:r>
              <a:rPr lang="en-US" dirty="0"/>
              <a:t>Angle with the highest score is most likely signal's AoA</a:t>
            </a:r>
          </a:p>
          <a:p>
            <a:pPr lvl="1"/>
            <a:r>
              <a:rPr lang="en-US" dirty="0"/>
              <a:t>Multipath yields multiple peaks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3A1663-12B7-489A-912B-C9D30A360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802" y="2847109"/>
            <a:ext cx="6568395" cy="349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555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straightforward scorer: shift each antenna's signal to align with a candidate angle, then sum - a true arrival from that angle adds up in phase (delay-and-sum beamforming)</a:t>
            </a:r>
          </a:p>
          <a:p>
            <a:r>
              <a:rPr dirty="0"/>
              <a:t>Sweeping this listening beam across all angles gives the spatial spectrum - like turning an ear toward each direction</a:t>
            </a:r>
          </a:p>
          <a:p>
            <a:r>
              <a:rPr dirty="0"/>
              <a:t>The beam's width is set by array size: with only 2-4 antennas it is roughly 60 degrees wide</a:t>
            </a:r>
          </a:p>
          <a:p>
            <a:r>
              <a:rPr dirty="0"/>
              <a:t>Indoor paths arrive just 10-20 degrees apart, so they merge into one blob inside the wide beam</a:t>
            </a:r>
          </a:p>
          <a:p>
            <a:r>
              <a:rPr dirty="0"/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MUSIC skips the beam entirely: it exploits the statistical structure of the received signal to test each angle directly, so resolution is not capped by antenna count</a:t>
            </a:r>
          </a:p>
          <a:p>
            <a:r>
              <a:rPr dirty="0"/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r>
              <a:rPr dirty="0"/>
              <a:t>MUSIC works with any known antenna layout and stays robust in multipath; its heavier computation is affordable since localization does not need fast updates</a:t>
            </a:r>
          </a:p>
          <a:p>
            <a:r>
              <a:rPr dirty="0"/>
              <a:t>Proven on our hardware class: SpotFi reaches ~40 cm median accuracy with 3 antennas using MUSIC</a:t>
            </a:r>
          </a:p>
          <a:p>
            <a:r>
              <a:rPr dirty="0"/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24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1271</TotalTime>
  <Words>979</Words>
  <Application>Microsoft Office PowerPoint</Application>
  <DocSecurity>0</DocSecurity>
  <PresentationFormat>寬螢幕</PresentationFormat>
  <Paragraphs>188</Paragraphs>
  <Slides>25</Slides>
  <Notes>19</Notes>
  <HiddenSlides>7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33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AoA-Assisted Dynamic RTS Threshold Adaptation for Hidden-Node Risk Mitigation in Wi-Fi</vt:lpstr>
      <vt:lpstr>Outline</vt:lpstr>
      <vt:lpstr>Outline</vt:lpstr>
      <vt:lpstr>Hidden Nodes Problem</vt:lpstr>
      <vt:lpstr>RTS/CTS Mitigates Hidden-Node Collisions</vt:lpstr>
      <vt:lpstr>Limitations of Static RTS Thresholds</vt:lpstr>
      <vt:lpstr>Spatially Aware Dynamic RTS Threshold Using AoA</vt:lpstr>
      <vt:lpstr>Outline</vt:lpstr>
      <vt:lpstr>Wi-Fi Channel State Information (CSI)</vt:lpstr>
      <vt:lpstr>Steering Vector</vt:lpstr>
      <vt:lpstr>Multiple Signal Classification (MUSIC)</vt:lpstr>
      <vt:lpstr>Outline</vt:lpstr>
      <vt:lpstr>AoA-Assisted Dynamic RTS Threshold Adaptation</vt:lpstr>
      <vt:lpstr>Outline</vt:lpstr>
      <vt:lpstr>Evaluation</vt:lpstr>
      <vt:lpstr>Outline</vt:lpstr>
      <vt:lpstr>Next Steps</vt:lpstr>
      <vt:lpstr>Appendix</vt:lpstr>
      <vt:lpstr>RTS/CTS Mitigates Hidden-Node Collisions</vt:lpstr>
      <vt:lpstr>CSI Representation</vt:lpstr>
      <vt:lpstr>Spatial Spectrum Estimation Estimates AoA</vt:lpstr>
      <vt:lpstr>Classic Beamforming Hits a Resolution Wall</vt:lpstr>
      <vt:lpstr>Why We Use MUSIC</vt:lpstr>
      <vt:lpstr>LRG1 Provides AP-Side Control and Measurements</vt:lpstr>
      <vt:lpstr>Performance Analysis Separates Gains from Limits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129</cp:revision>
  <dcterms:created xsi:type="dcterms:W3CDTF">2026-07-03T03:43:28Z</dcterms:created>
  <dcterms:modified xsi:type="dcterms:W3CDTF">2026-07-15T16:24:16Z</dcterms:modified>
</cp:coreProperties>
</file>