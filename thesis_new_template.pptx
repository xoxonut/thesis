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60" r:id="rId5"/>
    <p:sldId id="262" r:id="rId6"/>
    <p:sldId id="286" r:id="rId7"/>
    <p:sldId id="263" r:id="rId8"/>
    <p:sldId id="264" r:id="rId9"/>
    <p:sldId id="265" r:id="rId10"/>
    <p:sldId id="289" r:id="rId11"/>
    <p:sldId id="269" r:id="rId12"/>
    <p:sldId id="287" r:id="rId13"/>
    <p:sldId id="291" r:id="rId31"/>
    <p:sldId id="290" r:id="rId30"/>
    <p:sldId id="285" r:id="rId14"/>
    <p:sldId id="266" r:id="rId16"/>
    <p:sldId id="273" r:id="rId17"/>
    <p:sldId id="274" r:id="rId18"/>
    <p:sldId id="275" r:id="rId19"/>
    <p:sldId id="277" r:id="rId20"/>
    <p:sldId id="280" r:id="rId21"/>
    <p:sldId id="281" r:id="rId22"/>
    <p:sldId id="282" r:id="rId23"/>
    <p:sldId id="283" r:id="rId2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35" autoAdjust="0"/>
  </p:normalViewPr>
  <p:slideViewPr>
    <p:cSldViewPr snapToGrid="0">
      <p:cViewPr varScale="1">
        <p:scale>
          <a:sx n="74" d="100"/>
          <a:sy n="74" d="100"/>
        </p:scale>
        <p:origin x="101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3.xml"/><Relationship Id="rId31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8397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microsoft.com/office/2007/relationships/hdphoto" Target="../media/hdphoto1.wdp"/><Relationship Id="rId9" Type="http://schemas.openxmlformats.org/officeDocument/2006/relationships/image" Target="../media/image9.png"/><Relationship Id="rId10" Type="http://schemas.microsoft.com/office/2007/relationships/hdphoto" Target="../media/hdphoto2.wdp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jpe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jpe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jpeg"/><Relationship Id="rId7" Type="http://schemas.openxmlformats.org/officeDocument/2006/relationships/image" Target="../media/image33.jpe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Relationship Id="rId12" Type="http://schemas.openxmlformats.org/officeDocument/2006/relationships/image" Target="../media/image38.png"/><Relationship Id="rId13" Type="http://schemas.openxmlformats.org/officeDocument/2006/relationships/image" Target="../media/image39.png"/><Relationship Id="rId14" Type="http://schemas.openxmlformats.org/officeDocument/2006/relationships/image" Target="../media/image40.png"/><Relationship Id="rId15" Type="http://schemas.openxmlformats.org/officeDocument/2006/relationships/image" Target="../media/image41.png"/><Relationship Id="rId16" Type="http://schemas.openxmlformats.org/officeDocument/2006/relationships/image" Target="../media/image4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6.png"/><Relationship Id="rId4" Type="http://schemas.openxmlformats.org/officeDocument/2006/relationships/image" Target="../media/image4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AoA-Assisted Dynamic RTS Threshold Adaptation for Hidden-Node Risk Mitigation in Commodity Wi-Fi APs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 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Cause Receiver-Side Collisions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Hidden node reaches AP but cannot sense other nodes using same AP</a:t>
            </a:r>
          </a:p>
          <a:p>
            <a:r>
              <a:rPr lang="en-US" altLang="zh-TW" dirty="0"/>
              <a:t>Nodes cannot hear each other</a:t>
            </a:r>
          </a:p>
          <a:p>
            <a:pPr lvl="1"/>
            <a:r>
              <a:rPr lang="en-US" altLang="zh-TW" dirty="0"/>
              <a:t>May transmit simultaneously</a:t>
            </a:r>
          </a:p>
          <a:p>
            <a:r>
              <a:rPr lang="en-US" altLang="zh-TW" dirty="0"/>
              <a:t>Simultaneous transmissions collide at AP</a:t>
            </a:r>
          </a:p>
          <a:p>
            <a:pPr lvl="1"/>
            <a:r>
              <a:rPr lang="en-US" altLang="zh-TW" dirty="0"/>
              <a:t>Reduces wireless network throughput</a:t>
            </a: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58B64D92-EB49-29A6-9035-D014E91FA694}"/>
              </a:ext>
            </a:extLst>
          </p:cNvPr>
          <p:cNvGrpSpPr/>
          <p:nvPr/>
        </p:nvGrpSpPr>
        <p:grpSpPr>
          <a:xfrm>
            <a:off x="5523554" y="3080581"/>
            <a:ext cx="6255516" cy="3356964"/>
            <a:chOff x="2864188" y="3407243"/>
            <a:chExt cx="6255516" cy="335696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2864188" y="3407243"/>
              <a:ext cx="6255516" cy="3356964"/>
              <a:chOff x="2864188" y="3407243"/>
              <a:chExt cx="6255516" cy="3356964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6477661" y="5107482"/>
              <a:ext cx="407696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5098536" y="5107482"/>
              <a:ext cx="407695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transmission.</a:t>
            </a:r>
            <a:endParaRPr lang="en-US" altLang="zh-TW" dirty="0"/>
          </a:p>
          <a:p>
            <a:r>
              <a:rPr lang="zh-TW" altLang="zh-TW" dirty="0"/>
              <a:t>Sender sends RTS to request channel access.</a:t>
            </a:r>
            <a:endParaRPr lang="en-US" altLang="zh-TW" dirty="0"/>
          </a:p>
          <a:p>
            <a:r>
              <a:rPr lang="zh-TW" altLang="zh-TW" dirty="0"/>
              <a:t>Receiver sends CTS to grant transmission permission.</a:t>
            </a:r>
            <a:endParaRPr lang="en-US" altLang="zh-TW" dirty="0"/>
          </a:p>
          <a:p>
            <a:r>
              <a:rPr lang="zh-TW" altLang="zh-TW" dirty="0"/>
              <a:t>Nearby nodes that hear RTS or CTS update NAV and defer.</a:t>
            </a:r>
            <a:endParaRPr lang="en-US" altLang="zh-TW" dirty="0"/>
          </a:p>
          <a:p>
            <a:r>
              <a:rPr lang="zh-TW" altLang="zh-TW" dirty="0"/>
              <a:t>Hidden nodes may miss RTS but still hear CTS from the receiver.</a:t>
            </a:r>
            <a:endParaRPr lang="en-US" altLang="zh-TW" dirty="0"/>
          </a:p>
          <a:p>
            <a:r>
              <a:rPr lang="en-US" altLang="zh-TW" dirty="0"/>
              <a:t>Sender transmits data after the channel is reserved.</a:t>
            </a:r>
          </a:p>
          <a:p>
            <a:r>
              <a:rPr lang="zh-TW" altLang="zh-TW" dirty="0"/>
              <a:t>Reserving the receiver's neighborhood reduces hidden-node collisions.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48C459E-E296-531E-6CCD-6F0C86BAB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348" y="4216853"/>
            <a:ext cx="3784424" cy="212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Static RTS Thresholds Cannot Track Hidden-Node Risk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Conventional 802.11 usually uses a fixed RTS threshold.</a:t>
            </a:r>
            <a:endParaRPr lang="en-US" altLang="zh-TW" dirty="0"/>
          </a:p>
          <a:p>
            <a:r>
              <a:rPr lang="zh-TW" altLang="zh-TW" dirty="0"/>
              <a:t>A fixed threshold cannot adapt to station location or changing hidden-node conditions.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6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5331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Hidden-Node Risk-Aware RTS Threshold Control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AP infers hidden-node risk from Angle of Arrival (AoA) and link observations, then tunes the RTS threshold dynamically.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 therefore contains geometric information of the propagation space</a:t>
            </a:r>
          </a:p>
          <a:p>
            <a:r>
              <a:rPr lang="en-US" altLang="zh-TW" dirty="0"/>
              <a:t>Sender transmits a pattern known to receiver</a:t>
            </a:r>
          </a:p>
          <a:p>
            <a:r>
              <a:rPr lang="en-US" altLang="zh-TW" dirty="0"/>
              <a:t>The receiver estimates CSI for each subcarrier and transmit-receive antenna pair</a:t>
            </a:r>
            <a:endParaRPr lang="zh-TW" altLang="zh-TW" dirty="0"/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2174588" y="3779811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stCxn id="8" idx="3"/>
            </p:cNvCxnSpPr>
            <p:nvPr/>
          </p:nvCxnSpPr>
          <p:spPr>
            <a:xfrm flipV="1">
              <a:off x="2394178" y="4073236"/>
              <a:ext cx="3076635" cy="933030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</p:cNvCxnSpPr>
            <p:nvPr/>
          </p:nvCxnSpPr>
          <p:spPr>
            <a:xfrm>
              <a:off x="5462869" y="4073235"/>
              <a:ext cx="3163411" cy="751799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stCxn id="8" idx="3"/>
            </p:cNvCxnSpPr>
            <p:nvPr/>
          </p:nvCxnSpPr>
          <p:spPr>
            <a:xfrm>
              <a:off x="2394178" y="5006266"/>
              <a:ext cx="2125867" cy="644052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stCxn id="24" idx="3"/>
            </p:cNvCxnSpPr>
            <p:nvPr/>
          </p:nvCxnSpPr>
          <p:spPr>
            <a:xfrm flipV="1">
              <a:off x="5413664" y="5328292"/>
              <a:ext cx="3212616" cy="45944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:r>
                  <a:rPr lang="en-US" altLang="zh-TW" dirty="0"/>
                  <a:t>A</a:t>
                </a:r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:r>
                  <a:rPr lang="en-US" altLang="zh-TW" dirty="0"/>
                  <a:t>P</a:t>
                </a:r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3921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Antennas never observe angles directly - only phase differences of the arriving signal across the array</a:t>
            </a:r>
            <a:endParaRPr dirty="0"/>
          </a:p>
          <a:p>
            <a:pPr/>
            <a:r>
              <a:t>Spatial spectrum estimation scores every candidate direction; a peak means a path likely arrives from that angle</a:t>
            </a:r>
          </a:p>
          <a:p>
            <a:pPr/>
            <a:r>
              <a:t>Indoor multipath yields multiple peaks: the direct path plus reflected paths</a:t>
            </a:r>
          </a:p>
          <a:p>
            <a:pPr/>
            <a:r>
              <a:t>Reading each peak as one propagation path's AoA is the key step for Wi-Fi localization</a:t>
            </a:r>
          </a:p>
          <a:p>
            <a:pPr/>
            <a:r>
              <a:t>To compare directions, we first need to know what each direction looks like in phase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straightforward scorer: shift each antenna's signal to align with a candidate angle, then sum - a true arrival from that angle adds up in phase (delay-and-sum beamforming)</a:t>
            </a:r>
            <a:endParaRPr dirty="0"/>
          </a:p>
          <a:p>
            <a:pPr/>
            <a:r>
              <a:t>Sweeping this listening beam across all angles gives the spatial spectrum - like turning an ear toward each direction</a:t>
            </a:r>
          </a:p>
          <a:p>
            <a:pPr/>
            <a:r>
              <a:t>The beam's width is set by array size: with only 2-4 antennas it is roughly 60 degrees wide</a:t>
            </a:r>
          </a:p>
          <a:p>
            <a:pPr/>
            <a:r>
              <a:t>Indoor paths arrive just 10-20 degrees apart, so they merge into one blob inside the wide beam</a:t>
            </a:r>
          </a:p>
          <a:p>
            <a:pPr/>
            <a:r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MUSIC skips the beam entirely: it exploits the statistical structure of the received signal to test each angle directly, so resolution is not capped by antenna count</a:t>
            </a:r>
            <a:endParaRPr dirty="0"/>
          </a:p>
          <a:p>
            <a:pPr/>
            <a:r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pPr/>
            <a:r>
              <a:t>MUSIC works with any known antenna layout and stays robust in multipath; its heavier computation is affordable since localization does not need fast updates</a:t>
            </a:r>
          </a:p>
          <a:p>
            <a:pPr/>
            <a:r>
              <a:t>Proven on our hardware class: SpotFi reaches ~40 cm median accuracy with 3 antennas using MUSIC</a:t>
            </a:r>
          </a:p>
          <a:p>
            <a:pPr/>
            <a:r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 Encodes Angle-Dependent Phase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Phase pattern across the antenna array when a signal arrives from angle θ</a:t>
            </a:r>
            <a:endParaRPr lang="zh-TW" alt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TW" dirty="0"/>
              <a:t>Plane waves reach antennas at different distances, creating a dsinθ path difference</a:t>
            </a:r>
            <a:endParaRPr lang="zh-TW" altLang="en-US" dirty="0"/>
          </a:p>
          <a:p>
            <a:pPr/>
            <a:r>
              <a:t>The simplest way to use this pattern: align each antenna's signal and sum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12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3DAD3106-B511-445E-A7D5-CD1A30115821}"/>
              </a:ext>
            </a:extLst>
          </p:cNvPr>
          <p:cNvGrpSpPr/>
          <p:nvPr/>
        </p:nvGrpSpPr>
        <p:grpSpPr>
          <a:xfrm>
            <a:off x="3546935" y="3137919"/>
            <a:ext cx="4333010" cy="3197244"/>
            <a:chOff x="2992580" y="1973964"/>
            <a:chExt cx="4333010" cy="3197244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9280B86F-59F2-4358-BE59-D7B56947E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6254" y="4582391"/>
              <a:ext cx="588817" cy="588817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991B78D-C694-4413-8027-C7A8ABC61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36773" y="4582391"/>
              <a:ext cx="588817" cy="588817"/>
            </a:xfrm>
            <a:prstGeom prst="rect">
              <a:avLst/>
            </a:prstGeom>
          </p:spPr>
        </p:pic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A347363D-0293-4A51-A44B-DF7BB910E65A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4270662" y="4559531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9EB25E0-9122-4661-95C0-82F190E87EE9}"/>
                </a:ext>
              </a:extLst>
            </p:cNvPr>
            <p:cNvSpPr txBox="1"/>
            <p:nvPr/>
          </p:nvSpPr>
          <p:spPr>
            <a:xfrm>
              <a:off x="5516684" y="4514461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6DD2B31A-D3FE-476F-95EC-AF9E5AC58250}"/>
                </a:ext>
              </a:extLst>
            </p:cNvPr>
            <p:cNvCxnSpPr>
              <a:cxnSpLocks/>
            </p:cNvCxnSpPr>
            <p:nvPr/>
          </p:nvCxnSpPr>
          <p:spPr>
            <a:xfrm>
              <a:off x="2992580" y="3138055"/>
              <a:ext cx="1278082" cy="144433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59904E5F-5D86-40CC-B5E8-5BA0EB02523D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270663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3E5496BA-FF98-415A-A9C7-8B7535B7A85A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7031182" y="3138055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4074F5E6-307D-4F7A-8D8E-F32546B814E2}"/>
                </a:ext>
              </a:extLst>
            </p:cNvPr>
            <p:cNvCxnSpPr>
              <a:cxnSpLocks/>
            </p:cNvCxnSpPr>
            <p:nvPr/>
          </p:nvCxnSpPr>
          <p:spPr>
            <a:xfrm>
              <a:off x="4717472" y="1973964"/>
              <a:ext cx="2308177" cy="260842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0ABF4525-4FF2-4A36-A0E0-C13AEC2A111F}"/>
                </a:ext>
              </a:extLst>
            </p:cNvPr>
            <p:cNvCxnSpPr>
              <a:stCxn id="6" idx="0"/>
            </p:cNvCxnSpPr>
            <p:nvPr/>
          </p:nvCxnSpPr>
          <p:spPr>
            <a:xfrm flipV="1">
              <a:off x="4270663" y="3278177"/>
              <a:ext cx="1600897" cy="13042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L 圖案 35">
              <a:extLst>
                <a:ext uri="{FF2B5EF4-FFF2-40B4-BE49-F238E27FC236}">
                  <a16:creationId xmlns:a16="http://schemas.microsoft.com/office/drawing/2014/main" id="{8AE751F1-DA3A-421B-B199-44EF09DCC82A}"/>
                </a:ext>
              </a:extLst>
            </p:cNvPr>
            <p:cNvSpPr/>
            <p:nvPr/>
          </p:nvSpPr>
          <p:spPr>
            <a:xfrm rot="19381622">
              <a:off x="5773722" y="3317462"/>
              <a:ext cx="182117" cy="184893"/>
            </a:xfrm>
            <a:prstGeom prst="corner">
              <a:avLst>
                <a:gd name="adj1" fmla="val 0"/>
                <a:gd name="adj2" fmla="val 0"/>
              </a:avLst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4B25BA2-5813-4C8D-9D08-1BD12C7361A8}"/>
                </a:ext>
              </a:extLst>
            </p:cNvPr>
            <p:cNvSpPr txBox="1"/>
            <p:nvPr/>
          </p:nvSpPr>
          <p:spPr>
            <a:xfrm>
              <a:off x="5638726" y="3752015"/>
              <a:ext cx="870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 err="1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dsin</a:t>
              </a:r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37FA17A4-A4B0-4E85-A16C-99439F452005}"/>
                </a:ext>
              </a:extLst>
            </p:cNvPr>
            <p:cNvSpPr txBox="1"/>
            <p:nvPr/>
          </p:nvSpPr>
          <p:spPr>
            <a:xfrm>
              <a:off x="3649807" y="3273995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42" name="直線單箭頭接點 41">
              <a:extLst>
                <a:ext uri="{FF2B5EF4-FFF2-40B4-BE49-F238E27FC236}">
                  <a16:creationId xmlns:a16="http://schemas.microsoft.com/office/drawing/2014/main" id="{0BF44F4A-6F25-415D-A27F-6F39896AB33A}"/>
                </a:ext>
              </a:extLst>
            </p:cNvPr>
            <p:cNvCxnSpPr>
              <a:endCxn id="7" idx="0"/>
            </p:cNvCxnSpPr>
            <p:nvPr/>
          </p:nvCxnSpPr>
          <p:spPr>
            <a:xfrm>
              <a:off x="5864780" y="3278177"/>
              <a:ext cx="1166402" cy="130421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4" name="弧形 43">
            <a:extLst>
              <a:ext uri="{FF2B5EF4-FFF2-40B4-BE49-F238E27FC236}">
                <a16:creationId xmlns:a16="http://schemas.microsoft.com/office/drawing/2014/main" id="{2F604DA9-8BA2-4B31-BDB9-A9E821837C39}"/>
              </a:ext>
            </a:extLst>
          </p:cNvPr>
          <p:cNvSpPr/>
          <p:nvPr/>
        </p:nvSpPr>
        <p:spPr>
          <a:xfrm>
            <a:off x="4218189" y="4881265"/>
            <a:ext cx="624840" cy="381000"/>
          </a:xfrm>
          <a:prstGeom prst="arc">
            <a:avLst>
              <a:gd name="adj1" fmla="val 11099362"/>
              <a:gd name="adj2" fmla="val 2089804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MUSIC for AoA Estimation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MUSIC is a spatial spectrum estimator built on CSI and steering vectors</a:t>
            </a:r>
          </a:p>
          <a:p>
            <a:r>
              <a:rPr lang="zh-TW" altLang="en-US" dirty="0"/>
              <a:t>Each CSI snapshot is x_n; multiple snapshots form X = [x_0, x_1, ..., x_n].</a:t>
            </a:r>
            <a:endParaRPr lang="en-US" altLang="zh-TW" dirty="0"/>
          </a:p>
          <a:p>
            <a:r>
              <a:rPr lang="zh-TW" altLang="en-US" dirty="0"/>
              <a:t>Compute the covariance matrix R_x = (1/n) X X^H.</a:t>
            </a:r>
          </a:p>
          <a:p>
            <a:r>
              <a:rPr dirty="0"/>
              <a:t>Apply eigenvalue decomposition and use small-eigenvalue eigenvectors as the noise subspace.</a:t>
            </a:r>
          </a:p>
          <a:p>
            <a:r>
              <a:rPr lang="zh-TW" altLang="en-US" dirty="0"/>
              <a:t>For each candidate angle, compare its steering vector with the noise subspace; the most orthogonal vector indicates the most likely AoA.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/>
              <a:t>AoA-Assisted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Risk Score Guides RTS Threshold Decisions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AP uses AoA and link observations to decide when RTS/CTS overhead is worthwhile.</a:t>
            </a:r>
          </a:p>
          <a:p>
            <a:r>
              <a:t>The hidden-node risk score becomes the decision variable for RTS threshold control.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CCF91274-D221-1BB4-3BF9-836E3AD31EBE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AoA and Link Features Capture Hidden-Node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AoA estimates from AP-side multi-antenna CSI provide the main spatial feature for hidden-node risk.</a:t>
            </a:r>
          </a:p>
          <a:p>
            <a:r>
              <a:t>The score combines AoA separation with retries, RSSI, MCS, and traffic activity to reflect geometry and collision symptoms.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RTS Threshold Adapts to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Lower the threshold when hidden-node risk is high; restore or raise it when risk is low.</a:t>
            </a:r>
          </a:p>
          <a:p>
            <a:r>
              <a:t>Smoothing and hysteresis prevent oscillation under noisy AoA or retry measurements.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BB18BA8-60F4-C50D-CD9B-1BB87D3E8506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20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Evaluation Compares Static and Dynamic Policies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hidden-node and non-hidden-node scenarios.</a:t>
            </a:r>
          </a:p>
          <a:p>
            <a:r>
              <a:t>Compare static RTS/CTS settings with the AoA-assisted dynamic RTS threshold policy.</a:t>
            </a:r>
          </a:p>
          <a:p>
            <a:r>
              <a:t>Measure throughput, retry rate, latency, MCS distribution, and fairness.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21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23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809</Words>
  <Application>Microsoft Office PowerPoint</Application>
  <DocSecurity>0</DocSecurity>
  <PresentationFormat>寬螢幕</PresentationFormat>
  <Paragraphs>136</Paragraphs>
  <Slides>23</Slides>
  <Notes>20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1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AoA-Assisted Dynamic RTS Threshold Adaptation for Hidden-Node Risk Mitigation in Commodity Wi-Fi APs</vt:lpstr>
      <vt:lpstr>Outline</vt:lpstr>
      <vt:lpstr>Outline</vt:lpstr>
      <vt:lpstr>Hidden Nodes Cause Receiver-Side Collisions</vt:lpstr>
      <vt:lpstr>RTS/CTS Mitigates Hidden-Node Collisions</vt:lpstr>
      <vt:lpstr>Static RTS Thresholds Cannot Track Hidden-Node Risk</vt:lpstr>
      <vt:lpstr>Hidden-Node Risk-Aware RTS Threshold Control</vt:lpstr>
      <vt:lpstr>Outline</vt:lpstr>
      <vt:lpstr>Wi-Fi Channel State Information (CSI)</vt:lpstr>
      <vt:lpstr>CSI Representation</vt:lpstr>
      <vt:lpstr>Spatial Spectrum Estimation Estimates AoA</vt:lpstr>
      <vt:lpstr>Steering Vector Encodes Angle-Dependent Phase</vt:lpstr>
      <vt:lpstr>MUSIC for AoA Estimation</vt:lpstr>
      <vt:lpstr>Steering Vector Math from the Antenna Array</vt:lpstr>
      <vt:lpstr>LRG1 Provides AP-Side Control and Measurements</vt:lpstr>
      <vt:lpstr>Outline</vt:lpstr>
      <vt:lpstr>Risk Score Guides RTS Threshold Decisions</vt:lpstr>
      <vt:lpstr>AoA and Link Features Capture Hidden-Node Risk</vt:lpstr>
      <vt:lpstr>RTS Threshold Adapts to Risk</vt:lpstr>
      <vt:lpstr>Outline</vt:lpstr>
      <vt:lpstr>Evaluation Compares Static and Dynamic Policies</vt:lpstr>
      <vt:lpstr>Performance Analysis Separates Gains from Limits</vt:lpstr>
      <vt:lpstr>Outline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37</cp:revision>
  <dcterms:created xsi:type="dcterms:W3CDTF">2026-07-03T03:43:28Z</dcterms:created>
  <dcterms:modified xsi:type="dcterms:W3CDTF">2026-07-09T03:52:59Z</dcterms:modified>
</cp:coreProperties>
</file>