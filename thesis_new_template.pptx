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60" r:id="rId5"/>
    <p:sldId id="262" r:id="rId6"/>
    <p:sldId id="286" r:id="rId7"/>
    <p:sldId id="263" r:id="rId8"/>
    <p:sldId id="264" r:id="rId9"/>
    <p:sldId id="265" r:id="rId10"/>
    <p:sldId id="289" r:id="rId11"/>
    <p:sldId id="269" r:id="rId12"/>
    <p:sldId id="287" r:id="rId13"/>
    <p:sldId id="291" r:id="rId14"/>
    <p:sldId id="290" r:id="rId15"/>
    <p:sldId id="285" r:id="rId16"/>
    <p:sldId id="266" r:id="rId17"/>
    <p:sldId id="273" r:id="rId18"/>
    <p:sldId id="274" r:id="rId19"/>
    <p:sldId id="275" r:id="rId20"/>
    <p:sldId id="277" r:id="rId21"/>
    <p:sldId id="280" r:id="rId22"/>
    <p:sldId id="281" r:id="rId23"/>
    <p:sldId id="282" r:id="rId24"/>
    <p:sldId id="283" r:id="rId25"/>
    <p:sldId id="293" r:id="rId26"/>
    <p:sldId id="292" r:id="rId2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35" autoAdjust="0"/>
  </p:normalViewPr>
  <p:slideViewPr>
    <p:cSldViewPr snapToGrid="0">
      <p:cViewPr varScale="1">
        <p:scale>
          <a:sx n="65" d="100"/>
          <a:sy n="65" d="100"/>
        </p:scale>
        <p:origin x="7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8397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gi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 err="1"/>
              <a:t>AoA</a:t>
            </a:r>
            <a:r>
              <a:rPr sz="4000" dirty="0"/>
              <a:t>-Assisted Dynamic RTS Threshold Adaptation for Hidden-Node Risk Mitigation 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 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1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3040250" y="2824942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that hear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endParaRPr lang="en-US" altLang="zh-TW" dirty="0"/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 CTS </a:t>
            </a:r>
            <a:r>
              <a:rPr lang="en-US" altLang="zh-TW" dirty="0"/>
              <a:t> defer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37" name="內容版面配置區 5">
            <a:extLst>
              <a:ext uri="{FF2B5EF4-FFF2-40B4-BE49-F238E27FC236}">
                <a16:creationId xmlns:a16="http://schemas.microsoft.com/office/drawing/2014/main" id="{BE4002B0-05F5-24BC-43DE-8D1C795535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0558" y="4845419"/>
            <a:ext cx="1592125" cy="1592125"/>
          </a:xfrm>
          <a:prstGeom prst="rect">
            <a:avLst/>
          </a:prstGeom>
          <a:noFill/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08FBFEB-86BB-0F6F-AF14-AFB5AA687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4175" y="4895134"/>
            <a:ext cx="1492696" cy="1492696"/>
          </a:xfrm>
          <a:prstGeom prst="rect">
            <a:avLst/>
          </a:prstGeom>
        </p:spPr>
      </p:pic>
      <p:pic>
        <p:nvPicPr>
          <p:cNvPr id="7" name="內容版面配置區 5">
            <a:extLst>
              <a:ext uri="{FF2B5EF4-FFF2-40B4-BE49-F238E27FC236}">
                <a16:creationId xmlns:a16="http://schemas.microsoft.com/office/drawing/2014/main" id="{85E5E06E-7868-F095-29F7-BC1065177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601" y="4845420"/>
            <a:ext cx="1592125" cy="1592125"/>
          </a:xfrm>
          <a:prstGeom prst="rect">
            <a:avLst/>
          </a:prstGeom>
          <a:noFill/>
        </p:spPr>
      </p:pic>
      <p:sp>
        <p:nvSpPr>
          <p:cNvPr id="15" name="乘號 14">
            <a:extLst>
              <a:ext uri="{FF2B5EF4-FFF2-40B4-BE49-F238E27FC236}">
                <a16:creationId xmlns:a16="http://schemas.microsoft.com/office/drawing/2014/main" id="{B71CBB7F-6DC9-B75C-1780-EC99C1665C88}"/>
              </a:ext>
            </a:extLst>
          </p:cNvPr>
          <p:cNvSpPr/>
          <p:nvPr/>
        </p:nvSpPr>
        <p:spPr bwMode="auto">
          <a:xfrm>
            <a:off x="10123807" y="4652175"/>
            <a:ext cx="914400" cy="914400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072EE419-6040-C4E7-3DA2-11CB8999AD13}"/>
              </a:ext>
            </a:extLst>
          </p:cNvPr>
          <p:cNvGrpSpPr/>
          <p:nvPr/>
        </p:nvGrpSpPr>
        <p:grpSpPr>
          <a:xfrm>
            <a:off x="1023065" y="4806537"/>
            <a:ext cx="2145564" cy="461665"/>
            <a:chOff x="3434887" y="4679193"/>
            <a:chExt cx="2197420" cy="461665"/>
          </a:xfrm>
        </p:grpSpPr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8FF64304-0A77-F79F-5F50-8A0702D0EA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4887" y="4910017"/>
              <a:ext cx="219742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457F2047-660C-E84E-378E-2E011EE328F9}"/>
                </a:ext>
              </a:extLst>
            </p:cNvPr>
            <p:cNvSpPr txBox="1"/>
            <p:nvPr/>
          </p:nvSpPr>
          <p:spPr>
            <a:xfrm flipH="1">
              <a:off x="4001703" y="4679193"/>
              <a:ext cx="102999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F81BFEA1-7ABC-1013-F912-3579711DCB40}"/>
              </a:ext>
            </a:extLst>
          </p:cNvPr>
          <p:cNvGrpSpPr/>
          <p:nvPr/>
        </p:nvGrpSpPr>
        <p:grpSpPr>
          <a:xfrm>
            <a:off x="4227040" y="5410432"/>
            <a:ext cx="2197420" cy="461665"/>
            <a:chOff x="3434887" y="5325684"/>
            <a:chExt cx="2197420" cy="461665"/>
          </a:xfrm>
        </p:grpSpPr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9B858A10-FE34-4FB2-78D3-09A598E3F0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4887" y="5556524"/>
              <a:ext cx="219742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A2286F52-F14D-2E59-7502-658EDE17413F}"/>
                </a:ext>
              </a:extLst>
            </p:cNvPr>
            <p:cNvSpPr txBox="1"/>
            <p:nvPr/>
          </p:nvSpPr>
          <p:spPr>
            <a:xfrm>
              <a:off x="4082244" y="5325684"/>
              <a:ext cx="94944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A894F81D-9555-0AC5-7B6E-0370C4C47869}"/>
              </a:ext>
            </a:extLst>
          </p:cNvPr>
          <p:cNvGrpSpPr/>
          <p:nvPr/>
        </p:nvGrpSpPr>
        <p:grpSpPr>
          <a:xfrm>
            <a:off x="4227750" y="5990763"/>
            <a:ext cx="2196000" cy="461665"/>
            <a:chOff x="3510115" y="5972176"/>
            <a:chExt cx="2196000" cy="461665"/>
          </a:xfrm>
        </p:grpSpPr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3334BB22-7ADE-EB72-D461-FAF49340B4DC}"/>
                </a:ext>
              </a:extLst>
            </p:cNvPr>
            <p:cNvCxnSpPr>
              <a:cxnSpLocks/>
            </p:cNvCxnSpPr>
            <p:nvPr/>
          </p:nvCxnSpPr>
          <p:spPr>
            <a:xfrm>
              <a:off x="3510115" y="6203000"/>
              <a:ext cx="2196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F3D52C2F-24EE-4F29-C2C6-A4EBE550A421}"/>
                </a:ext>
              </a:extLst>
            </p:cNvPr>
            <p:cNvSpPr txBox="1"/>
            <p:nvPr/>
          </p:nvSpPr>
          <p:spPr>
            <a:xfrm>
              <a:off x="3850362" y="5972176"/>
              <a:ext cx="1413213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574CB0A6-0408-B210-82D7-66FED1EA8C97}"/>
              </a:ext>
            </a:extLst>
          </p:cNvPr>
          <p:cNvGrpSpPr/>
          <p:nvPr/>
        </p:nvGrpSpPr>
        <p:grpSpPr>
          <a:xfrm>
            <a:off x="8021922" y="5387544"/>
            <a:ext cx="2510966" cy="461665"/>
            <a:chOff x="7740307" y="5313936"/>
            <a:chExt cx="2169268" cy="461665"/>
          </a:xfrm>
        </p:grpSpPr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9F5A3781-6CD8-061D-B188-1C866BCEEAE0}"/>
                </a:ext>
              </a:extLst>
            </p:cNvPr>
            <p:cNvCxnSpPr>
              <a:cxnSpLocks/>
            </p:cNvCxnSpPr>
            <p:nvPr/>
          </p:nvCxnSpPr>
          <p:spPr>
            <a:xfrm>
              <a:off x="7740307" y="5544769"/>
              <a:ext cx="2169268" cy="8621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306246AA-E294-228B-2264-6FE8B56B1AAB}"/>
                </a:ext>
              </a:extLst>
            </p:cNvPr>
            <p:cNvSpPr txBox="1"/>
            <p:nvPr/>
          </p:nvSpPr>
          <p:spPr>
            <a:xfrm>
              <a:off x="8396171" y="5313936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15F7617-31D0-6A13-9354-34064B37185E}"/>
              </a:ext>
            </a:extLst>
          </p:cNvPr>
          <p:cNvSpPr txBox="1"/>
          <p:nvPr/>
        </p:nvSpPr>
        <p:spPr>
          <a:xfrm>
            <a:off x="2879585" y="4433469"/>
            <a:ext cx="159212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TW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Sender</a:t>
            </a:r>
            <a:endParaRPr lang="zh-TW" alt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5B388D5-FA91-C7A0-E079-5EF72AF8B4A9}"/>
              </a:ext>
            </a:extLst>
          </p:cNvPr>
          <p:cNvSpPr txBox="1"/>
          <p:nvPr/>
        </p:nvSpPr>
        <p:spPr>
          <a:xfrm>
            <a:off x="6474461" y="4419819"/>
            <a:ext cx="159212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TW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</a:t>
            </a:r>
            <a:endParaRPr lang="zh-TW" alt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5BE80359-67D1-51E9-E7F7-FB94D7F10C68}"/>
              </a:ext>
            </a:extLst>
          </p:cNvPr>
          <p:cNvSpPr txBox="1"/>
          <p:nvPr/>
        </p:nvSpPr>
        <p:spPr>
          <a:xfrm>
            <a:off x="9831912" y="4323740"/>
            <a:ext cx="216874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TW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Hidden Node</a:t>
            </a:r>
            <a:endParaRPr lang="zh-TW" alt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5" name="內容版面配置區 5">
            <a:extLst>
              <a:ext uri="{FF2B5EF4-FFF2-40B4-BE49-F238E27FC236}">
                <a16:creationId xmlns:a16="http://schemas.microsoft.com/office/drawing/2014/main" id="{DB9FAEA5-1EC1-5A07-00D6-CF7D2B0760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9180" y="4785405"/>
            <a:ext cx="1592125" cy="1592125"/>
          </a:xfrm>
          <a:prstGeom prst="rect">
            <a:avLst/>
          </a:prstGeom>
          <a:noFill/>
        </p:spPr>
      </p:pic>
      <p:grpSp>
        <p:nvGrpSpPr>
          <p:cNvPr id="69" name="群組 68">
            <a:extLst>
              <a:ext uri="{FF2B5EF4-FFF2-40B4-BE49-F238E27FC236}">
                <a16:creationId xmlns:a16="http://schemas.microsoft.com/office/drawing/2014/main" id="{81E715B8-4FA9-7848-A70B-58B56E527FAB}"/>
              </a:ext>
            </a:extLst>
          </p:cNvPr>
          <p:cNvGrpSpPr/>
          <p:nvPr/>
        </p:nvGrpSpPr>
        <p:grpSpPr>
          <a:xfrm>
            <a:off x="4227040" y="4830100"/>
            <a:ext cx="2197420" cy="461665"/>
            <a:chOff x="3434887" y="4679193"/>
            <a:chExt cx="2197420" cy="461665"/>
          </a:xfrm>
        </p:grpSpPr>
        <p:cxnSp>
          <p:nvCxnSpPr>
            <p:cNvPr id="70" name="直線接點 69">
              <a:extLst>
                <a:ext uri="{FF2B5EF4-FFF2-40B4-BE49-F238E27FC236}">
                  <a16:creationId xmlns:a16="http://schemas.microsoft.com/office/drawing/2014/main" id="{FDC67D34-43FE-0D54-4111-58FFF1951312}"/>
                </a:ext>
              </a:extLst>
            </p:cNvPr>
            <p:cNvCxnSpPr>
              <a:cxnSpLocks/>
            </p:cNvCxnSpPr>
            <p:nvPr/>
          </p:nvCxnSpPr>
          <p:spPr>
            <a:xfrm>
              <a:off x="3434887" y="4910017"/>
              <a:ext cx="219742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866A48AF-D1AE-BE7D-456D-2CA0DE8E508C}"/>
                </a:ext>
              </a:extLst>
            </p:cNvPr>
            <p:cNvSpPr txBox="1"/>
            <p:nvPr/>
          </p:nvSpPr>
          <p:spPr>
            <a:xfrm>
              <a:off x="4082244" y="4679193"/>
              <a:ext cx="94944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04C15B66-6828-4C06-F554-AD0DAF2EDB35}"/>
              </a:ext>
            </a:extLst>
          </p:cNvPr>
          <p:cNvSpPr txBox="1"/>
          <p:nvPr/>
        </p:nvSpPr>
        <p:spPr>
          <a:xfrm>
            <a:off x="690284" y="5661953"/>
            <a:ext cx="1647605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TW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Nearby</a:t>
            </a:r>
            <a:br>
              <a:rPr lang="en-US" altLang="zh-TW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TW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endParaRPr lang="zh-TW" alt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乘號 74">
            <a:extLst>
              <a:ext uri="{FF2B5EF4-FFF2-40B4-BE49-F238E27FC236}">
                <a16:creationId xmlns:a16="http://schemas.microsoft.com/office/drawing/2014/main" id="{A3FAB8E5-1165-21A0-248D-352EAA57EC28}"/>
              </a:ext>
            </a:extLst>
          </p:cNvPr>
          <p:cNvSpPr/>
          <p:nvPr/>
        </p:nvSpPr>
        <p:spPr bwMode="auto">
          <a:xfrm>
            <a:off x="-134895" y="4433469"/>
            <a:ext cx="914400" cy="914400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Limitations of Static RTS Thresholds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Conventional 802.11 usually uses a fixed RTS threshold</a:t>
            </a:r>
            <a:endParaRPr lang="en-US" altLang="zh-TW" dirty="0"/>
          </a:p>
          <a:p>
            <a:r>
              <a:rPr lang="zh-TW" altLang="zh-TW" dirty="0"/>
              <a:t>A static threshold cannot adapt to changing node locations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6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Spatially Aware Dynamic RTS Threshold Using</a:t>
            </a:r>
            <a:r>
              <a:rPr lang="en-US" altLang="zh-TW" dirty="0"/>
              <a:t> AoA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AoA provides spatial cues about the relative directions of stations</a:t>
            </a:r>
          </a:p>
          <a:p>
            <a:r>
              <a:rPr lang="zh-TW" altLang="zh-TW" dirty="0"/>
              <a:t>AP combines AoA with link information</a:t>
            </a:r>
            <a:r>
              <a:rPr lang="en-US" altLang="zh-TW" dirty="0"/>
              <a:t> </a:t>
            </a:r>
            <a:r>
              <a:rPr lang="zh-TW" altLang="zh-TW" dirty="0"/>
              <a:t>to estimate hidden-node risk</a:t>
            </a:r>
          </a:p>
          <a:p>
            <a:r>
              <a:rPr lang="en-US" altLang="zh-TW" dirty="0"/>
              <a:t>E</a:t>
            </a:r>
            <a:r>
              <a:rPr lang="zh-TW" altLang="zh-TW" dirty="0"/>
              <a:t>stimated risk guides dynamic RTS </a:t>
            </a:r>
            <a:r>
              <a:rPr lang="zh-TW" altLang="zh-TW"/>
              <a:t>threshold adjustment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112E6F4-B8F3-66BC-DBB7-16D3CDCE5481}"/>
              </a:ext>
            </a:extLst>
          </p:cNvPr>
          <p:cNvSpPr txBox="1"/>
          <p:nvPr/>
        </p:nvSpPr>
        <p:spPr>
          <a:xfrm>
            <a:off x="8421329" y="5928484"/>
            <a:ext cx="3770671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TW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Angle of Arrival (AoA)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 Therefore, contains geometric information of the propagation space</a:t>
            </a:r>
          </a:p>
          <a:p>
            <a:r>
              <a:rPr lang="en-US" altLang="zh-TW" dirty="0"/>
              <a:t>Sender transmits a pattern known to receiver</a:t>
            </a:r>
          </a:p>
          <a:p>
            <a:r>
              <a:rPr lang="en-US" altLang="zh-TW" dirty="0"/>
              <a:t>The receiver estimates CSI for each subcarrier and transmit-receive antenna pair</a:t>
            </a:r>
            <a:endParaRPr lang="zh-TW" altLang="zh-TW" dirty="0"/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2174588" y="3779811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:r>
                  <a:rPr lang="en-US" altLang="zh-TW" dirty="0"/>
                  <a:t>A</a:t>
                </a:r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:r>
                  <a:rPr lang="en-US" altLang="zh-TW" dirty="0"/>
                  <a:t>P</a:t>
                </a:r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921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Antennas never observe angles directly - only phase differences of the arriving signal across the array</a:t>
            </a:r>
          </a:p>
          <a:p>
            <a:r>
              <a:rPr dirty="0"/>
              <a:t>Spatial spectrum estimation scores every candidate direction; a peak means a path likely arrives from that angle</a:t>
            </a:r>
          </a:p>
          <a:p>
            <a:r>
              <a:rPr dirty="0"/>
              <a:t>Indoor multipath yields multiple peaks: the direct path plus reflected paths</a:t>
            </a:r>
          </a:p>
          <a:p>
            <a:r>
              <a:rPr dirty="0"/>
              <a:t>Reading each peak as one propagation path's AoA is the key step for Wi-Fi localization</a:t>
            </a:r>
          </a:p>
          <a:p>
            <a:r>
              <a:rPr dirty="0"/>
              <a:t>To compare directions, we first need to know what each direction looks like in phase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 Encodes Angle-Dependent Phase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Phase pattern across the antenna array when a signal arrives from angle θ</a:t>
            </a:r>
            <a:endParaRPr lang="zh-TW" alt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TW" dirty="0"/>
              <a:t>Plane waves reach antennas at different distances, creating a dsinθ path difference</a:t>
            </a:r>
            <a:endParaRPr lang="zh-TW" altLang="en-US" dirty="0"/>
          </a:p>
          <a:p>
            <a:r>
              <a:t>The simplest way to use this pattern: align each antenna's signal and sum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12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DAD3106-B511-445E-A7D5-CD1A30115821}"/>
              </a:ext>
            </a:extLst>
          </p:cNvPr>
          <p:cNvGrpSpPr/>
          <p:nvPr/>
        </p:nvGrpSpPr>
        <p:grpSpPr>
          <a:xfrm>
            <a:off x="3546935" y="3137919"/>
            <a:ext cx="4333010" cy="3197244"/>
            <a:chOff x="2992580" y="1973964"/>
            <a:chExt cx="4333010" cy="3197244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9280B86F-59F2-4358-BE59-D7B56947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6254" y="4582391"/>
              <a:ext cx="588817" cy="588817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991B78D-C694-4413-8027-C7A8ABC61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36773" y="4582391"/>
              <a:ext cx="588817" cy="588817"/>
            </a:xfrm>
            <a:prstGeom prst="rect">
              <a:avLst/>
            </a:prstGeom>
          </p:spPr>
        </p:pic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A347363D-0293-4A51-A44B-DF7BB910E65A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4270662" y="4559531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9EB25E0-9122-4661-95C0-82F190E87EE9}"/>
                </a:ext>
              </a:extLst>
            </p:cNvPr>
            <p:cNvSpPr txBox="1"/>
            <p:nvPr/>
          </p:nvSpPr>
          <p:spPr>
            <a:xfrm>
              <a:off x="5516684" y="4514461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6DD2B31A-D3FE-476F-95EC-AF9E5AC58250}"/>
                </a:ext>
              </a:extLst>
            </p:cNvPr>
            <p:cNvCxnSpPr>
              <a:cxnSpLocks/>
            </p:cNvCxnSpPr>
            <p:nvPr/>
          </p:nvCxnSpPr>
          <p:spPr>
            <a:xfrm>
              <a:off x="2992580" y="3138055"/>
              <a:ext cx="1278082" cy="144433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59904E5F-5D86-40CC-B5E8-5BA0EB02523D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270663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3E5496BA-FF98-415A-A9C7-8B7535B7A85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7031182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4074F5E6-307D-4F7A-8D8E-F32546B814E2}"/>
                </a:ext>
              </a:extLst>
            </p:cNvPr>
            <p:cNvCxnSpPr>
              <a:cxnSpLocks/>
            </p:cNvCxnSpPr>
            <p:nvPr/>
          </p:nvCxnSpPr>
          <p:spPr>
            <a:xfrm>
              <a:off x="4717472" y="1973964"/>
              <a:ext cx="2308177" cy="260842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0ABF4525-4FF2-4A36-A0E0-C13AEC2A111F}"/>
                </a:ext>
              </a:extLst>
            </p:cNvPr>
            <p:cNvCxnSpPr>
              <a:stCxn id="6" idx="0"/>
            </p:cNvCxnSpPr>
            <p:nvPr/>
          </p:nvCxnSpPr>
          <p:spPr>
            <a:xfrm flipV="1">
              <a:off x="4270663" y="3278177"/>
              <a:ext cx="1600897" cy="13042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L 圖案 35">
              <a:extLst>
                <a:ext uri="{FF2B5EF4-FFF2-40B4-BE49-F238E27FC236}">
                  <a16:creationId xmlns:a16="http://schemas.microsoft.com/office/drawing/2014/main" id="{8AE751F1-DA3A-421B-B199-44EF09DCC82A}"/>
                </a:ext>
              </a:extLst>
            </p:cNvPr>
            <p:cNvSpPr/>
            <p:nvPr/>
          </p:nvSpPr>
          <p:spPr>
            <a:xfrm rot="19381622">
              <a:off x="5773722" y="3317462"/>
              <a:ext cx="182117" cy="184893"/>
            </a:xfrm>
            <a:prstGeom prst="corner">
              <a:avLst>
                <a:gd name="adj1" fmla="val 0"/>
                <a:gd name="adj2" fmla="val 0"/>
              </a:avLst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4B25BA2-5813-4C8D-9D08-1BD12C7361A8}"/>
                </a:ext>
              </a:extLst>
            </p:cNvPr>
            <p:cNvSpPr txBox="1"/>
            <p:nvPr/>
          </p:nvSpPr>
          <p:spPr>
            <a:xfrm>
              <a:off x="5638726" y="3752015"/>
              <a:ext cx="870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 err="1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dsin</a:t>
              </a:r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37FA17A4-A4B0-4E85-A16C-99439F452005}"/>
                </a:ext>
              </a:extLst>
            </p:cNvPr>
            <p:cNvSpPr txBox="1"/>
            <p:nvPr/>
          </p:nvSpPr>
          <p:spPr>
            <a:xfrm>
              <a:off x="3649807" y="3273995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42" name="直線單箭頭接點 41">
              <a:extLst>
                <a:ext uri="{FF2B5EF4-FFF2-40B4-BE49-F238E27FC236}">
                  <a16:creationId xmlns:a16="http://schemas.microsoft.com/office/drawing/2014/main" id="{0BF44F4A-6F25-415D-A27F-6F39896AB33A}"/>
                </a:ext>
              </a:extLst>
            </p:cNvPr>
            <p:cNvCxnSpPr>
              <a:endCxn id="7" idx="0"/>
            </p:cNvCxnSpPr>
            <p:nvPr/>
          </p:nvCxnSpPr>
          <p:spPr>
            <a:xfrm>
              <a:off x="5864780" y="3278177"/>
              <a:ext cx="1166402" cy="130421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4" name="弧形 43">
            <a:extLst>
              <a:ext uri="{FF2B5EF4-FFF2-40B4-BE49-F238E27FC236}">
                <a16:creationId xmlns:a16="http://schemas.microsoft.com/office/drawing/2014/main" id="{2F604DA9-8BA2-4B31-BDB9-A9E821837C39}"/>
              </a:ext>
            </a:extLst>
          </p:cNvPr>
          <p:cNvSpPr/>
          <p:nvPr/>
        </p:nvSpPr>
        <p:spPr>
          <a:xfrm>
            <a:off x="4218189" y="4881265"/>
            <a:ext cx="624840" cy="381000"/>
          </a:xfrm>
          <a:prstGeom prst="arc">
            <a:avLst>
              <a:gd name="adj1" fmla="val 11099362"/>
              <a:gd name="adj2" fmla="val 2089804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straightforward scorer: shift each antenna's signal to align with a candidate angle, then sum - a true arrival from that angle adds up in phase (delay-and-sum beamforming)</a:t>
            </a:r>
            <a:endParaRPr dirty="0"/>
          </a:p>
          <a:p>
            <a:r>
              <a:t>Sweeping this listening beam across all angles gives the spatial spectrum - like turning an ear toward each direction</a:t>
            </a:r>
          </a:p>
          <a:p>
            <a:r>
              <a:t>The beam's width is set by array size: with only 2-4 antennas it is roughly 60 degrees wide</a:t>
            </a:r>
          </a:p>
          <a:p>
            <a:r>
              <a:t>Indoor paths arrive just 10-20 degrees apart, so they merge into one blob inside the wide beam</a:t>
            </a:r>
          </a:p>
          <a:p>
            <a:r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</a:t>
            </a:r>
            <a:r>
              <a:rPr dirty="0" err="1"/>
              <a:t>SpotFi</a:t>
            </a:r>
            <a:r>
              <a:rPr dirty="0"/>
              <a:t>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MUSIC for AoA Estimation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MUSIC is a spatial spectrum estimator built on CSI and steering vectors</a:t>
            </a:r>
          </a:p>
          <a:p>
            <a:r>
              <a:rPr lang="zh-TW" altLang="en-US" dirty="0"/>
              <a:t>Each CSI snapshot is x_n; multiple snapshots form X = [x_0, x_1, ..., x_n].</a:t>
            </a:r>
            <a:endParaRPr lang="en-US" altLang="zh-TW" dirty="0"/>
          </a:p>
          <a:p>
            <a:r>
              <a:rPr lang="zh-TW" altLang="en-US" dirty="0"/>
              <a:t>Compute the covariance matrix R_x = (1/n) X X^H.</a:t>
            </a:r>
          </a:p>
          <a:p>
            <a:r>
              <a:rPr dirty="0"/>
              <a:t>Apply eigenvalue decomposition and use small-eigenvalue eigenvectors as the noise subspace.</a:t>
            </a:r>
          </a:p>
          <a:p>
            <a:r>
              <a:rPr lang="zh-TW" altLang="en-US" dirty="0"/>
              <a:t>For each candidate angle, compare its steering vector with the noise subspace; the most orthogonal vector indicates the most likely AoA.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/>
              <a:t>AoA-Assisted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Risk Score Guides RTS Threshold Decisions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AP uses AoA and link observations to decide when RTS/CTS overhead is worthwhile.</a:t>
            </a:r>
          </a:p>
          <a:p>
            <a:r>
              <a:rPr dirty="0"/>
              <a:t>The hidden-node risk score becomes the decision variable for RTS threshold control.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CCF91274-D221-1BB4-3BF9-836E3AD31EBE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AoA and Link Features Capture Hidden-Node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AoA estimates from AP-side multi-antenna CSI provide the main spatial feature for hidden-node risk.</a:t>
            </a:r>
          </a:p>
          <a:p>
            <a:r>
              <a:rPr dirty="0"/>
              <a:t>The score combines AoA separation with retries, RSSI, MCS, and traffic activity to reflect geometry and collision symptoms.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RTS Threshold Adapts to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Lower the threshold when hidden-node risk is high; restore or raise it when risk is low.</a:t>
            </a:r>
          </a:p>
          <a:p>
            <a:r>
              <a:rPr dirty="0"/>
              <a:t>Smoothing and hysteresis prevent oscillation under noisy AoA or retry measurements.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BB18BA8-60F4-C50D-CD9B-1BB87D3E8506}" type="slidenum">
              <a:rPr sz="1400">
                <a:latin typeface="Times New Roman"/>
                <a:ea typeface="Times New Roman"/>
                <a:cs typeface="Times New Roman"/>
              </a:rPr>
              <a:t>20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Evaluation Compares Static and Dynamic Policies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hidden-node and non-hidden-node scenarios.</a:t>
            </a:r>
          </a:p>
          <a:p>
            <a:r>
              <a:t>Compare static RTS/CTS settings with the AoA-assisted dynamic RTS threshold policy.</a:t>
            </a:r>
          </a:p>
          <a:p>
            <a:r>
              <a:t>Measure throughput, retry rate, latency, MCS distribution, and fairness.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25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994</TotalTime>
  <Words>1114</Words>
  <Application>Microsoft Office PowerPoint</Application>
  <DocSecurity>0</DocSecurity>
  <PresentationFormat>寬螢幕</PresentationFormat>
  <Paragraphs>170</Paragraphs>
  <Slides>26</Slides>
  <Notes>21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4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Risk Mitigation in Wi-Fi</vt:lpstr>
      <vt:lpstr>Outline</vt:lpstr>
      <vt:lpstr>Outline</vt:lpstr>
      <vt:lpstr>Hidden Nodes Problem</vt:lpstr>
      <vt:lpstr>RTS/CTS Mitigates Hidden-Node Collisions</vt:lpstr>
      <vt:lpstr>Limitations of Static RTS Thresholds</vt:lpstr>
      <vt:lpstr>Spatially Aware Dynamic RTS Threshold Using AoA</vt:lpstr>
      <vt:lpstr>Outline</vt:lpstr>
      <vt:lpstr>Wi-Fi Channel State Information (CSI)</vt:lpstr>
      <vt:lpstr>CSI Representation</vt:lpstr>
      <vt:lpstr>Spatial Spectrum Estimation Estimates AoA</vt:lpstr>
      <vt:lpstr>Steering Vector Encodes Angle-Dependent Phase</vt:lpstr>
      <vt:lpstr>Classic Beamforming Hits a Resolution Wall</vt:lpstr>
      <vt:lpstr>Why We Use MUSIC</vt:lpstr>
      <vt:lpstr>MUSIC for AoA Estimation</vt:lpstr>
      <vt:lpstr>LRG1 Provides AP-Side Control and Measurements</vt:lpstr>
      <vt:lpstr>Outline</vt:lpstr>
      <vt:lpstr>Risk Score Guides RTS Threshold Decisions</vt:lpstr>
      <vt:lpstr>AoA and Link Features Capture Hidden-Node Risk</vt:lpstr>
      <vt:lpstr>RTS Threshold Adapts to Risk</vt:lpstr>
      <vt:lpstr>Outline</vt:lpstr>
      <vt:lpstr>Evaluation Compares Static and Dynamic Policies</vt:lpstr>
      <vt:lpstr>Performance Analysis Separates Gains from Limits</vt:lpstr>
      <vt:lpstr>Outline</vt:lpstr>
      <vt:lpstr>Appendix</vt:lpstr>
      <vt:lpstr>RTS/CTS Mitigates Hidden-Node Collisions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50</cp:revision>
  <dcterms:created xsi:type="dcterms:W3CDTF">2026-07-03T03:43:28Z</dcterms:created>
  <dcterms:modified xsi:type="dcterms:W3CDTF">2026-07-14T08:51:10Z</dcterms:modified>
</cp:coreProperties>
</file>