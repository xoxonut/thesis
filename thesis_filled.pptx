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60" r:id="rId5"/>
    <p:sldId id="262" r:id="rId6"/>
    <p:sldId id="286" r:id="rId7"/>
    <p:sldId id="263" r:id="rId8"/>
    <p:sldId id="264" r:id="rId9"/>
    <p:sldId id="265" r:id="rId10"/>
    <p:sldId id="269" r:id="rId11"/>
    <p:sldId id="285" r:id="rId12"/>
    <p:sldId id="266" r:id="rId13"/>
    <p:sldId id="273" r:id="rId14"/>
    <p:sldId id="274" r:id="rId15"/>
    <p:sldId id="275" r:id="rId16"/>
    <p:sldId id="277" r:id="rId17"/>
    <p:sldId id="280" r:id="rId18"/>
    <p:sldId id="281" r:id="rId19"/>
    <p:sldId id="282" r:id="rId20"/>
    <p:sldId id="283" r:id="rId2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淺色樣式 2 - 輔色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835" autoAdjust="0"/>
  </p:normalViewPr>
  <p:slideViewPr>
    <p:cSldViewPr snapToGrid="0">
      <p:cViewPr varScale="1">
        <p:scale>
          <a:sx n="65" d="100"/>
          <a:sy n="65" d="100"/>
        </p:scale>
        <p:origin x="700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只能控制 AP side的RTS threshold是問題嗎?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085745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26" Type="http://schemas.openxmlformats.org/officeDocument/2006/relationships/image" Target="../media/image27.pn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5" Type="http://schemas.openxmlformats.org/officeDocument/2006/relationships/image" Target="../media/image26.pn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24" Type="http://schemas.openxmlformats.org/officeDocument/2006/relationships/image" Target="../media/image25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23" Type="http://schemas.openxmlformats.org/officeDocument/2006/relationships/image" Target="../media/image24.png"/><Relationship Id="rId10" Type="http://schemas.openxmlformats.org/officeDocument/2006/relationships/image" Target="../media/image11.png"/><Relationship Id="rId19" Type="http://schemas.openxmlformats.org/officeDocument/2006/relationships/image" Target="../media/image20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3" Type="http://schemas.openxmlformats.org/officeDocument/2006/relationships/image" Target="../media/image29.jpeg"/><Relationship Id="rId7" Type="http://schemas.openxmlformats.org/officeDocument/2006/relationships/image" Target="../media/image33.jpeg"/><Relationship Id="rId12" Type="http://schemas.openxmlformats.org/officeDocument/2006/relationships/image" Target="../media/image38.png"/><Relationship Id="rId2" Type="http://schemas.openxmlformats.org/officeDocument/2006/relationships/image" Target="../media/image28.png"/><Relationship Id="rId16" Type="http://schemas.openxmlformats.org/officeDocument/2006/relationships/image" Target="../media/image4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2.jpe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5" Type="http://schemas.openxmlformats.org/officeDocument/2006/relationships/image" Target="../media/image4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306E496-760D-4F3A-9AF0-499CDE7BB521}"/>
              </a:ext>
            </a:extLst>
          </p:cNvPr>
          <p:cNvSpPr>
            <a:spLocks noGrp="1"/>
          </p:cNvSpPr>
          <p:nvPr/>
        </p:nvSpPr>
        <p:spPr>
          <a:xfrm>
            <a:off x="0" y="1"/>
            <a:ext cx="12192000" cy="2615000"/>
          </a:xfrm>
          <a:prstGeom prst="rect">
            <a:avLst/>
          </a:prstGeom>
          <a:gradFill>
            <a:gsLst>
              <a:gs pos="29000">
                <a:schemeClr val="bg1"/>
              </a:gs>
              <a:gs pos="1000">
                <a:srgbClr val="EBFAFF"/>
              </a:gs>
              <a:gs pos="99000">
                <a:srgbClr val="F7FDFF"/>
              </a:gs>
            </a:gsLst>
            <a:lin ang="5400000" scaled="1"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F3527ECD-3B7D-48AF-8209-F9F6ECCDC9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79716" y="2938636"/>
            <a:ext cx="8971723" cy="257403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marL="0" indent="0" algn="ctr">
              <a:buFontTx/>
              <a:buNone/>
              <a:defRPr sz="3200" baseline="0">
                <a:solidFill>
                  <a:srgbClr val="3297FC"/>
                </a:solidFill>
              </a:defRPr>
            </a:lvl1pPr>
          </a:lstStyle>
          <a:p>
            <a:pPr>
              <a:buNone/>
            </a:pPr>
            <a:r>
              <a:t>封面看要放      機櫃、NCTU照片、或其他</a:t>
            </a:r>
          </a:p>
          <a:p>
            <a:pPr>
              <a:buNone/>
            </a:pPr>
            <a:r>
              <a:t>按一下以編輯母片副標題樣式</a:t>
            </a:r>
          </a:p>
        </p:txBody>
      </p:sp>
      <p:sp>
        <p:nvSpPr>
          <p:cNvPr id="3" name="弧形 2">
            <a:extLst>
              <a:ext uri="{FF2B5EF4-FFF2-40B4-BE49-F238E27FC236}">
                <a16:creationId xmlns:a16="http://schemas.microsoft.com/office/drawing/2014/main" id="{DE5CCFFA-BB39-4AC8-9914-C410FC690B47}"/>
              </a:ext>
            </a:extLst>
          </p:cNvPr>
          <p:cNvSpPr>
            <a:spLocks noGrp="1"/>
          </p:cNvSpPr>
          <p:nvPr/>
        </p:nvSpPr>
        <p:spPr>
          <a:xfrm>
            <a:off x="239350" y="2392275"/>
            <a:ext cx="11823133" cy="460662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70FAAEC-1858-4685-98AA-F4DB2E25313A}"/>
              </a:ext>
            </a:extLst>
          </p:cNvPr>
          <p:cNvSpPr>
            <a:spLocks noGrp="1"/>
          </p:cNvSpPr>
          <p:nvPr/>
        </p:nvSpPr>
        <p:spPr>
          <a:xfrm>
            <a:off x="414905" y="2384670"/>
            <a:ext cx="5783303" cy="230331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82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標題 15">
            <a:extLst>
              <a:ext uri="{FF2B5EF4-FFF2-40B4-BE49-F238E27FC236}">
                <a16:creationId xmlns:a16="http://schemas.microsoft.com/office/drawing/2014/main" id="{2B9E3D8F-9614-4F1E-A82E-3D68C5EC5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9893" y="404664"/>
            <a:ext cx="8312996" cy="1987610"/>
          </a:xfrm>
        </p:spPr>
        <p:txBody>
          <a:bodyPr/>
          <a:lstStyle>
            <a:lvl1pPr>
              <a:defRPr sz="4400">
                <a:solidFill>
                  <a:srgbClr val="3297FC"/>
                </a:solidFill>
              </a:defRPr>
            </a:lvl1pPr>
          </a:lstStyle>
          <a:p>
            <a:r>
              <a:t>按一下以編輯母片標題樣式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1DBD64-14B7-452D-9AFA-42E13CD1A975}"/>
              </a:ext>
            </a:extLst>
          </p:cNvPr>
          <p:cNvSpPr>
            <a:spLocks noGrp="1"/>
          </p:cNvSpPr>
          <p:nvPr/>
        </p:nvSpPr>
        <p:spPr>
          <a:xfrm>
            <a:off x="0" y="6453336"/>
            <a:ext cx="12192000" cy="404664"/>
          </a:xfrm>
          <a:prstGeom prst="rect">
            <a:avLst/>
          </a:prstGeom>
          <a:gradFill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>
              <a:lnSpc>
                <a:spcPct val="100000"/>
              </a:lnSpc>
              <a:buNone/>
            </a:pPr>
            <a:endParaRPr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F9796AA-6F58-4B1A-BDFE-7DA4C0C8F2C3}"/>
              </a:ext>
            </a:extLst>
          </p:cNvPr>
          <p:cNvSpPr>
            <a:spLocks noGrp="1"/>
          </p:cNvSpPr>
          <p:nvPr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chemeClr val="bg1"/>
                </a:solidFill>
              </a:rPr>
              <a:t>NYCU CS</a:t>
            </a:r>
          </a:p>
        </p:txBody>
      </p:sp>
      <p:sp>
        <p:nvSpPr>
          <p:cNvPr id="23" name="投影片編號版面配置區 2">
            <a:extLst>
              <a:ext uri="{FF2B5EF4-FFF2-40B4-BE49-F238E27FC236}">
                <a16:creationId xmlns:a16="http://schemas.microsoft.com/office/drawing/2014/main" id="{8C41D527-B7A7-4ECB-AC9D-ACB7C81FF1F3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297FC"/>
                </a:solidFill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4106" name="圖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52" y="138374"/>
            <a:ext cx="1565435" cy="205700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BEEEAB-B03B-448E-97DE-64DAD77F6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t>按一下以編輯母片標題樣式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F7E82E76-F0A8-4496-8985-11AF5F703D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>
              <a:buNone/>
            </a:pPr>
            <a:r>
              <a:t>編輯母片文字樣式</a:t>
            </a:r>
          </a:p>
          <a:p>
            <a:pPr>
              <a:buNone/>
            </a:pPr>
            <a:r>
              <a:t>第二層</a:t>
            </a:r>
          </a:p>
          <a:p>
            <a:pPr>
              <a:buNone/>
            </a:pPr>
            <a:r>
              <a:t>第三層</a:t>
            </a:r>
          </a:p>
          <a:p>
            <a:pPr>
              <a:buNone/>
            </a:pPr>
            <a:r>
              <a:t>第四層</a:t>
            </a:r>
          </a:p>
          <a:p>
            <a:pPr>
              <a:buNone/>
            </a:pPr>
            <a:r>
              <a:t>第五層</a:t>
            </a:r>
          </a:p>
          <a:p>
            <a:pPr>
              <a:buNone/>
            </a:pPr>
            <a:endParaRPr/>
          </a:p>
          <a:p>
            <a:pPr>
              <a:buNone/>
            </a:pPr>
            <a:endParaRPr/>
          </a:p>
        </p:txBody>
      </p:sp>
      <p:sp>
        <p:nvSpPr>
          <p:cNvPr id="6" name="弧形 5">
            <a:extLst>
              <a:ext uri="{FF2B5EF4-FFF2-40B4-BE49-F238E27FC236}">
                <a16:creationId xmlns:a16="http://schemas.microsoft.com/office/drawing/2014/main" id="{0F6A7DA4-E894-494D-AAE9-AB52CC43733C}"/>
              </a:ext>
            </a:extLst>
          </p:cNvPr>
          <p:cNvSpPr>
            <a:spLocks noGrp="1"/>
          </p:cNvSpPr>
          <p:nvPr/>
        </p:nvSpPr>
        <p:spPr>
          <a:xfrm>
            <a:off x="695400" y="1020298"/>
            <a:ext cx="10940873" cy="176454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0F6CF54-E884-4B0B-B76D-07A8FAB8F3B1}"/>
              </a:ext>
            </a:extLst>
          </p:cNvPr>
          <p:cNvSpPr>
            <a:spLocks noGrp="1"/>
          </p:cNvSpPr>
          <p:nvPr/>
        </p:nvSpPr>
        <p:spPr>
          <a:xfrm>
            <a:off x="695400" y="985047"/>
            <a:ext cx="5470436" cy="88227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65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>
            <a:spLocks noGrp="1"/>
          </p:cNvSpPr>
          <p:nvPr/>
        </p:nvSpPr>
        <p:spPr>
          <a:xfrm>
            <a:off x="0" y="6453336"/>
            <a:ext cx="12192000" cy="404664"/>
          </a:xfrm>
          <a:prstGeom prst="rect">
            <a:avLst/>
          </a:prstGeom>
          <a:gradFill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>
              <a:lnSpc>
                <a:spcPct val="100000"/>
              </a:lnSpc>
              <a:buNone/>
            </a:pPr>
            <a:endParaRPr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>
            <a:spLocks noGrp="1"/>
          </p:cNvSpPr>
          <p:nvPr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chemeClr val="bg1"/>
                </a:solidFill>
              </a:rPr>
              <a:t>NYCU CS</a:t>
            </a: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22" name="圖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29" y="90388"/>
            <a:ext cx="748002" cy="98288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>
            <a:spLocks noGrp="1"/>
          </p:cNvSpPr>
          <p:nvPr/>
        </p:nvSpPr>
        <p:spPr>
          <a:xfrm>
            <a:off x="0" y="6453336"/>
            <a:ext cx="12192000" cy="404664"/>
          </a:xfrm>
          <a:prstGeom prst="rect">
            <a:avLst/>
          </a:prstGeom>
          <a:gradFill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>
              <a:lnSpc>
                <a:spcPct val="100000"/>
              </a:lnSpc>
              <a:buNone/>
            </a:pPr>
            <a:endParaRPr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>
            <a:spLocks noGrp="1"/>
          </p:cNvSpPr>
          <p:nvPr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chemeClr val="bg1"/>
                </a:solidFill>
              </a:rPr>
              <a:t>NYCU CS</a:t>
            </a: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弧形 7">
            <a:extLst>
              <a:ext uri="{FF2B5EF4-FFF2-40B4-BE49-F238E27FC236}">
                <a16:creationId xmlns:a16="http://schemas.microsoft.com/office/drawing/2014/main" id="{B0D921CC-6E9E-9736-56F4-1FACE8D5A904}"/>
              </a:ext>
            </a:extLst>
          </p:cNvPr>
          <p:cNvSpPr>
            <a:spLocks noGrp="1"/>
          </p:cNvSpPr>
          <p:nvPr/>
        </p:nvSpPr>
        <p:spPr>
          <a:xfrm>
            <a:off x="695400" y="1020298"/>
            <a:ext cx="10940873" cy="176454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24830C6-10FC-8690-4E44-34E0175936F9}"/>
              </a:ext>
            </a:extLst>
          </p:cNvPr>
          <p:cNvSpPr>
            <a:spLocks noGrp="1"/>
          </p:cNvSpPr>
          <p:nvPr/>
        </p:nvSpPr>
        <p:spPr>
          <a:xfrm>
            <a:off x="695400" y="985047"/>
            <a:ext cx="5470436" cy="88227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65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55A07BFF-CF99-95A1-3418-CBD8C916E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>
              <a:buNone/>
            </a:pPr>
            <a:r>
              <a:t>編輯母片文字樣式</a:t>
            </a:r>
          </a:p>
          <a:p>
            <a:pPr>
              <a:buNone/>
            </a:pPr>
            <a:r>
              <a:t>第二層</a:t>
            </a:r>
          </a:p>
          <a:p>
            <a:pPr>
              <a:buNone/>
            </a:pPr>
            <a:r>
              <a:t>第三層</a:t>
            </a:r>
          </a:p>
          <a:p>
            <a:pPr>
              <a:buNone/>
            </a:pPr>
            <a:r>
              <a:t>第四層</a:t>
            </a:r>
          </a:p>
          <a:p>
            <a:pPr>
              <a:buNone/>
            </a:pPr>
            <a:r>
              <a:t>第五層</a:t>
            </a:r>
          </a:p>
          <a:p>
            <a:pPr>
              <a:buNone/>
            </a:pPr>
            <a:endParaRPr/>
          </a:p>
          <a:p>
            <a:pPr>
              <a:buNone/>
            </a:pPr>
            <a:endParaRPr/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00A0E83E-3A5B-7BA3-3D72-4679DA5C2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t>按一下以編輯母片標題樣式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3B233E-828E-45EE-B567-D0B8127BD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t>按一下以編輯母片標題樣式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AD9B85E1-5167-4ADC-B944-63A2905EB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9577" y="1073275"/>
            <a:ext cx="756084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>
              <a:buNone/>
            </a:pPr>
            <a:r>
              <a:t>編輯母片文字樣式</a:t>
            </a:r>
          </a:p>
          <a:p>
            <a:pPr>
              <a:buNone/>
            </a:pPr>
            <a:r>
              <a:t>第二層</a:t>
            </a:r>
          </a:p>
          <a:p>
            <a:pPr>
              <a:buNone/>
            </a:pPr>
            <a:r>
              <a:t>第三層</a:t>
            </a:r>
          </a:p>
          <a:p>
            <a:pPr>
              <a:buNone/>
            </a:pPr>
            <a:r>
              <a:t>第四層</a:t>
            </a:r>
          </a:p>
          <a:p>
            <a:pPr>
              <a:buNone/>
            </a:pPr>
            <a:r>
              <a:t>第五層</a:t>
            </a:r>
          </a:p>
          <a:p>
            <a:pPr>
              <a:buNone/>
            </a:pPr>
            <a:endParaRPr/>
          </a:p>
          <a:p>
            <a:pPr>
              <a:buNone/>
            </a:pPr>
            <a:endParaRPr/>
          </a:p>
        </p:txBody>
      </p:sp>
      <p:sp>
        <p:nvSpPr>
          <p:cNvPr id="6" name="弧形 5">
            <a:extLst>
              <a:ext uri="{FF2B5EF4-FFF2-40B4-BE49-F238E27FC236}">
                <a16:creationId xmlns:a16="http://schemas.microsoft.com/office/drawing/2014/main" id="{1E054C21-F1B7-40DD-AE70-E00B4E8ECCE9}"/>
              </a:ext>
            </a:extLst>
          </p:cNvPr>
          <p:cNvSpPr>
            <a:spLocks noGrp="1"/>
          </p:cNvSpPr>
          <p:nvPr/>
        </p:nvSpPr>
        <p:spPr>
          <a:xfrm>
            <a:off x="695400" y="1020298"/>
            <a:ext cx="10940873" cy="176454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4794B12-34E7-40DF-8879-7286EDF5FA3E}"/>
              </a:ext>
            </a:extLst>
          </p:cNvPr>
          <p:cNvSpPr>
            <a:spLocks noGrp="1"/>
          </p:cNvSpPr>
          <p:nvPr/>
        </p:nvSpPr>
        <p:spPr>
          <a:xfrm>
            <a:off x="695400" y="985047"/>
            <a:ext cx="5470436" cy="88227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65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>
            <a:spLocks noGrp="1"/>
          </p:cNvSpPr>
          <p:nvPr/>
        </p:nvSpPr>
        <p:spPr>
          <a:xfrm>
            <a:off x="0" y="6453336"/>
            <a:ext cx="12192000" cy="404664"/>
          </a:xfrm>
          <a:prstGeom prst="rect">
            <a:avLst/>
          </a:prstGeom>
          <a:gradFill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>
              <a:lnSpc>
                <a:spcPct val="100000"/>
              </a:lnSpc>
              <a:buNone/>
            </a:pPr>
            <a:endParaRPr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>
            <a:spLocks noGrp="1"/>
          </p:cNvSpPr>
          <p:nvPr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chemeClr val="bg1"/>
                </a:solidFill>
              </a:rPr>
              <a:t>NYCU CS</a:t>
            </a: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22" name="圖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29" y="90388"/>
            <a:ext cx="748002" cy="98288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>
            <a:spLocks noGrp="1"/>
          </p:cNvSpPr>
          <p:nvPr/>
        </p:nvSpPr>
        <p:spPr>
          <a:xfrm>
            <a:off x="0" y="6453336"/>
            <a:ext cx="12192000" cy="404664"/>
          </a:xfrm>
          <a:prstGeom prst="rect">
            <a:avLst/>
          </a:prstGeom>
          <a:gradFill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>
              <a:lnSpc>
                <a:spcPct val="100000"/>
              </a:lnSpc>
              <a:buNone/>
            </a:pPr>
            <a:endParaRPr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>
            <a:spLocks noGrp="1"/>
          </p:cNvSpPr>
          <p:nvPr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chemeClr val="bg1"/>
                </a:solidFill>
              </a:rPr>
              <a:t>NYCU CS</a:t>
            </a: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弧形 7">
            <a:extLst>
              <a:ext uri="{FF2B5EF4-FFF2-40B4-BE49-F238E27FC236}">
                <a16:creationId xmlns:a16="http://schemas.microsoft.com/office/drawing/2014/main" id="{B0D921CC-6E9E-9736-56F4-1FACE8D5A904}"/>
              </a:ext>
            </a:extLst>
          </p:cNvPr>
          <p:cNvSpPr>
            <a:spLocks noGrp="1"/>
          </p:cNvSpPr>
          <p:nvPr/>
        </p:nvSpPr>
        <p:spPr>
          <a:xfrm>
            <a:off x="695400" y="1020298"/>
            <a:ext cx="10940873" cy="176454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24830C6-10FC-8690-4E44-34E0175936F9}"/>
              </a:ext>
            </a:extLst>
          </p:cNvPr>
          <p:cNvSpPr>
            <a:spLocks noGrp="1"/>
          </p:cNvSpPr>
          <p:nvPr/>
        </p:nvSpPr>
        <p:spPr>
          <a:xfrm>
            <a:off x="695400" y="985047"/>
            <a:ext cx="5470436" cy="88227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65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55A07BFF-CF99-95A1-3418-CBD8C916E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9575" y="1073275"/>
            <a:ext cx="7488833" cy="5380061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>
              <a:buNone/>
            </a:pPr>
            <a:r>
              <a:t>編輯母片文字樣式</a:t>
            </a:r>
          </a:p>
          <a:p>
            <a:pPr>
              <a:buNone/>
            </a:pPr>
            <a:r>
              <a:t>第二層</a:t>
            </a:r>
          </a:p>
          <a:p>
            <a:pPr>
              <a:buNone/>
            </a:pPr>
            <a:r>
              <a:t>第三層</a:t>
            </a:r>
          </a:p>
          <a:p>
            <a:pPr>
              <a:buNone/>
            </a:pPr>
            <a:r>
              <a:t>第四層</a:t>
            </a:r>
          </a:p>
          <a:p>
            <a:pPr>
              <a:buNone/>
            </a:pPr>
            <a:r>
              <a:t>第五層</a:t>
            </a:r>
          </a:p>
          <a:p>
            <a:pPr>
              <a:buNone/>
            </a:pPr>
            <a:endParaRPr/>
          </a:p>
          <a:p>
            <a:pPr>
              <a:buNone/>
            </a:pPr>
            <a:endParaRPr/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00A0E83E-3A5B-7BA3-3D72-4679DA5C2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t>按一下以編輯母片標題樣式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5B4333-6BDF-45E2-9B84-F9EAC0A99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9456" y="61320"/>
            <a:ext cx="10009113" cy="986361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t>按一下以編輯母片標題樣式</a:t>
            </a:r>
          </a:p>
        </p:txBody>
      </p:sp>
      <p:sp>
        <p:nvSpPr>
          <p:cNvPr id="6" name="弧形 5">
            <a:extLst>
              <a:ext uri="{FF2B5EF4-FFF2-40B4-BE49-F238E27FC236}">
                <a16:creationId xmlns:a16="http://schemas.microsoft.com/office/drawing/2014/main" id="{93BF12CC-9135-44DC-A3AC-7EC89A5E8667}"/>
              </a:ext>
            </a:extLst>
          </p:cNvPr>
          <p:cNvSpPr>
            <a:spLocks noGrp="1"/>
          </p:cNvSpPr>
          <p:nvPr/>
        </p:nvSpPr>
        <p:spPr>
          <a:xfrm>
            <a:off x="695400" y="1092306"/>
            <a:ext cx="10940873" cy="176454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1A9BF05-7C6A-4B83-913B-2230294A1E14}"/>
              </a:ext>
            </a:extLst>
          </p:cNvPr>
          <p:cNvSpPr>
            <a:spLocks noGrp="1"/>
          </p:cNvSpPr>
          <p:nvPr/>
        </p:nvSpPr>
        <p:spPr>
          <a:xfrm>
            <a:off x="695400" y="1057055"/>
            <a:ext cx="5470436" cy="88227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65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>
            <a:spLocks noGrp="1"/>
          </p:cNvSpPr>
          <p:nvPr/>
        </p:nvSpPr>
        <p:spPr>
          <a:xfrm>
            <a:off x="0" y="6453336"/>
            <a:ext cx="12192000" cy="404664"/>
          </a:xfrm>
          <a:prstGeom prst="rect">
            <a:avLst/>
          </a:prstGeom>
          <a:gradFill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>
              <a:lnSpc>
                <a:spcPct val="100000"/>
              </a:lnSpc>
              <a:buNone/>
            </a:pPr>
            <a:endParaRPr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>
            <a:spLocks noGrp="1"/>
          </p:cNvSpPr>
          <p:nvPr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chemeClr val="bg1"/>
                </a:solidFill>
              </a:rPr>
              <a:t>NYCU CS</a:t>
            </a: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0C09CF02-B3DC-456E-87E8-DDD2D6468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4" y="1073275"/>
            <a:ext cx="543600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>
              <a:buNone/>
            </a:pPr>
            <a:r>
              <a:t>編輯母片文字樣式</a:t>
            </a:r>
          </a:p>
          <a:p>
            <a:pPr>
              <a:buNone/>
            </a:pPr>
            <a:r>
              <a:t>第二層</a:t>
            </a:r>
          </a:p>
          <a:p>
            <a:pPr>
              <a:buNone/>
            </a:pPr>
            <a:r>
              <a:t>第三層</a:t>
            </a:r>
          </a:p>
          <a:p>
            <a:pPr>
              <a:buNone/>
            </a:pPr>
            <a:r>
              <a:t>第四層</a:t>
            </a:r>
          </a:p>
          <a:p>
            <a:pPr>
              <a:buNone/>
            </a:pPr>
            <a:r>
              <a:t>第五層</a:t>
            </a:r>
          </a:p>
          <a:p>
            <a:pPr>
              <a:buNone/>
            </a:pPr>
            <a:endParaRPr/>
          </a:p>
          <a:p>
            <a:pPr>
              <a:buNone/>
            </a:pPr>
            <a:endParaRPr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7E132FCA-432C-41E3-B712-99F4F3BE5C3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2615" y="1073275"/>
            <a:ext cx="543600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>
              <a:buNone/>
            </a:pPr>
            <a:r>
              <a:t>編輯母片文字樣式</a:t>
            </a:r>
          </a:p>
          <a:p>
            <a:pPr>
              <a:buNone/>
            </a:pPr>
            <a:r>
              <a:t>第二層</a:t>
            </a:r>
          </a:p>
          <a:p>
            <a:pPr>
              <a:buNone/>
            </a:pPr>
            <a:r>
              <a:t>第三層</a:t>
            </a:r>
          </a:p>
          <a:p>
            <a:pPr>
              <a:buNone/>
            </a:pPr>
            <a:r>
              <a:t>第四層</a:t>
            </a:r>
          </a:p>
          <a:p>
            <a:pPr>
              <a:buNone/>
            </a:pPr>
            <a:r>
              <a:t>第五層</a:t>
            </a:r>
          </a:p>
          <a:p>
            <a:pPr>
              <a:buNone/>
            </a:pPr>
            <a:endParaRPr/>
          </a:p>
          <a:p>
            <a:pPr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Rectangle 3">
            <a:extLst>
              <a:ext uri="{FF2B5EF4-FFF2-40B4-BE49-F238E27FC236}">
                <a16:creationId xmlns:a16="http://schemas.microsoft.com/office/drawing/2014/main" id="{0758D79E-32AB-45AB-9216-803052C57C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168696" y="0"/>
            <a:ext cx="12457384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FontTx/>
              <a:buNone/>
              <a:defRPr baseline="0"/>
            </a:lvl1pPr>
          </a:lstStyle>
          <a:p>
            <a:pPr>
              <a:buNone/>
            </a:pPr>
            <a:endParaRPr/>
          </a:p>
        </p:txBody>
      </p:sp>
      <p:pic>
        <p:nvPicPr>
          <p:cNvPr id="4100" name="圖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12192000" cy="2636912"/>
          </a:xfrm>
          <a:prstGeom prst="rect">
            <a:avLst/>
          </a:prstGeom>
        </p:spPr>
      </p:pic>
      <p:pic>
        <p:nvPicPr>
          <p:cNvPr id="4101" name="圖片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41" y="6031898"/>
            <a:ext cx="744083" cy="691468"/>
          </a:xfrm>
          <a:prstGeom prst="rect">
            <a:avLst/>
          </a:prstGeom>
        </p:spPr>
      </p:pic>
      <p:sp>
        <p:nvSpPr>
          <p:cNvPr id="3" name="弧形 2">
            <a:extLst>
              <a:ext uri="{FF2B5EF4-FFF2-40B4-BE49-F238E27FC236}">
                <a16:creationId xmlns:a16="http://schemas.microsoft.com/office/drawing/2014/main" id="{0AEEF28E-0B33-4819-83DA-4DABFD9D6AC3}"/>
              </a:ext>
            </a:extLst>
          </p:cNvPr>
          <p:cNvSpPr>
            <a:spLocks noGrp="1"/>
          </p:cNvSpPr>
          <p:nvPr/>
        </p:nvSpPr>
        <p:spPr>
          <a:xfrm>
            <a:off x="239350" y="2392275"/>
            <a:ext cx="11823133" cy="460662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8F01A1A-3BF3-42CF-A2B3-86106841325F}"/>
              </a:ext>
            </a:extLst>
          </p:cNvPr>
          <p:cNvSpPr>
            <a:spLocks noGrp="1"/>
          </p:cNvSpPr>
          <p:nvPr/>
        </p:nvSpPr>
        <p:spPr>
          <a:xfrm>
            <a:off x="414905" y="2384670"/>
            <a:ext cx="5783303" cy="230331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82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104" name="圖片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435" y="6494238"/>
            <a:ext cx="3072341" cy="175123"/>
          </a:xfrm>
          <a:prstGeom prst="rect">
            <a:avLst/>
          </a:prstGeom>
        </p:spPr>
      </p:pic>
      <p:sp>
        <p:nvSpPr>
          <p:cNvPr id="16" name="標題 15">
            <a:extLst>
              <a:ext uri="{FF2B5EF4-FFF2-40B4-BE49-F238E27FC236}">
                <a16:creationId xmlns:a16="http://schemas.microsoft.com/office/drawing/2014/main" id="{A4717AEB-C8EB-4F12-844D-123205FF3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1585" y="404664"/>
            <a:ext cx="8499855" cy="1987610"/>
          </a:xfrm>
        </p:spPr>
        <p:txBody>
          <a:bodyPr/>
          <a:lstStyle>
            <a:lvl1pPr>
              <a:defRPr sz="3600"/>
            </a:lvl1pPr>
          </a:lstStyle>
          <a:p>
            <a:r>
              <a:t>按一下以編輯母片標題樣式</a:t>
            </a:r>
          </a:p>
        </p:txBody>
      </p:sp>
      <p:sp>
        <p:nvSpPr>
          <p:cNvPr id="18" name="投影片編號版面配置區 2">
            <a:extLst>
              <a:ext uri="{FF2B5EF4-FFF2-40B4-BE49-F238E27FC236}">
                <a16:creationId xmlns:a16="http://schemas.microsoft.com/office/drawing/2014/main" id="{95C02333-A5BB-41BA-A9D1-B0C6E7FBCE82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5996383" y="6400800"/>
            <a:ext cx="5764247" cy="340568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0070C0"/>
                </a:solidFill>
              </a:defRPr>
            </a:lvl1pPr>
          </a:lstStyle>
          <a:p>
            <a:pPr algn="r">
              <a:buNone/>
            </a:pPr>
            <a:fld id="{DBC8A1ED-4F98-4D8C-81F6-271243F7D6B0}" type="slidenum">
              <a:t>‹#›</a:t>
            </a:fld>
            <a:endParaRPr/>
          </a:p>
        </p:txBody>
      </p:sp>
      <p:pic>
        <p:nvPicPr>
          <p:cNvPr id="4107" name="圖片 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526" y="313292"/>
            <a:ext cx="2288045" cy="1716034"/>
          </a:xfrm>
          <a:prstGeom prst="rect">
            <a:avLst/>
          </a:prstGeom>
        </p:spPr>
      </p:pic>
      <p:pic>
        <p:nvPicPr>
          <p:cNvPr id="4108" name="內容版面配置區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5769" y="3482726"/>
            <a:ext cx="1780748" cy="1780748"/>
          </a:xfrm>
          <a:prstGeom prst="rect">
            <a:avLst/>
          </a:prstGeom>
          <a:ln>
            <a:noFill/>
          </a:ln>
        </p:spPr>
      </p:pic>
      <p:sp>
        <p:nvSpPr>
          <p:cNvPr id="38" name="投影片編號版面配置區 3">
            <a:extLst>
              <a:ext uri="{FF2B5EF4-FFF2-40B4-BE49-F238E27FC236}">
                <a16:creationId xmlns:a16="http://schemas.microsoft.com/office/drawing/2014/main" id="{DF466200-392C-65E3-24F7-5A9C049CE880}"/>
              </a:ext>
            </a:extLst>
          </p:cNvPr>
          <p:cNvSpPr>
            <a:spLocks noGrp="1"/>
          </p:cNvSpPr>
          <p:nvPr/>
        </p:nvSpPr>
        <p:spPr>
          <a:xfrm>
            <a:off x="10532888" y="6486346"/>
            <a:ext cx="1467768" cy="32703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/>
          <a:lstStyle>
            <a:lvl1pPr algn="r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rgbClr val="3297FC"/>
                </a:solidFill>
                <a:latin typeface="Calibri" pitchFamily="34" charset="0"/>
                <a:ea typeface="新細明體" pitchFamily="18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5pPr>
            <a:lvl6pPr marL="22860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6pPr>
            <a:lvl7pPr marL="27432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7pPr>
            <a:lvl8pPr marL="32004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8pPr>
            <a:lvl9pPr marL="36576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9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4110" name="圖片 40"/>
          <p:cNvPicPr>
            <a:picLocks noChangeAspect="1"/>
          </p:cNvPicPr>
          <p:nvPr/>
        </p:nvPicPr>
        <p:blipFill>
          <a:blip r:embed="rId7">
            <a:alphaModFix amt="13000"/>
            <a:lum bright="70000" contrast="-70000"/>
          </a:blip>
          <a:stretch>
            <a:fillRect/>
          </a:stretch>
        </p:blipFill>
        <p:spPr>
          <a:xfrm>
            <a:off x="1837487" y="2612053"/>
            <a:ext cx="3194160" cy="3194160"/>
          </a:xfrm>
          <a:prstGeom prst="rect">
            <a:avLst/>
          </a:prstGeom>
        </p:spPr>
      </p:pic>
      <p:pic>
        <p:nvPicPr>
          <p:cNvPr id="4111" name="圖片 39"/>
          <p:cNvPicPr>
            <a:picLocks noChangeAspect="1"/>
          </p:cNvPicPr>
          <p:nvPr/>
        </p:nvPicPr>
        <p:blipFill rotWithShape="1">
          <a:blip r:embed="rId8">
            <a:alphaModFix amt="50000"/>
          </a:blip>
          <a:srcRect/>
          <a:stretch/>
        </p:blipFill>
        <p:spPr>
          <a:xfrm>
            <a:off x="4821412" y="3895847"/>
            <a:ext cx="1384853" cy="559839"/>
          </a:xfrm>
          <a:prstGeom prst="rect">
            <a:avLst/>
          </a:prstGeom>
        </p:spPr>
      </p:pic>
      <p:pic>
        <p:nvPicPr>
          <p:cNvPr id="4112" name="圖片 4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9963" y="724402"/>
            <a:ext cx="5519186" cy="1790893"/>
          </a:xfrm>
          <a:prstGeom prst="rect">
            <a:avLst/>
          </a:prstGeom>
        </p:spPr>
      </p:pic>
      <p:pic>
        <p:nvPicPr>
          <p:cNvPr id="4113" name="圖片 4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480" y="4513036"/>
            <a:ext cx="5294387" cy="2161036"/>
          </a:xfrm>
          <a:prstGeom prst="rect">
            <a:avLst/>
          </a:prstGeom>
        </p:spPr>
      </p:pic>
      <p:pic>
        <p:nvPicPr>
          <p:cNvPr id="4114" name="圖片 4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97018" y="-256740"/>
            <a:ext cx="3267225" cy="2659163"/>
          </a:xfrm>
          <a:prstGeom prst="rect">
            <a:avLst/>
          </a:prstGeom>
        </p:spPr>
      </p:pic>
      <p:pic>
        <p:nvPicPr>
          <p:cNvPr id="4115" name="圖片 4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72819" y="12732"/>
            <a:ext cx="2857143" cy="1038095"/>
          </a:xfrm>
          <a:prstGeom prst="rect">
            <a:avLst/>
          </a:prstGeom>
        </p:spPr>
      </p:pic>
      <p:pic>
        <p:nvPicPr>
          <p:cNvPr id="4116" name="圖片 4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71247" y="570852"/>
            <a:ext cx="2857143" cy="1038095"/>
          </a:xfrm>
          <a:prstGeom prst="rect">
            <a:avLst/>
          </a:prstGeom>
        </p:spPr>
      </p:pic>
      <p:pic>
        <p:nvPicPr>
          <p:cNvPr id="4117" name="圖片 4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31358" y="3052990"/>
            <a:ext cx="2857143" cy="1685714"/>
          </a:xfrm>
          <a:prstGeom prst="rect">
            <a:avLst/>
          </a:prstGeom>
        </p:spPr>
      </p:pic>
      <p:pic>
        <p:nvPicPr>
          <p:cNvPr id="4118" name="圖片 46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90091" y="2801331"/>
            <a:ext cx="2857143" cy="1676190"/>
          </a:xfrm>
          <a:prstGeom prst="rect">
            <a:avLst/>
          </a:prstGeom>
        </p:spPr>
      </p:pic>
      <p:pic>
        <p:nvPicPr>
          <p:cNvPr id="4119" name="圖片 47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949321" y="1776109"/>
            <a:ext cx="4548591" cy="773260"/>
          </a:xfrm>
          <a:prstGeom prst="rect">
            <a:avLst/>
          </a:prstGeom>
        </p:spPr>
      </p:pic>
      <p:pic>
        <p:nvPicPr>
          <p:cNvPr id="4120" name="圖片 48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9285" y="2811286"/>
            <a:ext cx="2857143" cy="485714"/>
          </a:xfrm>
          <a:prstGeom prst="rect">
            <a:avLst/>
          </a:prstGeom>
        </p:spPr>
      </p:pic>
      <p:pic>
        <p:nvPicPr>
          <p:cNvPr id="4121" name="圖片 49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449934" y="2358950"/>
            <a:ext cx="2857143" cy="485714"/>
          </a:xfrm>
          <a:prstGeom prst="rect">
            <a:avLst/>
          </a:prstGeom>
        </p:spPr>
      </p:pic>
      <p:pic>
        <p:nvPicPr>
          <p:cNvPr id="4122" name="圖片 50"/>
          <p:cNvPicPr>
            <a:picLocks noChangeAspect="1"/>
          </p:cNvPicPr>
          <p:nvPr/>
        </p:nvPicPr>
        <p:blipFill rotWithShape="1">
          <a:blip r:embed="rId19">
            <a:alphaModFix amt="50000"/>
          </a:blip>
          <a:srcRect/>
          <a:stretch/>
        </p:blipFill>
        <p:spPr>
          <a:xfrm>
            <a:off x="8173492" y="1737008"/>
            <a:ext cx="1384853" cy="559839"/>
          </a:xfrm>
          <a:prstGeom prst="rect">
            <a:avLst/>
          </a:prstGeom>
        </p:spPr>
      </p:pic>
      <p:pic>
        <p:nvPicPr>
          <p:cNvPr id="4123" name="圖片 51"/>
          <p:cNvPicPr>
            <a:picLocks noChangeAspect="1"/>
          </p:cNvPicPr>
          <p:nvPr/>
        </p:nvPicPr>
        <p:blipFill rotWithShape="1">
          <a:blip r:embed="rId20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</a:blip>
          <a:srcRect/>
          <a:stretch/>
        </p:blipFill>
        <p:spPr>
          <a:xfrm>
            <a:off x="-43346" y="2587377"/>
            <a:ext cx="3581646" cy="857145"/>
          </a:xfrm>
          <a:prstGeom prst="rect">
            <a:avLst/>
          </a:prstGeom>
        </p:spPr>
      </p:pic>
      <p:pic>
        <p:nvPicPr>
          <p:cNvPr id="4124" name="Picture 6"/>
          <p:cNvPicPr>
            <a:picLocks noChangeAspect="1"/>
          </p:cNvPicPr>
          <p:nvPr/>
        </p:nvPicPr>
        <p:blipFill>
          <a:blip r:embed="rId21"/>
          <a:srcRect/>
          <a:stretch>
            <a:fillRect/>
          </a:stretch>
        </p:blipFill>
        <p:spPr>
          <a:xfrm>
            <a:off x="1891893" y="28689"/>
            <a:ext cx="2057400" cy="438150"/>
          </a:xfrm>
          <a:prstGeom prst="rect">
            <a:avLst/>
          </a:prstGeom>
        </p:spPr>
      </p:pic>
      <p:pic>
        <p:nvPicPr>
          <p:cNvPr id="4125" name="內容版面配置區 6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889804" y="3747453"/>
            <a:ext cx="1780748" cy="1449446"/>
          </a:xfrm>
          <a:prstGeom prst="rect">
            <a:avLst/>
          </a:prstGeom>
          <a:ln w="9525">
            <a:noFill/>
            <a:miter/>
          </a:ln>
        </p:spPr>
      </p:pic>
      <p:pic>
        <p:nvPicPr>
          <p:cNvPr id="4126" name="圖片 54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982018" y="5555946"/>
            <a:ext cx="4464865" cy="1450162"/>
          </a:xfrm>
          <a:prstGeom prst="rect">
            <a:avLst/>
          </a:prstGeom>
        </p:spPr>
      </p:pic>
      <p:pic>
        <p:nvPicPr>
          <p:cNvPr id="4127" name="圖片 55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718962" y="1398469"/>
            <a:ext cx="1655674" cy="1655674"/>
          </a:xfrm>
          <a:prstGeom prst="rect">
            <a:avLst/>
          </a:prstGeom>
        </p:spPr>
      </p:pic>
      <p:pic>
        <p:nvPicPr>
          <p:cNvPr id="4128" name="圖片 56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822482" y="4137768"/>
            <a:ext cx="5297435" cy="2164084"/>
          </a:xfrm>
          <a:prstGeom prst="rect">
            <a:avLst/>
          </a:prstGeom>
        </p:spPr>
      </p:pic>
      <p:sp>
        <p:nvSpPr>
          <p:cNvPr id="58" name="投影片編號版面配置區 3">
            <a:extLst>
              <a:ext uri="{FF2B5EF4-FFF2-40B4-BE49-F238E27FC236}">
                <a16:creationId xmlns:a16="http://schemas.microsoft.com/office/drawing/2014/main" id="{4DABA128-E4B3-79A0-7596-D65AAAF9918F}"/>
              </a:ext>
            </a:extLst>
          </p:cNvPr>
          <p:cNvSpPr>
            <a:spLocks noGrp="1"/>
          </p:cNvSpPr>
          <p:nvPr/>
        </p:nvSpPr>
        <p:spPr>
          <a:xfrm>
            <a:off x="10532888" y="6486346"/>
            <a:ext cx="1467768" cy="32703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/>
          <a:lstStyle>
            <a:lvl1pPr algn="r" rtl="0" fontAlgn="base">
              <a:spcBef>
                <a:spcPct val="0"/>
              </a:spcBef>
              <a:spcAft>
                <a:spcPct val="0"/>
              </a:spcAft>
              <a:defRPr kumimoji="1" sz="1200" b="1" kern="1200">
                <a:solidFill>
                  <a:srgbClr val="3897FC"/>
                </a:solidFill>
                <a:latin typeface="Calibri" pitchFamily="34" charset="0"/>
                <a:ea typeface="新細明體" pitchFamily="18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5pPr>
            <a:lvl6pPr marL="22860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6pPr>
            <a:lvl7pPr marL="27432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7pPr>
            <a:lvl8pPr marL="32004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8pPr>
            <a:lvl9pPr marL="36576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9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4130" name="Picture 2"/>
          <p:cNvPicPr>
            <a:picLocks noChangeAspect="1"/>
          </p:cNvPicPr>
          <p:nvPr/>
        </p:nvPicPr>
        <p:blipFill rotWithShape="1">
          <a:blip r:embed="rId26"/>
          <a:srcRect r="51740" b="20361"/>
          <a:stretch/>
        </p:blipFill>
        <p:spPr>
          <a:xfrm>
            <a:off x="9574796" y="4458667"/>
            <a:ext cx="878200" cy="1041608"/>
          </a:xfrm>
          <a:prstGeom prst="rect">
            <a:avLst/>
          </a:prstGeom>
        </p:spPr>
      </p:pic>
      <p:sp>
        <p:nvSpPr>
          <p:cNvPr id="60" name="文字方塊 59">
            <a:extLst>
              <a:ext uri="{FF2B5EF4-FFF2-40B4-BE49-F238E27FC236}">
                <a16:creationId xmlns:a16="http://schemas.microsoft.com/office/drawing/2014/main" id="{916D6B20-4977-0926-6E3E-29E2B4764824}"/>
              </a:ext>
            </a:extLst>
          </p:cNvPr>
          <p:cNvSpPr>
            <a:spLocks noGrp="1"/>
          </p:cNvSpPr>
          <p:nvPr/>
        </p:nvSpPr>
        <p:spPr>
          <a:xfrm>
            <a:off x="10544813" y="5593979"/>
            <a:ext cx="1364567" cy="338554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>
            <a:lvl1pPr algn="ctr" defTabSz="298884">
              <a:defRPr sz="16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t>電子/資通訊</a:t>
            </a: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B17B164-B8B9-F99C-0F87-25F3F0E96004}"/>
              </a:ext>
            </a:extLst>
          </p:cNvPr>
          <p:cNvSpPr>
            <a:spLocks noGrp="1"/>
          </p:cNvSpPr>
          <p:nvPr/>
        </p:nvSpPr>
        <p:spPr>
          <a:xfrm>
            <a:off x="9306892" y="5593554"/>
            <a:ext cx="1146104" cy="338554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buNone/>
            </a:pPr>
            <a:r>
              <a:rPr sz="1600" b="1">
                <a:solidFill>
                  <a:schemeClr val="tx1"/>
                </a:solidFill>
                <a:latin typeface="微軟正黑體"/>
                <a:ea typeface="微軟正黑體"/>
                <a:cs typeface="微軟正黑體"/>
              </a:rPr>
              <a:t>生物醫學</a:t>
            </a:r>
          </a:p>
        </p:txBody>
      </p:sp>
      <p:pic>
        <p:nvPicPr>
          <p:cNvPr id="4133" name="Picture 2"/>
          <p:cNvPicPr>
            <a:picLocks noChangeAspect="1"/>
          </p:cNvPicPr>
          <p:nvPr/>
        </p:nvPicPr>
        <p:blipFill rotWithShape="1">
          <a:blip r:embed="rId26"/>
          <a:srcRect l="48135" b="20361"/>
          <a:stretch/>
        </p:blipFill>
        <p:spPr>
          <a:xfrm>
            <a:off x="10702093" y="4447943"/>
            <a:ext cx="943786" cy="104160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BBFF59-DD79-4B36-84ED-48AC9E334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2271" y="332658"/>
            <a:ext cx="9672295" cy="2016223"/>
          </a:xfrm>
        </p:spPr>
        <p:txBody>
          <a:bodyPr/>
          <a:lstStyle/>
          <a:p>
            <a:r>
              <a:t>按一下以編輯母片標題樣式</a:t>
            </a:r>
          </a:p>
        </p:txBody>
      </p:sp>
      <p:pic>
        <p:nvPicPr>
          <p:cNvPr id="3" name="圖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350" y="692696"/>
            <a:ext cx="2208245" cy="1656184"/>
          </a:xfrm>
          <a:prstGeom prst="rect">
            <a:avLst/>
          </a:prstGeom>
        </p:spPr>
      </p:pic>
      <p:sp>
        <p:nvSpPr>
          <p:cNvPr id="6" name="弧形 5">
            <a:extLst>
              <a:ext uri="{FF2B5EF4-FFF2-40B4-BE49-F238E27FC236}">
                <a16:creationId xmlns:a16="http://schemas.microsoft.com/office/drawing/2014/main" id="{E04097B6-326E-4C38-9743-4463D489760B}"/>
              </a:ext>
            </a:extLst>
          </p:cNvPr>
          <p:cNvSpPr>
            <a:spLocks noGrp="1"/>
          </p:cNvSpPr>
          <p:nvPr/>
        </p:nvSpPr>
        <p:spPr>
          <a:xfrm>
            <a:off x="239350" y="2392275"/>
            <a:ext cx="11823133" cy="460662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831A808-357A-4BF7-8E12-EA85DCF75AF0}"/>
              </a:ext>
            </a:extLst>
          </p:cNvPr>
          <p:cNvSpPr>
            <a:spLocks noGrp="1"/>
          </p:cNvSpPr>
          <p:nvPr/>
        </p:nvSpPr>
        <p:spPr>
          <a:xfrm>
            <a:off x="414905" y="2384670"/>
            <a:ext cx="5783303" cy="230331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82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" name="圖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3347" y="131617"/>
            <a:ext cx="1608332" cy="1206249"/>
          </a:xfrm>
          <a:prstGeom prst="rect">
            <a:avLst/>
          </a:prstGeom>
        </p:spPr>
      </p:pic>
      <p:pic>
        <p:nvPicPr>
          <p:cNvPr id="9" name="Picture 2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179419" y="1097909"/>
            <a:ext cx="1836205" cy="1200878"/>
          </a:xfrm>
          <a:prstGeom prst="rect">
            <a:avLst/>
          </a:prstGeom>
        </p:spPr>
      </p:pic>
      <p:pic>
        <p:nvPicPr>
          <p:cNvPr id="10" name="圖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558" y="260116"/>
            <a:ext cx="763654" cy="516816"/>
          </a:xfrm>
          <a:prstGeom prst="rect">
            <a:avLst/>
          </a:prstGeom>
        </p:spPr>
      </p:pic>
      <p:pic>
        <p:nvPicPr>
          <p:cNvPr id="11" name="Picture 1"/>
          <p:cNvPicPr>
            <a:picLocks noChangeAspect="1"/>
          </p:cNvPicPr>
          <p:nvPr/>
        </p:nvPicPr>
        <p:blipFill rotWithShape="1">
          <a:blip r:embed="rId6"/>
          <a:srcRect l="15059" t="66596" r="15166" b="12381"/>
          <a:stretch/>
        </p:blipFill>
        <p:spPr>
          <a:xfrm>
            <a:off x="9659898" y="1086876"/>
            <a:ext cx="2357572" cy="502313"/>
          </a:xfrm>
          <a:prstGeom prst="rect">
            <a:avLst/>
          </a:prstGeom>
        </p:spPr>
      </p:pic>
      <p:pic>
        <p:nvPicPr>
          <p:cNvPr id="12" name="Picture 7"/>
          <p:cNvPicPr>
            <a:picLocks noChangeAspect="1"/>
          </p:cNvPicPr>
          <p:nvPr/>
        </p:nvPicPr>
        <p:blipFill rotWithShape="1">
          <a:blip r:embed="rId7"/>
          <a:srcRect l="31639" t="12188" r="37496" b="40370"/>
          <a:stretch/>
        </p:blipFill>
        <p:spPr>
          <a:xfrm>
            <a:off x="10954719" y="1776166"/>
            <a:ext cx="1031919" cy="1121649"/>
          </a:xfrm>
          <a:prstGeom prst="rect">
            <a:avLst/>
          </a:prstGeom>
        </p:spPr>
      </p:pic>
      <p:pic>
        <p:nvPicPr>
          <p:cNvPr id="13" name="圖片 1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13354" y="2001708"/>
            <a:ext cx="4251969" cy="2161036"/>
          </a:xfrm>
          <a:prstGeom prst="rect">
            <a:avLst/>
          </a:prstGeom>
        </p:spPr>
      </p:pic>
      <p:pic>
        <p:nvPicPr>
          <p:cNvPr id="14" name="圖片 1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36821" y="671165"/>
            <a:ext cx="4251969" cy="2685293"/>
          </a:xfrm>
          <a:prstGeom prst="rect">
            <a:avLst/>
          </a:prstGeom>
        </p:spPr>
      </p:pic>
      <p:pic>
        <p:nvPicPr>
          <p:cNvPr id="15" name="圖片 19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893909" y="4596692"/>
            <a:ext cx="4251969" cy="3206503"/>
          </a:xfrm>
          <a:prstGeom prst="rect">
            <a:avLst/>
          </a:prstGeom>
        </p:spPr>
      </p:pic>
      <p:pic>
        <p:nvPicPr>
          <p:cNvPr id="16" name="圖片 2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95874" y="2190515"/>
            <a:ext cx="1883668" cy="4264161"/>
          </a:xfrm>
          <a:prstGeom prst="rect">
            <a:avLst/>
          </a:prstGeom>
        </p:spPr>
      </p:pic>
      <p:pic>
        <p:nvPicPr>
          <p:cNvPr id="17" name="圖片 2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28638" y="2043643"/>
            <a:ext cx="1883668" cy="4264161"/>
          </a:xfrm>
          <a:prstGeom prst="rect">
            <a:avLst/>
          </a:prstGeom>
        </p:spPr>
      </p:pic>
      <p:pic>
        <p:nvPicPr>
          <p:cNvPr id="18" name="圖片 2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600" y="3429000"/>
            <a:ext cx="5654052" cy="1155194"/>
          </a:xfrm>
          <a:prstGeom prst="rect">
            <a:avLst/>
          </a:prstGeom>
        </p:spPr>
      </p:pic>
      <p:pic>
        <p:nvPicPr>
          <p:cNvPr id="19" name="圖片 2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03722" y="4390871"/>
            <a:ext cx="5294387" cy="2161036"/>
          </a:xfrm>
          <a:prstGeom prst="rect">
            <a:avLst/>
          </a:prstGeom>
        </p:spPr>
      </p:pic>
      <p:pic>
        <p:nvPicPr>
          <p:cNvPr id="20" name="圖片 29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82209" y="3532775"/>
            <a:ext cx="9214123" cy="1767844"/>
          </a:xfrm>
          <a:prstGeom prst="rect">
            <a:avLst/>
          </a:prstGeom>
        </p:spPr>
      </p:pic>
      <p:pic>
        <p:nvPicPr>
          <p:cNvPr id="21" name="圖片 31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256555" y="5783966"/>
            <a:ext cx="9214123" cy="176784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DCE40BD8-1AD1-4494-8055-75B980606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1464" y="116633"/>
            <a:ext cx="10225136" cy="86409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/>
          <a:lstStyle/>
          <a:p>
            <a:pPr>
              <a:buNone/>
            </a:pPr>
            <a:r>
              <a:t>按一下以編輯母片標題樣式</a:t>
            </a:r>
          </a:p>
        </p:txBody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901D97C8-7A27-4AD0-9C39-B6315D8E9C7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9480376" y="6400800"/>
            <a:ext cx="2187848" cy="340568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/>
          <a:lstStyle>
            <a:lvl1pPr algn="r">
              <a:defRPr sz="1200">
                <a:solidFill>
                  <a:srgbClr val="3297FC"/>
                </a:solidFill>
                <a:ea typeface="新細明體" pitchFamily="18" charset="-120"/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b="1">
          <a:solidFill>
            <a:srgbClr val="3297FC"/>
          </a:solidFill>
          <a:latin typeface="Calibri" panose="020F0502020204030204" pitchFamily="34" charset="0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9pPr>
    </p:titleStyle>
    <p:bodyStyle>
      <a:lvl1pPr marL="268288" indent="-268288" algn="l" rtl="0" eaLnBrk="1" fontAlgn="base" hangingPunct="1">
        <a:spcBef>
          <a:spcPct val="20000"/>
        </a:spcBef>
        <a:spcAft>
          <a:spcPct val="0"/>
        </a:spcAft>
        <a:buClr>
          <a:srgbClr val="0070C0"/>
        </a:buClr>
        <a:buSzPct val="80000"/>
        <a:buFont typeface="Wingdings" panose="05000000000000000000" pitchFamily="2" charset="2"/>
        <a:buChar char="m"/>
        <a:defRPr kumimoji="1" sz="2400">
          <a:solidFill>
            <a:srgbClr val="3297FC"/>
          </a:solidFill>
          <a:latin typeface="Calibri" panose="020F0502020204030204" pitchFamily="34" charset="0"/>
          <a:ea typeface="+mn-ea"/>
          <a:cs typeface="+mn-cs"/>
        </a:defRPr>
      </a:lvl1pPr>
      <a:lvl2pPr marL="622300" indent="-285750" algn="l" rtl="0" eaLnBrk="1" fontAlgn="base" hangingPunct="1">
        <a:spcBef>
          <a:spcPct val="20000"/>
        </a:spcBef>
        <a:spcAft>
          <a:spcPct val="0"/>
        </a:spcAft>
        <a:buClr>
          <a:srgbClr val="0088EE"/>
        </a:buClr>
        <a:buSzPct val="80000"/>
        <a:buFont typeface="Wingdings" panose="05000000000000000000" pitchFamily="2" charset="2"/>
        <a:buChar char="l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2pPr>
      <a:lvl3pPr marL="892175" indent="-228600" algn="l" rtl="0" eaLnBrk="1" fontAlgn="base" hangingPunct="1">
        <a:spcBef>
          <a:spcPct val="20000"/>
        </a:spcBef>
        <a:spcAft>
          <a:spcPct val="0"/>
        </a:spcAft>
        <a:buClr>
          <a:srgbClr val="0088EE"/>
        </a:buClr>
        <a:buFont typeface="Calibri" panose="020F0502020204030204" pitchFamily="34" charset="0"/>
        <a:buChar char="–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3pPr>
      <a:lvl4pPr marL="1252538" indent="-228600" algn="l" rtl="0" eaLnBrk="1" fontAlgn="base" hangingPunct="1">
        <a:spcBef>
          <a:spcPct val="20000"/>
        </a:spcBef>
        <a:spcAft>
          <a:spcPct val="0"/>
        </a:spcAft>
        <a:buClr>
          <a:srgbClr val="0070C0"/>
        </a:buClr>
        <a:buSzPct val="80000"/>
        <a:buFont typeface="Wingdings" panose="05000000000000000000" pitchFamily="2" charset="2"/>
        <a:buChar char="§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4pPr>
      <a:lvl5pPr marL="1609725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9pPr>
    </p:bodyStyle>
    <p:other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副標題 3">
            <a:extLst>
              <a:ext uri="{FF2B5EF4-FFF2-40B4-BE49-F238E27FC236}">
                <a16:creationId xmlns:a16="http://schemas.microsoft.com/office/drawing/2014/main" id="{C247BD64-C192-4702-9280-E11EA5FC83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spcBef>
                <a:spcPts val="600"/>
              </a:spcBef>
              <a:buNone/>
            </a:pPr>
            <a:r>
              <a:rPr b="1"/>
              <a:t>Professor Chien-Chao Tseng</a:t>
            </a:r>
          </a:p>
          <a:p>
            <a:pPr>
              <a:spcBef>
                <a:spcPts val="0"/>
              </a:spcBef>
              <a:buNone/>
            </a:pPr>
            <a:endParaRPr b="1"/>
          </a:p>
          <a:p>
            <a:pPr>
              <a:spcBef>
                <a:spcPts val="600"/>
              </a:spcBef>
              <a:buNone/>
            </a:pPr>
            <a:r>
              <a:rPr sz="2800"/>
              <a:t>Department of Computer Science</a:t>
            </a:r>
          </a:p>
          <a:p>
            <a:pPr>
              <a:spcBef>
                <a:spcPts val="0"/>
              </a:spcBef>
              <a:buNone/>
            </a:pPr>
            <a:r>
              <a:rPr sz="2800"/>
              <a:t>National Yang Ming Chiao Tung University</a:t>
            </a:r>
          </a:p>
          <a:p>
            <a:r>
              <a:rPr sz="2800"/>
              <a:t>cctseng@cs.nycu.edu.tw</a:t>
            </a:r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1DAF1884-810D-436A-AD5D-6FA4B9DEB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AoA-Assisted Dynamic RTS Threshold Adaptation for Hidden-Node Risk Mitigation in Commodity Wi-Fi APs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B1769B-E868-4B1B-9BF6-7276D0D59F1F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AD75FED6-38D0-DE9C-92C0-6E7FA635581C}" type="slidenum">
              <a:rPr sz="1400"/>
              <a:t>1</a:t>
            </a:fld>
            <a:endParaRPr sz="1400"/>
          </a:p>
        </p:txBody>
      </p:sp>
    </p:spTree>
    <p:extLst>
      <p:ext uri="{BB962C8B-B14F-4D97-AF65-F5344CB8AC3E}">
        <p14:creationId xmlns:p14="http://schemas.microsoft.com/office/powerpoint/2010/main" val="33741816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E2598689-54C9-18A7-3A19-ED76AA08988F}" type="slidenum">
              <a:rPr sz="1400">
                <a:latin typeface="Times New Roman"/>
                <a:ea typeface="Times New Roman"/>
                <a:cs typeface="Times New Roman"/>
              </a:rPr>
              <a:t>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Introduction</a:t>
            </a:r>
          </a:p>
          <a:p>
            <a:r>
              <a:rPr dirty="0"/>
              <a:t>Background</a:t>
            </a:r>
          </a:p>
          <a:p>
            <a:r>
              <a:rPr dirty="0" err="1"/>
              <a:t>AoA</a:t>
            </a:r>
            <a:r>
              <a:rPr dirty="0"/>
              <a:t>-Assisted Risk Score and RTS Threshold Adaptation</a:t>
            </a:r>
          </a:p>
          <a:p>
            <a:r>
              <a:rPr dirty="0"/>
              <a:t>Evaluation</a:t>
            </a:r>
          </a:p>
          <a:p>
            <a:r>
              <a:rPr dirty="0"/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443002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202359C0-8A7A-196E-DD58-8E6569619F09}" type="slidenum">
              <a:rPr sz="1400">
                <a:latin typeface="Times New Roman"/>
                <a:ea typeface="Times New Roman"/>
                <a:cs typeface="Times New Roman"/>
              </a:rPr>
              <a:t>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AoA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-Assisted Risk Score and RTS Threshold Adaptation 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602916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Hidden Node Problem</a:t>
            </a:r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EE5B3003-2C54-13C6-9832-7637201064DE}" type="slidenum">
              <a:rPr sz="1400">
                <a:latin typeface="Times New Roman"/>
                <a:ea typeface="Times New Roman"/>
                <a:cs typeface="Times New Roman"/>
              </a:rPr>
              <a:t>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9" name="內容版面配置區 28">
            <a:extLst>
              <a:ext uri="{FF2B5EF4-FFF2-40B4-BE49-F238E27FC236}">
                <a16:creationId xmlns:a16="http://schemas.microsoft.com/office/drawing/2014/main" id="{EC4A2511-2262-99A8-5D5C-D5FDC2C77C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/>
              <a:t>The hidden node problem occurs when two nodes in a wireless network can communicate with a third node, but cannot communicate with each other directly due to obstacles or being out of range</a:t>
            </a:r>
            <a:endParaRPr lang="en-US" altLang="zh-TW" dirty="0"/>
          </a:p>
          <a:p>
            <a:r>
              <a:rPr lang="zh-TW" altLang="zh-TW" dirty="0"/>
              <a:t> This can lead to collisions at the third node when both nodes transmit simultaneously</a:t>
            </a:r>
            <a:endParaRPr lang="zh-TW" altLang="en-US" dirty="0"/>
          </a:p>
        </p:txBody>
      </p: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58B64D92-EB49-29A6-9035-D014E91FA694}"/>
              </a:ext>
            </a:extLst>
          </p:cNvPr>
          <p:cNvGrpSpPr/>
          <p:nvPr/>
        </p:nvGrpSpPr>
        <p:grpSpPr>
          <a:xfrm>
            <a:off x="2968242" y="3129382"/>
            <a:ext cx="6255516" cy="3356964"/>
            <a:chOff x="2864188" y="3407243"/>
            <a:chExt cx="6255516" cy="3356964"/>
          </a:xfrm>
        </p:grpSpPr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D0EADA24-3743-74BA-645B-C6278D8BAD57}"/>
                </a:ext>
              </a:extLst>
            </p:cNvPr>
            <p:cNvGrpSpPr/>
            <p:nvPr/>
          </p:nvGrpSpPr>
          <p:grpSpPr>
            <a:xfrm>
              <a:off x="2864188" y="3407243"/>
              <a:ext cx="6255516" cy="3356964"/>
              <a:chOff x="2864188" y="3407243"/>
              <a:chExt cx="6255516" cy="3356964"/>
            </a:xfrm>
          </p:grpSpPr>
          <p:pic>
            <p:nvPicPr>
              <p:cNvPr id="34" name="圖片 33">
                <a:extLst>
                  <a:ext uri="{FF2B5EF4-FFF2-40B4-BE49-F238E27FC236}">
                    <a16:creationId xmlns:a16="http://schemas.microsoft.com/office/drawing/2014/main" id="{BDAA1C12-72B9-53BC-1C4F-B9A924BC4A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06231" y="4621767"/>
                <a:ext cx="971430" cy="971430"/>
              </a:xfrm>
              <a:prstGeom prst="rect">
                <a:avLst/>
              </a:prstGeom>
            </p:spPr>
          </p:pic>
          <p:grpSp>
            <p:nvGrpSpPr>
              <p:cNvPr id="35" name="群組 34">
                <a:extLst>
                  <a:ext uri="{FF2B5EF4-FFF2-40B4-BE49-F238E27FC236}">
                    <a16:creationId xmlns:a16="http://schemas.microsoft.com/office/drawing/2014/main" id="{F8BA280E-0E0C-ECCF-D6EB-DA7A1E9D34BE}"/>
                  </a:ext>
                </a:extLst>
              </p:cNvPr>
              <p:cNvGrpSpPr/>
              <p:nvPr/>
            </p:nvGrpSpPr>
            <p:grpSpPr>
              <a:xfrm>
                <a:off x="2864188" y="3407243"/>
                <a:ext cx="3432558" cy="3356964"/>
                <a:chOff x="2177143" y="3429000"/>
                <a:chExt cx="3432558" cy="3356964"/>
              </a:xfrm>
            </p:grpSpPr>
            <p:pic>
              <p:nvPicPr>
                <p:cNvPr id="39" name="內容版面配置區 5">
                  <a:extLst>
                    <a:ext uri="{FF2B5EF4-FFF2-40B4-BE49-F238E27FC236}">
                      <a16:creationId xmlns:a16="http://schemas.microsoft.com/office/drawing/2014/main" id="{12B9C05F-1274-449C-48AB-9A5A7D87F21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75354" y="4611186"/>
                  <a:ext cx="1036137" cy="1036137"/>
                </a:xfrm>
                <a:prstGeom prst="rect">
                  <a:avLst/>
                </a:prstGeom>
                <a:noFill/>
              </p:spPr>
            </p:pic>
            <p:sp>
              <p:nvSpPr>
                <p:cNvPr id="40" name="橢圓 39">
                  <a:extLst>
                    <a:ext uri="{FF2B5EF4-FFF2-40B4-BE49-F238E27FC236}">
                      <a16:creationId xmlns:a16="http://schemas.microsoft.com/office/drawing/2014/main" id="{C55DFED3-7882-FEDB-5B4B-FB8C86E1C94F}"/>
                    </a:ext>
                  </a:extLst>
                </p:cNvPr>
                <p:cNvSpPr/>
                <p:nvPr/>
              </p:nvSpPr>
              <p:spPr>
                <a:xfrm>
                  <a:off x="2177143" y="3429000"/>
                  <a:ext cx="3432558" cy="3356964"/>
                </a:xfrm>
                <a:prstGeom prst="ellipse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  <p:grpSp>
            <p:nvGrpSpPr>
              <p:cNvPr id="36" name="群組 35">
                <a:extLst>
                  <a:ext uri="{FF2B5EF4-FFF2-40B4-BE49-F238E27FC236}">
                    <a16:creationId xmlns:a16="http://schemas.microsoft.com/office/drawing/2014/main" id="{06D5EDDB-F982-DEF1-450F-60BF56CFC58C}"/>
                  </a:ext>
                </a:extLst>
              </p:cNvPr>
              <p:cNvGrpSpPr/>
              <p:nvPr/>
            </p:nvGrpSpPr>
            <p:grpSpPr>
              <a:xfrm>
                <a:off x="5687146" y="3407243"/>
                <a:ext cx="3432558" cy="3356964"/>
                <a:chOff x="2177143" y="3429000"/>
                <a:chExt cx="3432558" cy="3356964"/>
              </a:xfrm>
            </p:grpSpPr>
            <p:pic>
              <p:nvPicPr>
                <p:cNvPr id="37" name="內容版面配置區 5">
                  <a:extLst>
                    <a:ext uri="{FF2B5EF4-FFF2-40B4-BE49-F238E27FC236}">
                      <a16:creationId xmlns:a16="http://schemas.microsoft.com/office/drawing/2014/main" id="{99FBA6D5-6A8D-784C-D1F5-56C116E9E0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75354" y="4611186"/>
                  <a:ext cx="1036137" cy="1036137"/>
                </a:xfrm>
                <a:prstGeom prst="rect">
                  <a:avLst/>
                </a:prstGeom>
                <a:noFill/>
              </p:spPr>
            </p:pic>
            <p:sp>
              <p:nvSpPr>
                <p:cNvPr id="38" name="橢圓 37">
                  <a:extLst>
                    <a:ext uri="{FF2B5EF4-FFF2-40B4-BE49-F238E27FC236}">
                      <a16:creationId xmlns:a16="http://schemas.microsoft.com/office/drawing/2014/main" id="{8162223E-F766-B1C2-69E0-0E85662F9FD8}"/>
                    </a:ext>
                  </a:extLst>
                </p:cNvPr>
                <p:cNvSpPr/>
                <p:nvPr/>
              </p:nvSpPr>
              <p:spPr>
                <a:xfrm>
                  <a:off x="2177143" y="3429000"/>
                  <a:ext cx="3432558" cy="3356964"/>
                </a:xfrm>
                <a:prstGeom prst="ellipse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</p:grpSp>
        <p:cxnSp>
          <p:nvCxnSpPr>
            <p:cNvPr id="32" name="直線接點 31">
              <a:extLst>
                <a:ext uri="{FF2B5EF4-FFF2-40B4-BE49-F238E27FC236}">
                  <a16:creationId xmlns:a16="http://schemas.microsoft.com/office/drawing/2014/main" id="{E975B106-7280-547B-5C85-E48F0D77DD05}"/>
                </a:ext>
              </a:extLst>
            </p:cNvPr>
            <p:cNvCxnSpPr>
              <a:cxnSpLocks/>
              <a:stCxn id="34" idx="3"/>
              <a:endCxn id="37" idx="1"/>
            </p:cNvCxnSpPr>
            <p:nvPr/>
          </p:nvCxnSpPr>
          <p:spPr>
            <a:xfrm>
              <a:off x="6477661" y="5107482"/>
              <a:ext cx="407696" cy="16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接點 32">
              <a:extLst>
                <a:ext uri="{FF2B5EF4-FFF2-40B4-BE49-F238E27FC236}">
                  <a16:creationId xmlns:a16="http://schemas.microsoft.com/office/drawing/2014/main" id="{8854315B-9485-444D-2076-E320F15A8B9A}"/>
                </a:ext>
              </a:extLst>
            </p:cNvPr>
            <p:cNvCxnSpPr>
              <a:cxnSpLocks/>
              <a:stCxn id="39" idx="3"/>
              <a:endCxn id="34" idx="1"/>
            </p:cNvCxnSpPr>
            <p:nvPr/>
          </p:nvCxnSpPr>
          <p:spPr>
            <a:xfrm flipV="1">
              <a:off x="5098536" y="5107482"/>
              <a:ext cx="407695" cy="16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97335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RTS/CTS Mitigation</a:t>
            </a:r>
            <a:endParaRPr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61585F-5E53-49CE-948C-C549D563F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/>
              <a:t>RTS/CTS is an optional 802.11 mechanism used before data transmission</a:t>
            </a:r>
            <a:endParaRPr lang="en-US" altLang="zh-TW" dirty="0"/>
          </a:p>
          <a:p>
            <a:r>
              <a:rPr lang="zh-TW" altLang="zh-TW" dirty="0"/>
              <a:t>Sender first sends an </a:t>
            </a:r>
            <a:r>
              <a:rPr lang="zh-TW" altLang="zh-TW" b="1" dirty="0"/>
              <a:t>RTS</a:t>
            </a:r>
            <a:r>
              <a:rPr lang="zh-TW" altLang="zh-TW" dirty="0"/>
              <a:t> frame to request channel access</a:t>
            </a:r>
            <a:endParaRPr lang="en-US" altLang="zh-TW" dirty="0"/>
          </a:p>
          <a:p>
            <a:r>
              <a:rPr lang="zh-TW" altLang="zh-TW" dirty="0"/>
              <a:t>Receiver replies with a </a:t>
            </a:r>
            <a:r>
              <a:rPr lang="zh-TW" altLang="zh-TW" b="1" dirty="0"/>
              <a:t>CTS</a:t>
            </a:r>
            <a:r>
              <a:rPr lang="zh-TW" altLang="zh-TW" dirty="0"/>
              <a:t> frame to grant transmission permission</a:t>
            </a:r>
            <a:endParaRPr lang="en-US" altLang="zh-TW" dirty="0"/>
          </a:p>
          <a:p>
            <a:r>
              <a:rPr lang="zh-TW" altLang="zh-TW" dirty="0"/>
              <a:t>Nearby nodes that hear RTS or CTS update their </a:t>
            </a:r>
            <a:r>
              <a:rPr lang="zh-TW" altLang="zh-TW" b="1" dirty="0"/>
              <a:t>NAV</a:t>
            </a:r>
            <a:r>
              <a:rPr lang="zh-TW" altLang="zh-TW" dirty="0"/>
              <a:t> and defer transmission</a:t>
            </a:r>
            <a:endParaRPr lang="en-US" altLang="zh-TW" dirty="0"/>
          </a:p>
          <a:p>
            <a:r>
              <a:rPr lang="zh-TW" altLang="zh-TW" dirty="0"/>
              <a:t>Hidden nodes that cannot hear the sender may still hear the receiver</a:t>
            </a:r>
            <a:r>
              <a:rPr lang="en-US" altLang="zh-TW" dirty="0"/>
              <a:t>’s </a:t>
            </a:r>
            <a:r>
              <a:rPr lang="zh-TW" altLang="zh-TW" dirty="0"/>
              <a:t>CTS, so they remain silent</a:t>
            </a:r>
            <a:endParaRPr lang="en-US" altLang="zh-TW" dirty="0"/>
          </a:p>
          <a:p>
            <a:r>
              <a:rPr lang="en-US" altLang="zh-TW" dirty="0"/>
              <a:t>Sender sends real data</a:t>
            </a:r>
          </a:p>
          <a:p>
            <a:r>
              <a:rPr lang="zh-TW" altLang="zh-TW" dirty="0"/>
              <a:t>This reserves the channel around the receiver and reduces hidden-node collisions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3D7D1C8-AE23-AA48-DF65-C742588DBE47}" type="slidenum">
              <a:rPr sz="1400">
                <a:latin typeface="Times New Roman"/>
                <a:ea typeface="Times New Roman"/>
                <a:cs typeface="Times New Roman"/>
              </a:rPr>
              <a:t>5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248C459E-E296-531E-6CCD-6F0C86BABD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2348" y="4216853"/>
            <a:ext cx="3784424" cy="2129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335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F2DD0D-1D70-1D78-D9B0-90C63959F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Static RTS Threshold Limitation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4136766-374A-47FB-0C3F-8E137D598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/>
              <a:t>In conventional 802.11, the RTS threshold is usually configured as a </a:t>
            </a:r>
            <a:r>
              <a:rPr lang="zh-TW" altLang="zh-TW" b="1" dirty="0"/>
              <a:t>static value</a:t>
            </a:r>
            <a:r>
              <a:rPr lang="zh-TW" altLang="zh-TW" dirty="0"/>
              <a:t>.</a:t>
            </a:r>
            <a:endParaRPr lang="en-US" altLang="zh-TW" dirty="0"/>
          </a:p>
          <a:p>
            <a:r>
              <a:rPr lang="zh-TW" altLang="zh-TW" dirty="0"/>
              <a:t>Because the threshold is fixed, it cannot adapt to STA physical location or hidden-node conditions.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F806ABC-C321-A438-42AC-DBE888404EE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C8A1ED-4F98-4D8C-81F6-271243F7D6B0}" type="slidenum">
              <a:rPr lang="en-US" altLang="zh-TW" sz="1400" smtClean="0">
                <a:latin typeface="Times New Roman"/>
                <a:ea typeface="Times New Roman"/>
                <a:cs typeface="Times New Roman"/>
              </a:rPr>
              <a:t>6</a:t>
            </a:fld>
            <a:endParaRPr lang="en-US" altLang="zh-TW"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35331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Hidden-Node Risk-Aware RTS Threshold Control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61585F-5E53-49CE-948C-C549D563F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State the thesis goal early: let the AP infer hidden-node risk from </a:t>
            </a:r>
            <a:r>
              <a:rPr lang="en-US" altLang="zh-TW" dirty="0"/>
              <a:t>Angle of Arrival 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dirty="0" err="1"/>
              <a:t>AoA</a:t>
            </a:r>
            <a:r>
              <a:rPr lang="en-US" altLang="zh-TW" dirty="0"/>
              <a:t>)</a:t>
            </a:r>
            <a:r>
              <a:rPr dirty="0"/>
              <a:t> and link observations, then tune the RTS threshold dynamically.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BA58DA2A-B818-18A9-29C1-B697728D5BCE}" type="slidenum">
              <a:rPr sz="1400">
                <a:latin typeface="Times New Roman"/>
                <a:ea typeface="Times New Roman"/>
                <a:cs typeface="Times New Roman"/>
              </a:rPr>
              <a:t>7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041458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88657AE-30A1-5A7A-6A7F-315D84436430}" type="slidenum">
              <a:rPr sz="1400">
                <a:latin typeface="Times New Roman"/>
                <a:ea typeface="Times New Roman"/>
                <a:cs typeface="Times New Roman"/>
              </a:rPr>
              <a:t>8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/>
              <a:t>Background</a:t>
            </a:r>
          </a:p>
          <a:p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AoA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-Assisted Risk Score and RTS Threshold Adaptation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201065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WiFi OFDM</a:t>
            </a:r>
            <a:r>
              <a:rPr lang="en-US" altLang="zh-TW" dirty="0"/>
              <a:t> </a:t>
            </a:r>
            <a:r>
              <a:rPr b="1" dirty="0"/>
              <a:t>CSI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7BEEEC-A170-5376-2B6E-CB54687B0CB1}" type="slidenum">
              <a:rPr sz="1400">
                <a:latin typeface="Times New Roman"/>
                <a:ea typeface="Times New Roman"/>
                <a:cs typeface="Times New Roman"/>
              </a:rPr>
              <a:t>9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6361893-5D2A-0C1F-46D0-78D0A5600A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</p:spPr>
        <p:txBody>
          <a:bodyPr/>
          <a:lstStyle/>
          <a:p>
            <a:r>
              <a:rPr lang="zh-TW" altLang="zh-TW" b="1" dirty="0"/>
              <a:t>CSI means Channel State Information</a:t>
            </a:r>
            <a:endParaRPr lang="en-US" altLang="zh-TW" b="1" dirty="0"/>
          </a:p>
          <a:p>
            <a:r>
              <a:rPr lang="zh-TW" altLang="zh-TW" dirty="0"/>
              <a:t>It describes how a WiFi signal changes from transmitter to receiver</a:t>
            </a:r>
            <a:endParaRPr lang="en-US" altLang="zh-TW" dirty="0"/>
          </a:p>
          <a:p>
            <a:r>
              <a:rPr lang="zh-TW" altLang="zh-TW" dirty="0"/>
              <a:t>CSI is not measured directly from random data.</a:t>
            </a:r>
          </a:p>
          <a:p>
            <a:r>
              <a:rPr lang="zh-TW" altLang="zh-TW" dirty="0"/>
              <a:t>The sender first sends a </a:t>
            </a:r>
            <a:r>
              <a:rPr lang="zh-TW" altLang="zh-TW" b="1" dirty="0"/>
              <a:t>known signal pattern</a:t>
            </a:r>
            <a:endParaRPr lang="en-US" altLang="zh-TW" b="1" dirty="0"/>
          </a:p>
          <a:p>
            <a:r>
              <a:rPr lang="en-US" altLang="zh-TW" dirty="0"/>
              <a:t>Receiver </a:t>
            </a:r>
            <a:r>
              <a:rPr lang="zh-TW" altLang="zh-TW" dirty="0"/>
              <a:t>measure</a:t>
            </a:r>
            <a:r>
              <a:rPr lang="en-US" altLang="zh-TW" dirty="0"/>
              <a:t> CSI</a:t>
            </a:r>
            <a:r>
              <a:rPr lang="zh-TW" altLang="zh-TW" dirty="0"/>
              <a:t> on </a:t>
            </a:r>
            <a:r>
              <a:rPr lang="en-US" altLang="zh-TW" dirty="0"/>
              <a:t>each subcarrier and each transmit-receiver antenna pair</a:t>
            </a:r>
            <a:endParaRPr lang="zh-TW" altLang="zh-TW" dirty="0"/>
          </a:p>
          <a:p>
            <a:r>
              <a:rPr lang="zh-TW" altLang="zh-TW" dirty="0"/>
              <a:t>Each CSI value is complex:</a:t>
            </a:r>
          </a:p>
          <a:p>
            <a:pPr lvl="1"/>
            <a:r>
              <a:rPr lang="zh-TW" altLang="zh-TW" b="1" dirty="0"/>
              <a:t>Amplitude</a:t>
            </a:r>
            <a:r>
              <a:rPr lang="zh-TW" altLang="zh-TW" dirty="0"/>
              <a:t>:</a:t>
            </a:r>
            <a:endParaRPr lang="en-US" altLang="zh-TW" dirty="0"/>
          </a:p>
          <a:p>
            <a:pPr lvl="2"/>
            <a:r>
              <a:rPr lang="zh-TW" altLang="zh-TW" dirty="0"/>
              <a:t> how strong the signal is</a:t>
            </a:r>
            <a:endParaRPr lang="en-US" altLang="zh-TW" dirty="0"/>
          </a:p>
          <a:p>
            <a:pPr lvl="2"/>
            <a:r>
              <a:rPr lang="zh-TW" altLang="zh-TW" dirty="0"/>
              <a:t>A larger amplitude means the signal is stronger</a:t>
            </a:r>
          </a:p>
          <a:p>
            <a:pPr lvl="1"/>
            <a:r>
              <a:rPr lang="zh-TW" altLang="zh-TW" b="1" dirty="0"/>
              <a:t>Phase</a:t>
            </a:r>
            <a:r>
              <a:rPr lang="zh-TW" altLang="zh-TW" dirty="0"/>
              <a:t>: </a:t>
            </a:r>
            <a:endParaRPr lang="en-US" altLang="zh-TW" dirty="0"/>
          </a:p>
          <a:p>
            <a:pPr lvl="2"/>
            <a:r>
              <a:rPr lang="zh-TW" altLang="zh-TW" dirty="0"/>
              <a:t>how much the signal is shifted</a:t>
            </a:r>
            <a:endParaRPr lang="en-US" altLang="zh-TW" dirty="0"/>
          </a:p>
          <a:p>
            <a:pPr lvl="2"/>
            <a:r>
              <a:rPr lang="zh-TW" altLang="zh-TW" dirty="0"/>
              <a:t>Different paths or arrival directions create different phase shifts</a:t>
            </a:r>
          </a:p>
        </p:txBody>
      </p:sp>
    </p:spTree>
    <p:extLst>
      <p:ext uri="{BB962C8B-B14F-4D97-AF65-F5344CB8AC3E}">
        <p14:creationId xmlns:p14="http://schemas.microsoft.com/office/powerpoint/2010/main" val="36633426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Spatial Spectrum Estimation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10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MUSIC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Motivate MUSIC for Wi-Fi APs because it can use existing multi-antenna CSI, provide higher angular resolution than simple beam scanning, and separate signal and noise subspaces without extra localization hardware.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11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71417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LRG1 Ability  for RTS threshold control and metric collection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Review the RTS threshold as the main AP-side control knob.</a:t>
            </a:r>
          </a:p>
          <a:p>
            <a:r>
              <a:rPr dirty="0"/>
              <a:t>Describe AP-side measurements, including retry statistics, RSSI, CSI, </a:t>
            </a:r>
            <a:r>
              <a:rPr dirty="0" err="1"/>
              <a:t>AoA</a:t>
            </a:r>
            <a:r>
              <a:rPr dirty="0"/>
              <a:t>, and MCS.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0394428-F1DC-E5F6-DB0C-7DE31F3D8A23}" type="slidenum">
              <a:rPr sz="1400">
                <a:latin typeface="Times New Roman"/>
                <a:ea typeface="Times New Roman"/>
                <a:cs typeface="Times New Roman"/>
              </a:rPr>
              <a:t>12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B1C6C81E-38B9-7560-621D-5A151A79DF9B}" type="slidenum">
              <a:rPr sz="1400">
                <a:latin typeface="Times New Roman"/>
                <a:ea typeface="Times New Roman"/>
                <a:cs typeface="Times New Roman"/>
              </a:rPr>
              <a:t>13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dirty="0" err="1"/>
              <a:t>AoA</a:t>
            </a:r>
            <a:r>
              <a:rPr dirty="0"/>
              <a:t>-Assisted Risk Score and RTS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dirty="0"/>
              <a:t>Threshold Adaptation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6632637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Risk scoring design goal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Present the overall design goal: use AP-side AoA and link observations to decide when RTS/CTS overhead is worthwhile.</a:t>
            </a:r>
          </a:p>
          <a:p>
            <a:r>
              <a:t>Define the hidden-node risk score as the core decision variable for RTS threshold control.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CCF91274-D221-1BB4-3BF9-836E3AD31EBE}" type="slidenum">
              <a:rPr sz="1400">
                <a:latin typeface="Times New Roman"/>
                <a:ea typeface="Times New Roman"/>
                <a:cs typeface="Times New Roman"/>
              </a:rPr>
              <a:t>14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AoA and link features for hidden-node risk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 AoA estimates from AP-side multi-antenna CSI as the main spatial feature for judging whether two clients are likely to be hidden from each other.</a:t>
            </a:r>
          </a:p>
          <a:p>
            <a:r>
              <a:t>Combine AoA-based spatial separation with retry behavior, RSSI, MCS, and traffic activity so the score reflects both geometry and observed collision symptoms.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844E025A-983C-6D44-79C6-4612AACD43FC}" type="slidenum">
              <a:rPr sz="1400">
                <a:latin typeface="Times New Roman"/>
                <a:ea typeface="Times New Roman"/>
                <a:cs typeface="Times New Roman"/>
              </a:rPr>
              <a:t>15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RTS threshold adaptation rule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Present the RTS threshold adaptation rule: lower the threshold when hidden-node risk is high, and restore or raise it when risk is low to avoid unnecessary RTS/CTS overhead.</a:t>
            </a:r>
          </a:p>
          <a:p>
            <a:r>
              <a:t>Include smoothing and hysteresis so the RTS threshold does not oscillate under noisy AoA or retry measurements.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0BB18BA8-60F4-C50D-CD9B-1BB87D3E8506}" type="slidenum">
              <a:rPr sz="1400">
                <a:latin typeface="Times New Roman"/>
                <a:ea typeface="Times New Roman"/>
                <a:cs typeface="Times New Roman"/>
              </a:rPr>
              <a:t>16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F3AE1AE4-D79E-94D6-E825-3FC6C21A77D2}" type="slidenum">
              <a:rPr sz="1400">
                <a:latin typeface="Times New Roman"/>
                <a:ea typeface="Times New Roman"/>
                <a:cs typeface="Times New Roman"/>
              </a:rPr>
              <a:t>17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AoA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-Assisted Risk Score and RTS Threshold Adaptation</a:t>
            </a:r>
          </a:p>
          <a:p>
            <a:r>
              <a:rPr dirty="0"/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463528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Evaluation scenarios, baselines, and metrics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Define test scenarios for hidden-node and non-hidden-node conditions.</a:t>
            </a:r>
          </a:p>
          <a:p>
            <a:r>
              <a:t>Compare static RTS/CTS settings with the proposed AoA-assisted dynamic RTS threshold policy.</a:t>
            </a:r>
          </a:p>
          <a:p>
            <a:r>
              <a:t>Measure throughput, retry rate, latency, MCS distribution, and fairness.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5AB55966-FA28-BC73-EA9E-53DF014DF033}" type="slidenum">
              <a:rPr sz="1400">
                <a:latin typeface="Times New Roman"/>
                <a:ea typeface="Times New Roman"/>
                <a:cs typeface="Times New Roman"/>
              </a:rPr>
              <a:t>18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Performance analysis focus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Analyze when the proposed method improves performance and when it has limited benefit.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02F15020-66A7-620A-7B7A-C05C4312DEAE}" type="slidenum">
              <a:rPr sz="1400">
                <a:latin typeface="Times New Roman"/>
                <a:ea typeface="Times New Roman"/>
                <a:cs typeface="Times New Roman"/>
              </a:rPr>
              <a:t>19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68AD4375-9F50-F53A-6F9F-DD8473067C05}" type="slidenum">
              <a:rPr sz="1400">
                <a:latin typeface="Times New Roman"/>
                <a:ea typeface="Times New Roman"/>
                <a:cs typeface="Times New Roman"/>
              </a:rPr>
              <a:t>20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AoA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-Assisted Risk Score and RTS Threshold Adaptation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/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756668717"/>
      </p:ext>
    </p:extLst>
  </p:cSld>
  <p:clrMapOvr>
    <a:masterClrMapping/>
  </p:clrMapOvr>
</p:sld>
</file>

<file path=ppt/theme/theme1.xml><?xml version="1.0" encoding="utf-8"?>
<a:theme xmlns:a="http://schemas.openxmlformats.org/drawingml/2006/main" name="2_Introduction to XSLT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Introduction to XSLT">
      <a:majorFont>
        <a:latin typeface="Arial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Introduction to XSLT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Introduction to XSLT">
      <a:majorFont>
        <a:latin typeface="Arial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732</Words>
  <Application>Microsoft Office PowerPoint</Application>
  <DocSecurity>0</DocSecurity>
  <PresentationFormat>寬螢幕</PresentationFormat>
  <Paragraphs>113</Paragraphs>
  <Slides>20</Slides>
  <Notes>19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27" baseType="lpstr">
      <vt:lpstr>微軟正黑體</vt:lpstr>
      <vt:lpstr>Arial</vt:lpstr>
      <vt:lpstr>Calibri</vt:lpstr>
      <vt:lpstr>Times New Roman</vt:lpstr>
      <vt:lpstr>Wingdings</vt:lpstr>
      <vt:lpstr>Wingdings 2</vt:lpstr>
      <vt:lpstr>2_Introduction to XSLT</vt:lpstr>
      <vt:lpstr>AoA-Assisted Dynamic RTS Threshold Adaptation for Hidden-Node Risk Mitigation in Commodity Wi-Fi APs</vt:lpstr>
      <vt:lpstr>Outline</vt:lpstr>
      <vt:lpstr>Outline</vt:lpstr>
      <vt:lpstr>Hidden Node Problem</vt:lpstr>
      <vt:lpstr>RTS/CTS Mitigation</vt:lpstr>
      <vt:lpstr>Static RTS Threshold Limitation</vt:lpstr>
      <vt:lpstr>Hidden-Node Risk-Aware RTS Threshold Control</vt:lpstr>
      <vt:lpstr>Outline</vt:lpstr>
      <vt:lpstr>WiFi OFDM CSI</vt:lpstr>
      <vt:lpstr>Spatial Spectrum Estimation</vt:lpstr>
      <vt:lpstr>MUSIC</vt:lpstr>
      <vt:lpstr>LRG1 Ability  for RTS threshold control and metric collection</vt:lpstr>
      <vt:lpstr>Outline</vt:lpstr>
      <vt:lpstr>Risk scoring design goal</vt:lpstr>
      <vt:lpstr>AoA and link features for hidden-node risk</vt:lpstr>
      <vt:lpstr>RTS threshold adaptation rule</vt:lpstr>
      <vt:lpstr>Outline</vt:lpstr>
      <vt:lpstr>Evaluation scenarios, baselines, and metrics</vt:lpstr>
      <vt:lpstr>Performance analysis focus</vt:lpstr>
      <vt:lpstr>Outline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惠品嘉</cp:lastModifiedBy>
  <cp:revision>14</cp:revision>
  <dcterms:created xsi:type="dcterms:W3CDTF">2026-07-03T03:43:28Z</dcterms:created>
  <dcterms:modified xsi:type="dcterms:W3CDTF">2026-07-06T09:29:01Z</dcterms:modified>
</cp:coreProperties>
</file>