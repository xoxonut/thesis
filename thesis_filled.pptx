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9" r:id="rId10"/>
    <p:sldId id="285" r:id="rId11"/>
    <p:sldId id="266" r:id="rId12"/>
    <p:sldId id="273" r:id="rId13"/>
    <p:sldId id="274" r:id="rId14"/>
    <p:sldId id="275" r:id="rId15"/>
    <p:sldId id="277" r:id="rId16"/>
    <p:sldId id="280" r:id="rId17"/>
    <p:sldId id="281" r:id="rId18"/>
    <p:sldId id="282" r:id="rId19"/>
    <p:sldId id="283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835" autoAdjust="0"/>
  </p:normalViewPr>
  <p:slideViewPr>
    <p:cSldViewPr snapToGrid="0">
      <p:cViewPr varScale="1">
        <p:scale>
          <a:sx n="65" d="100"/>
          <a:sy n="65" d="100"/>
        </p:scale>
        <p:origin x="7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3527ECD-3B7D-48AF-8209-F9F6ECCDC9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r>
              <a:t>封面看要放      機櫃、NCTU照片、或其他</a:t>
            </a:r>
          </a:p>
          <a:p>
            <a:pPr>
              <a:buNone/>
            </a:pPr>
            <a:r>
              <a:t>按一下以編輯母片副標題樣式</a:t>
            </a:r>
          </a:p>
        </p:txBody>
      </p:sp>
      <p:sp>
        <p:nvSpPr>
          <p:cNvPr id="3" name="弧形 2">
            <a:extLst>
              <a:ext uri="{FF2B5EF4-FFF2-40B4-BE49-F238E27FC236}">
                <a16:creationId xmlns:a16="http://schemas.microsoft.com/office/drawing/2014/main" id="{DE5CCFFA-BB39-4AC8-9914-C410FC690B47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0FAAEC-1858-4685-98AA-F4DB2E25313A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標題 15">
            <a:extLst>
              <a:ext uri="{FF2B5EF4-FFF2-40B4-BE49-F238E27FC236}">
                <a16:creationId xmlns:a16="http://schemas.microsoft.com/office/drawing/2014/main" id="{2B9E3D8F-9614-4F1E-A82E-3D68C5EC5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06" name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BEEEAB-B03B-448E-97DE-64DAD77F6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F7E82E76-F0A8-4496-8985-11AF5F703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0F6A7DA4-E894-494D-AAE9-AB52CC43733C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F6CF54-E884-4B0B-B76D-07A8FAB8F3B1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B233E-828E-45EE-B567-D0B8127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D9B85E1-5167-4ADC-B944-63A2905EB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1E054C21-F1B7-40DD-AE70-E00B4E8ECCE9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794B12-34E7-40DF-8879-7286EDF5FA3E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B4333-6BDF-45E2-9B84-F9EAC0A9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93BF12CC-9135-44DC-A3AC-7EC89A5E8667}"/>
              </a:ext>
            </a:extLst>
          </p:cNvPr>
          <p:cNvSpPr>
            <a:spLocks noGrp="1"/>
          </p:cNvSpPr>
          <p:nvPr/>
        </p:nvSpPr>
        <p:spPr>
          <a:xfrm>
            <a:off x="695400" y="1092306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A9BF05-7C6A-4B83-913B-2230294A1E14}"/>
              </a:ext>
            </a:extLst>
          </p:cNvPr>
          <p:cNvSpPr>
            <a:spLocks noGrp="1"/>
          </p:cNvSpPr>
          <p:nvPr/>
        </p:nvSpPr>
        <p:spPr>
          <a:xfrm>
            <a:off x="695400" y="1057055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>
            <a:extLst>
              <a:ext uri="{FF2B5EF4-FFF2-40B4-BE49-F238E27FC236}">
                <a16:creationId xmlns:a16="http://schemas.microsoft.com/office/drawing/2014/main" id="{0758D79E-32AB-45AB-9216-803052C57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>
              <a:buNone/>
            </a:pPr>
            <a:endParaRPr/>
          </a:p>
        </p:txBody>
      </p:sp>
      <p:pic>
        <p:nvPicPr>
          <p:cNvPr id="4100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</p:spPr>
      </p:pic>
      <p:pic>
        <p:nvPicPr>
          <p:cNvPr id="4101" name="圖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sp>
        <p:nvSpPr>
          <p:cNvPr id="3" name="弧形 2">
            <a:extLst>
              <a:ext uri="{FF2B5EF4-FFF2-40B4-BE49-F238E27FC236}">
                <a16:creationId xmlns:a16="http://schemas.microsoft.com/office/drawing/2014/main" id="{0AEEF28E-0B33-4819-83DA-4DABFD9D6AC3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F01A1A-3BF3-42CF-A2B3-86106841325F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04" name="圖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>
            <a:extLst>
              <a:ext uri="{FF2B5EF4-FFF2-40B4-BE49-F238E27FC236}">
                <a16:creationId xmlns:a16="http://schemas.microsoft.com/office/drawing/2014/main" id="{A4717AEB-C8EB-4F12-844D-123205F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t>按一下以編輯母片標題樣式</a:t>
            </a:r>
          </a:p>
        </p:txBody>
      </p:sp>
      <p:sp>
        <p:nvSpPr>
          <p:cNvPr id="18" name="投影片編號版面配置區 2">
            <a:extLst>
              <a:ext uri="{FF2B5EF4-FFF2-40B4-BE49-F238E27FC236}">
                <a16:creationId xmlns:a16="http://schemas.microsoft.com/office/drawing/2014/main" id="{95C02333-A5BB-41BA-A9D1-B0C6E7FBCE82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buNone/>
            </a:pPr>
            <a:fld id="{DBC8A1ED-4F98-4D8C-81F6-271243F7D6B0}" type="slidenum">
              <a:t>‹#›</a:t>
            </a:fld>
            <a:endParaRPr/>
          </a:p>
        </p:txBody>
      </p:sp>
      <p:pic>
        <p:nvPicPr>
          <p:cNvPr id="4107" name="圖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4108" name="內容版面配置區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10" name="圖片 40"/>
          <p:cNvPicPr>
            <a:picLocks noChangeAspect="1"/>
          </p:cNvPicPr>
          <p:nvPr/>
        </p:nvPicPr>
        <p:blipFill>
          <a:blip r:embed="rId7">
            <a:alphaModFix amt="13000"/>
            <a:lum bright="70000" contrast="-70000"/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111" name="圖片 39"/>
          <p:cNvPicPr>
            <a:picLocks noChangeAspect="1"/>
          </p:cNvPicPr>
          <p:nvPr/>
        </p:nvPicPr>
        <p:blipFill rotWithShape="1">
          <a:blip r:embed="rId8">
            <a:alphaModFix amt="50000"/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12" name="圖片 4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113" name="圖片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114" name="圖片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115" name="圖片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116" name="圖片 4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117" name="圖片 4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118" name="圖片 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119" name="圖片 4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120" name="圖片 4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4121" name="圖片 4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4122" name="圖片 50"/>
          <p:cNvPicPr>
            <a:picLocks noChangeAspect="1"/>
          </p:cNvPicPr>
          <p:nvPr/>
        </p:nvPicPr>
        <p:blipFill rotWithShape="1">
          <a:blip r:embed="rId19">
            <a:alphaModFix amt="50000"/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4123" name="圖片 51"/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4124" name="Picture 6"/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1891893" y="28689"/>
            <a:ext cx="2057400" cy="438150"/>
          </a:xfrm>
          <a:prstGeom prst="rect">
            <a:avLst/>
          </a:prstGeom>
        </p:spPr>
      </p:pic>
      <p:pic>
        <p:nvPicPr>
          <p:cNvPr id="4125" name="內容版面配置區 6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9804" y="3747453"/>
            <a:ext cx="1780748" cy="1449446"/>
          </a:xfrm>
          <a:prstGeom prst="rect">
            <a:avLst/>
          </a:prstGeom>
          <a:ln w="9525">
            <a:noFill/>
            <a:miter/>
          </a:ln>
        </p:spPr>
      </p:pic>
      <p:pic>
        <p:nvPicPr>
          <p:cNvPr id="4126" name="圖片 54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4127" name="圖片 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4128" name="圖片 5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30" name="Picture 2"/>
          <p:cNvPicPr>
            <a:picLocks noChangeAspect="1"/>
          </p:cNvPicPr>
          <p:nvPr/>
        </p:nvPicPr>
        <p:blipFill rotWithShape="1">
          <a:blip r:embed="rId26"/>
          <a:srcRect r="51740" b="20361"/>
          <a:stretch/>
        </p:blipFill>
        <p:spPr>
          <a:xfrm>
            <a:off x="9574796" y="4458667"/>
            <a:ext cx="878200" cy="1041608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>
            <a:spLocks noGrp="1"/>
          </p:cNvSpPr>
          <p:nvPr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t>電子/資通訊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>
            <a:spLocks noGrp="1"/>
          </p:cNvSpPr>
          <p:nvPr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sz="1600" b="1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rPr>
              <a:t>生物醫學</a:t>
            </a:r>
          </a:p>
        </p:txBody>
      </p:sp>
      <p:pic>
        <p:nvPicPr>
          <p:cNvPr id="4133" name="Picture 2"/>
          <p:cNvPicPr>
            <a:picLocks noChangeAspect="1"/>
          </p:cNvPicPr>
          <p:nvPr/>
        </p:nvPicPr>
        <p:blipFill rotWithShape="1">
          <a:blip r:embed="rId26"/>
          <a:srcRect l="48135" b="20361"/>
          <a:stretch/>
        </p:blipFill>
        <p:spPr>
          <a:xfrm>
            <a:off x="10702093" y="4447943"/>
            <a:ext cx="943786" cy="10416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BBFF59-DD79-4B36-84ED-48AC9E33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t>按一下以編輯母片標題樣式</a:t>
            </a:r>
          </a:p>
        </p:txBody>
      </p:sp>
      <p:pic>
        <p:nvPicPr>
          <p:cNvPr id="3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sp>
        <p:nvSpPr>
          <p:cNvPr id="6" name="弧形 5">
            <a:extLst>
              <a:ext uri="{FF2B5EF4-FFF2-40B4-BE49-F238E27FC236}">
                <a16:creationId xmlns:a16="http://schemas.microsoft.com/office/drawing/2014/main" id="{E04097B6-326E-4C38-9743-4463D489760B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1A808-357A-4BF7-8E12-EA85DCF75AF0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179419" y="1097909"/>
            <a:ext cx="1836205" cy="1200878"/>
          </a:xfrm>
          <a:prstGeom prst="rect">
            <a:avLst/>
          </a:prstGeom>
        </p:spPr>
      </p:pic>
      <p:pic>
        <p:nvPicPr>
          <p:cNvPr id="10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1" name="Picture 1"/>
          <p:cNvPicPr>
            <a:picLocks noChangeAspect="1"/>
          </p:cNvPicPr>
          <p:nvPr/>
        </p:nvPicPr>
        <p:blipFill rotWithShape="1">
          <a:blip r:embed="rId6"/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/>
        </p:nvPicPr>
        <p:blipFill rotWithShape="1">
          <a:blip r:embed="rId7"/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3" name="圖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4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15" name="圖片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16" name="圖片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17" name="圖片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18" name="圖片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19" name="圖片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20" name="圖片 2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21" name="圖片 3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CE40BD8-1AD1-4494-8055-75B9806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按一下以編輯母片標題樣式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01D97C8-7A27-4AD0-9C39-B6315D8E9C7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AoA-Assisted Dynamic RTS Threshold Adaptation for Hidden-Node Risk Mitigation in Commodity Wi-Fi APs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The hidden node problem occurs when two nodes in a wireless network can communicate with a third node, but cannot communicate with each other directly due to obstacles or being out of range</a:t>
            </a:r>
            <a:endParaRPr lang="en-US" altLang="zh-TW" dirty="0"/>
          </a:p>
          <a:p>
            <a:r>
              <a:rPr lang="zh-TW" altLang="zh-TW" dirty="0"/>
              <a:t> This can lead to collisions at the third node when both nodes transmit simultaneously</a:t>
            </a:r>
            <a:endParaRPr lang="zh-TW" altLang="en-US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58B64D92-EB49-29A6-9035-D014E91FA694}"/>
              </a:ext>
            </a:extLst>
          </p:cNvPr>
          <p:cNvGrpSpPr/>
          <p:nvPr/>
        </p:nvGrpSpPr>
        <p:grpSpPr>
          <a:xfrm>
            <a:off x="2968242" y="3129382"/>
            <a:ext cx="6255516" cy="3356964"/>
            <a:chOff x="2864188" y="3407243"/>
            <a:chExt cx="6255516" cy="335696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2864188" y="3407243"/>
              <a:ext cx="6255516" cy="3356964"/>
              <a:chOff x="2864188" y="3407243"/>
              <a:chExt cx="6255516" cy="3356964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6477661" y="5107482"/>
              <a:ext cx="407696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5098536" y="5107482"/>
              <a:ext cx="407695" cy="16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Mitigation with a Static RTS Threshold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The RTS/CTS is </a:t>
            </a:r>
            <a:r>
              <a:rPr lang="en-US" altLang="zh-TW" dirty="0"/>
              <a:t>optional </a:t>
            </a:r>
            <a:r>
              <a:rPr lang="zh-TW" altLang="zh-TW" dirty="0"/>
              <a:t>mechanism</a:t>
            </a:r>
            <a:r>
              <a:rPr lang="en-US" altLang="zh-TW" dirty="0"/>
              <a:t> </a:t>
            </a:r>
            <a:r>
              <a:rPr lang="zh-TW" altLang="zh-TW" dirty="0"/>
              <a:t>used to address this problem by allowing nodes to reserve the channel before transmitting</a:t>
            </a:r>
            <a:r>
              <a:rPr lang="en-US" altLang="zh-TW" dirty="0"/>
              <a:t> in 802.11 protocol </a:t>
            </a:r>
          </a:p>
          <a:p>
            <a:r>
              <a:rPr dirty="0"/>
              <a:t>Describe the problem with static RTS threshold configuration: a low threshold adds unnecessary RTS/CTS overhead, while a high threshold may leave hidden-node collisions unresolved.</a:t>
            </a:r>
          </a:p>
          <a:p>
            <a:r>
              <a:rPr lang="en-US" dirty="0"/>
              <a:t>Static </a:t>
            </a:r>
            <a:r>
              <a:rPr lang="en-US" dirty="0" err="1"/>
              <a:t>rts</a:t>
            </a:r>
            <a:r>
              <a:rPr lang="en-US" dirty="0"/>
              <a:t> threshold setting ignores the physical location of STA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Hidden-Node Risk-Aware RTS Threshold Control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State the thesis goal early: let the AP infer hidden-node risk from </a:t>
            </a:r>
            <a:r>
              <a:rPr lang="en-US" altLang="zh-TW" dirty="0"/>
              <a:t>Angle of Arrival 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dirty="0" err="1"/>
              <a:t>AoA</a:t>
            </a:r>
            <a:r>
              <a:rPr lang="en-US" altLang="zh-TW" dirty="0"/>
              <a:t>)</a:t>
            </a:r>
            <a:r>
              <a:rPr dirty="0"/>
              <a:t> and link observations, then tune the RTS threshold dynamically.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CSI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Motivate MUSIC for Wi-Fi APs because it can use existing multi-antenna CSI, provide higher angular resolution than simple beam scanning, and separate signal and noise subspaces without extra localization hardware.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Ability  for RTS threshold control and metric collection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Review the RTS threshold as the main AP-side control knob.</a:t>
            </a:r>
          </a:p>
          <a:p>
            <a:r>
              <a:rPr dirty="0"/>
              <a:t>Describe AP-side measurements, including retry statistics, RSSI, CSI, </a:t>
            </a:r>
            <a:r>
              <a:rPr dirty="0" err="1"/>
              <a:t>AoA</a:t>
            </a:r>
            <a:r>
              <a:rPr dirty="0"/>
              <a:t>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/>
              <a:t>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scoring design goal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overall design goal: use AP-side AoA and link observations to decide when RTS/CTS overhead is worthwhile.</a:t>
            </a:r>
          </a:p>
          <a:p>
            <a:r>
              <a:t>Define the hidden-node risk score as the core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AoA and link features for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AoA estimates from AP-side multi-antenna CSI as the main spatial feature for judging whether two clients are likely to be hidden from each other.</a:t>
            </a:r>
          </a:p>
          <a:p>
            <a:r>
              <a:t>Combine AoA-based spatial separation with retry behavior, RSSI, MCS, and traffic activity so the score reflects both geometry and observed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adaptation rule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RTS threshold adaptation rule: lower the threshold when hidden-node risk is high, and restore or raise it when risk is low to avoid unnecessary RTS/CTS overhead.</a:t>
            </a:r>
          </a:p>
          <a:p>
            <a:r>
              <a:t>Include smoothing and hysteresis so the RTS threshold does not oscillate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scenarios, baselines, and metrics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 test scenarios for hidden-node and non-hidden-node conditions.</a:t>
            </a:r>
          </a:p>
          <a:p>
            <a:r>
              <a:t>Compare static RTS/CTS settings with the proposed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focus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proposed method improves performance and when it has limited benefit.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588</Words>
  <Application>Microsoft Office PowerPoint</Application>
  <DocSecurity>0</DocSecurity>
  <PresentationFormat>寬螢幕</PresentationFormat>
  <Paragraphs>93</Paragraphs>
  <Slides>19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6" baseType="lpstr">
      <vt:lpstr>微軟正黑體</vt:lpstr>
      <vt:lpstr>Arial</vt:lpstr>
      <vt:lpstr>Calibri</vt:lpstr>
      <vt:lpstr>Times New Roman</vt:lpstr>
      <vt:lpstr>Wingdings</vt:lpstr>
      <vt:lpstr>Wingdings 2</vt:lpstr>
      <vt:lpstr>2_Introduction to XSLT</vt:lpstr>
      <vt:lpstr>AoA-Assisted Dynamic RTS Threshold Adaptation for Hidden-Node Risk Mitigation in Commodity Wi-Fi APs</vt:lpstr>
      <vt:lpstr>Outline</vt:lpstr>
      <vt:lpstr>Outline</vt:lpstr>
      <vt:lpstr>Hidden Node Problem</vt:lpstr>
      <vt:lpstr>RTS/CTS Mitigation with a Static RTS Threshold</vt:lpstr>
      <vt:lpstr>Hidden-Node Risk-Aware RTS Threshold Control</vt:lpstr>
      <vt:lpstr>Outline</vt:lpstr>
      <vt:lpstr>CSI</vt:lpstr>
      <vt:lpstr>Spatial Spectrum Estimation</vt:lpstr>
      <vt:lpstr>MUSIC</vt:lpstr>
      <vt:lpstr>LRG1 Ability  for RTS threshold control and metric collection</vt:lpstr>
      <vt:lpstr>Outline</vt:lpstr>
      <vt:lpstr>Risk scoring design goal</vt:lpstr>
      <vt:lpstr>AoA and link features for hidden-node risk</vt:lpstr>
      <vt:lpstr>RTS threshold adaptation rule</vt:lpstr>
      <vt:lpstr>Outline</vt:lpstr>
      <vt:lpstr>Evaluation scenarios, baselines, and metrics</vt:lpstr>
      <vt:lpstr>Performance analysis focus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8</cp:revision>
  <dcterms:created xsi:type="dcterms:W3CDTF">2026-07-03T03:43:28Z</dcterms:created>
  <dcterms:modified xsi:type="dcterms:W3CDTF">2026-07-06T08:01:18Z</dcterms:modified>
</cp:coreProperties>
</file>