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60" r:id="rId5"/>
    <p:sldId id="262" r:id="rId6"/>
    <p:sldId id="286" r:id="rId7"/>
    <p:sldId id="296" r:id="rId8"/>
    <p:sldId id="263" r:id="rId9"/>
    <p:sldId id="264" r:id="rId10"/>
    <p:sldId id="265" r:id="rId11"/>
    <p:sldId id="295" r:id="rId12"/>
    <p:sldId id="285" r:id="rId13"/>
    <p:sldId id="273" r:id="rId14"/>
    <p:sldId id="275" r:id="rId15"/>
    <p:sldId id="297" r:id="rId16"/>
    <p:sldId id="298" r:id="rId17"/>
    <p:sldId id="280" r:id="rId18"/>
    <p:sldId id="281" r:id="rId19"/>
    <p:sldId id="283" r:id="rId20"/>
    <p:sldId id="294" r:id="rId21"/>
    <p:sldId id="293" r:id="rId22"/>
    <p:sldId id="292" r:id="rId23"/>
    <p:sldId id="287" r:id="rId24"/>
    <p:sldId id="289" r:id="rId25"/>
    <p:sldId id="269" r:id="rId26"/>
    <p:sldId id="291" r:id="rId27"/>
    <p:sldId id="290" r:id="rId28"/>
    <p:sldId id="266" r:id="rId29"/>
    <p:sldId id="282" r:id="rId3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97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淺色樣式 2 - 輔色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835" autoAdjust="0"/>
  </p:normalViewPr>
  <p:slideViewPr>
    <p:cSldViewPr snapToGrid="0">
      <p:cViewPr varScale="1">
        <p:scale>
          <a:sx n="74" d="100"/>
          <a:sy n="74" d="100"/>
        </p:scale>
        <p:origin x="101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只能控制 AP side的RTS threshold是問題嗎?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03457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085745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723883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28AFD-031B-0436-DE48-43D141BD1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93E3A4-B1A7-2C29-A3BB-1AC7E6D387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0C6BEB-B163-351B-D7A5-C9DE472754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2EBE5-E60A-E884-12FE-D8E2CA7D792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79168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https://www.sciencedirect.com/topics/engineering/phasor-representation</a:t>
            </a:r>
            <a:r>
              <a:rPr lang="zh-TW" altLang="en-US" dirty="0"/>
              <a:t> </a:t>
            </a:r>
            <a:endParaRPr lang="en-US" altLang="zh-TW" dirty="0"/>
          </a:p>
          <a:p>
            <a:endParaRPr lang="en-US" dirty="0"/>
          </a:p>
          <a:p>
            <a:r>
              <a:rPr lang="en-US" altLang="zh-TW" dirty="0"/>
              <a:t>CSI=transmitted reference signal / received signal​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93602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https://www.sciencedirect.com/science/article/pii/S209099771300031X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788682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4.png"/><Relationship Id="rId21" Type="http://schemas.openxmlformats.org/officeDocument/2006/relationships/image" Target="../media/image20.png"/><Relationship Id="rId7" Type="http://schemas.openxmlformats.org/officeDocument/2006/relationships/image" Target="../media/image8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3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6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microsoft.com/office/2007/relationships/hdphoto" Target="../media/hdphoto2.wdp"/><Relationship Id="rId19" Type="http://schemas.openxmlformats.org/officeDocument/2006/relationships/image" Target="../media/image18.png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14" Type="http://schemas.openxmlformats.org/officeDocument/2006/relationships/image" Target="../media/image13.png"/><Relationship Id="rId22" Type="http://schemas.openxmlformats.org/officeDocument/2006/relationships/image" Target="../media/image21.jpeg"/><Relationship Id="rId27" Type="http://schemas.openxmlformats.org/officeDocument/2006/relationships/image" Target="../media/image26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jpeg"/><Relationship Id="rId7" Type="http://schemas.openxmlformats.org/officeDocument/2006/relationships/image" Target="../media/image33.jpeg"/><Relationship Id="rId12" Type="http://schemas.openxmlformats.org/officeDocument/2006/relationships/image" Target="../media/image38.png"/><Relationship Id="rId2" Type="http://schemas.openxmlformats.org/officeDocument/2006/relationships/image" Target="../media/image28.png"/><Relationship Id="rId16" Type="http://schemas.openxmlformats.org/officeDocument/2006/relationships/image" Target="../media/image4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2.jpe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306E496-760D-4F3A-9AF0-499CDE7BB521}"/>
              </a:ext>
            </a:extLst>
          </p:cNvPr>
          <p:cNvSpPr/>
          <p:nvPr userDrawn="1"/>
        </p:nvSpPr>
        <p:spPr bwMode="auto">
          <a:xfrm>
            <a:off x="0" y="1"/>
            <a:ext cx="12192000" cy="2615000"/>
          </a:xfrm>
          <a:prstGeom prst="rect">
            <a:avLst/>
          </a:prstGeom>
          <a:gradFill>
            <a:gsLst>
              <a:gs pos="29000">
                <a:schemeClr val="bg1"/>
              </a:gs>
              <a:gs pos="1000">
                <a:srgbClr val="EBFAFF"/>
              </a:gs>
              <a:gs pos="99000">
                <a:srgbClr val="F7FDFF"/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6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Times New Roman" pitchFamily="18" charset="0"/>
              <a:ea typeface="標楷體" pitchFamily="65" charset="-120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879716" y="2938636"/>
            <a:ext cx="8971723" cy="257403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buFontTx/>
              <a:buNone/>
              <a:defRPr sz="3200" baseline="0">
                <a:solidFill>
                  <a:srgbClr val="3297FC"/>
                </a:solidFill>
              </a:defRPr>
            </a:lvl1pPr>
          </a:lstStyle>
          <a:p>
            <a:pPr lvl="0"/>
            <a:r>
              <a:rPr lang="zh-TW" altLang="en-US" noProof="0"/>
              <a:t>封面看要放      機櫃、</a:t>
            </a:r>
            <a:r>
              <a:rPr lang="en-US" altLang="zh-TW" noProof="0"/>
              <a:t>NCTU</a:t>
            </a:r>
            <a:r>
              <a:rPr lang="zh-TW" altLang="en-US" noProof="0"/>
              <a:t>照片、或其他</a:t>
            </a:r>
            <a:endParaRPr lang="en-US" altLang="zh-TW" noProof="0"/>
          </a:p>
          <a:p>
            <a:pPr lvl="0"/>
            <a:r>
              <a:rPr lang="zh-TW" altLang="en-US" noProof="0"/>
              <a:t>按一下以編輯母片副標題樣式</a:t>
            </a:r>
          </a:p>
        </p:txBody>
      </p:sp>
      <p:grpSp>
        <p:nvGrpSpPr>
          <p:cNvPr id="6" name="群組 5"/>
          <p:cNvGrpSpPr/>
          <p:nvPr userDrawn="1"/>
        </p:nvGrpSpPr>
        <p:grpSpPr>
          <a:xfrm>
            <a:off x="239350" y="2384670"/>
            <a:ext cx="11823133" cy="468267"/>
            <a:chOff x="179512" y="2384669"/>
            <a:chExt cx="9001001" cy="468267"/>
          </a:xfrm>
        </p:grpSpPr>
        <p:sp>
          <p:nvSpPr>
            <p:cNvPr id="3" name="弧形 2"/>
            <p:cNvSpPr/>
            <p:nvPr userDrawn="1"/>
          </p:nvSpPr>
          <p:spPr bwMode="auto">
            <a:xfrm>
              <a:off x="179512" y="2392274"/>
              <a:ext cx="9001001" cy="46066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6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  <p:sp>
          <p:nvSpPr>
            <p:cNvPr id="15" name="矩形 14"/>
            <p:cNvSpPr/>
            <p:nvPr userDrawn="1"/>
          </p:nvSpPr>
          <p:spPr bwMode="auto">
            <a:xfrm>
              <a:off x="313163" y="2384669"/>
              <a:ext cx="4402853" cy="230331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82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6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</p:grpSp>
      <p:sp>
        <p:nvSpPr>
          <p:cNvPr id="16" name="標題 15"/>
          <p:cNvSpPr>
            <a:spLocks noGrp="1"/>
          </p:cNvSpPr>
          <p:nvPr>
            <p:ph type="title"/>
          </p:nvPr>
        </p:nvSpPr>
        <p:spPr>
          <a:xfrm>
            <a:off x="2219893" y="404664"/>
            <a:ext cx="8312996" cy="1987610"/>
          </a:xfrm>
        </p:spPr>
        <p:txBody>
          <a:bodyPr/>
          <a:lstStyle>
            <a:lvl1pPr>
              <a:defRPr sz="4400">
                <a:solidFill>
                  <a:srgbClr val="3297FC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41DBD64-14B7-452D-9AFA-42E13CD1A975}"/>
              </a:ext>
            </a:extLst>
          </p:cNvPr>
          <p:cNvSpPr/>
          <p:nvPr userDrawn="1"/>
        </p:nvSpPr>
        <p:spPr bwMode="auto">
          <a:xfrm>
            <a:off x="0" y="6453336"/>
            <a:ext cx="12192000" cy="404664"/>
          </a:xfrm>
          <a:prstGeom prst="rect">
            <a:avLst/>
          </a:prstGeom>
          <a:gradFill flip="none"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endParaRPr lang="zh-TW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F9796AA-6F58-4B1A-BDFE-7DA4C0C8F2C3}"/>
              </a:ext>
            </a:extLst>
          </p:cNvPr>
          <p:cNvSpPr txBox="1"/>
          <p:nvPr userDrawn="1"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TW" sz="2000" b="1">
                <a:solidFill>
                  <a:schemeClr val="bg1"/>
                </a:solidFill>
              </a:rPr>
              <a:t>NYCU</a:t>
            </a:r>
            <a:r>
              <a:rPr lang="zh-TW" altLang="en-US" sz="2000" b="1">
                <a:solidFill>
                  <a:schemeClr val="bg1"/>
                </a:solidFill>
              </a:rPr>
              <a:t> </a:t>
            </a:r>
            <a:r>
              <a:rPr lang="en-US" altLang="zh-TW" sz="2000" b="1">
                <a:solidFill>
                  <a:schemeClr val="bg1"/>
                </a:solidFill>
              </a:rPr>
              <a:t>CS</a:t>
            </a:r>
            <a:endParaRPr lang="zh-TW" altLang="en-US" sz="2000" b="1">
              <a:solidFill>
                <a:schemeClr val="bg1"/>
              </a:solidFill>
            </a:endParaRPr>
          </a:p>
        </p:txBody>
      </p:sp>
      <p:sp>
        <p:nvSpPr>
          <p:cNvPr id="23" name="投影片編號版面配置區 2">
            <a:extLst>
              <a:ext uri="{FF2B5EF4-FFF2-40B4-BE49-F238E27FC236}">
                <a16:creationId xmlns:a16="http://schemas.microsoft.com/office/drawing/2014/main" id="{8C41D527-B7A7-4ECB-AC9D-ACB7C81FF1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297FC"/>
                </a:solidFill>
              </a:defRPr>
            </a:lvl1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60E704CE-6912-45FE-B988-92B4E0CDAB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552" y="138374"/>
            <a:ext cx="1565435" cy="2057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680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自訂版面配置">
    <p:bg>
      <p:bgPr>
        <a:gradFill>
          <a:gsLst>
            <a:gs pos="35000">
              <a:schemeClr val="bg1"/>
            </a:gs>
            <a:gs pos="1000">
              <a:srgbClr val="EBFAFF"/>
            </a:gs>
            <a:gs pos="99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27448" y="61320"/>
            <a:ext cx="10081121" cy="914353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lang="zh-TW" altLang="en-US" sz="3600" b="1" dirty="0">
                <a:solidFill>
                  <a:srgbClr val="3297FC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640613" y="1073275"/>
            <a:ext cx="10916870" cy="5413072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  <a:endParaRPr lang="en-US" altLang="zh-TW"/>
          </a:p>
          <a:p>
            <a:pPr lvl="4"/>
            <a:r>
              <a:rPr lang="zh-TW" altLang="en-US"/>
              <a:t>第五層</a:t>
            </a:r>
            <a:endParaRPr lang="en-US" altLang="zh-TW"/>
          </a:p>
          <a:p>
            <a:pPr lvl="4"/>
            <a:endParaRPr lang="en-US" altLang="zh-TW"/>
          </a:p>
          <a:p>
            <a:pPr lvl="4"/>
            <a:endParaRPr lang="zh-TW" altLang="en-US"/>
          </a:p>
        </p:txBody>
      </p:sp>
      <p:grpSp>
        <p:nvGrpSpPr>
          <p:cNvPr id="5" name="群組 4"/>
          <p:cNvGrpSpPr/>
          <p:nvPr userDrawn="1"/>
        </p:nvGrpSpPr>
        <p:grpSpPr>
          <a:xfrm>
            <a:off x="695400" y="985047"/>
            <a:ext cx="10940873" cy="211705"/>
            <a:chOff x="3059832" y="779171"/>
            <a:chExt cx="3816424" cy="345573"/>
          </a:xfrm>
        </p:grpSpPr>
        <p:sp>
          <p:nvSpPr>
            <p:cNvPr id="6" name="弧形 5"/>
            <p:cNvSpPr/>
            <p:nvPr userDrawn="1"/>
          </p:nvSpPr>
          <p:spPr bwMode="auto">
            <a:xfrm>
              <a:off x="3059832" y="836712"/>
              <a:ext cx="3816424" cy="28803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  <p:sp>
          <p:nvSpPr>
            <p:cNvPr id="7" name="矩形 6"/>
            <p:cNvSpPr/>
            <p:nvPr userDrawn="1"/>
          </p:nvSpPr>
          <p:spPr bwMode="auto">
            <a:xfrm>
              <a:off x="3059832" y="779171"/>
              <a:ext cx="1908212" cy="144016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65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6A70634B-7819-4B1D-9976-5401A810A58E}"/>
              </a:ext>
            </a:extLst>
          </p:cNvPr>
          <p:cNvSpPr/>
          <p:nvPr userDrawn="1"/>
        </p:nvSpPr>
        <p:spPr bwMode="auto">
          <a:xfrm>
            <a:off x="0" y="6453336"/>
            <a:ext cx="12192000" cy="404664"/>
          </a:xfrm>
          <a:prstGeom prst="rect">
            <a:avLst/>
          </a:prstGeom>
          <a:gradFill flip="none"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endParaRPr lang="zh-TW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C28F3D0-8FF2-487D-80CA-89CB32A0D276}"/>
              </a:ext>
            </a:extLst>
          </p:cNvPr>
          <p:cNvSpPr txBox="1"/>
          <p:nvPr userDrawn="1"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TW" sz="2000" b="1">
                <a:solidFill>
                  <a:schemeClr val="bg1"/>
                </a:solidFill>
              </a:rPr>
              <a:t>NYCU</a:t>
            </a:r>
            <a:r>
              <a:rPr lang="zh-TW" altLang="en-US" sz="2000" b="1">
                <a:solidFill>
                  <a:schemeClr val="bg1"/>
                </a:solidFill>
              </a:rPr>
              <a:t> </a:t>
            </a:r>
            <a:r>
              <a:rPr lang="en-US" altLang="zh-TW" sz="2000" b="1">
                <a:solidFill>
                  <a:schemeClr val="bg1"/>
                </a:solidFill>
              </a:rPr>
              <a:t>CS</a:t>
            </a:r>
            <a:endParaRPr lang="zh-TW" altLang="en-US" sz="2000" b="1">
              <a:solidFill>
                <a:schemeClr val="bg1"/>
              </a:solidFill>
            </a:endParaRPr>
          </a:p>
        </p:txBody>
      </p:sp>
      <p:sp>
        <p:nvSpPr>
          <p:cNvPr id="21" name="投影片編號版面配置區 2">
            <a:extLst>
              <a:ext uri="{FF2B5EF4-FFF2-40B4-BE49-F238E27FC236}">
                <a16:creationId xmlns:a16="http://schemas.microsoft.com/office/drawing/2014/main" id="{517DF8D6-C4BC-4E21-9B65-9590C89D2A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897FC"/>
                </a:solidFill>
              </a:defRPr>
            </a:lvl1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EF5F67F-08F8-4CC5-8596-85E70AD004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29" y="90388"/>
            <a:ext cx="748002" cy="98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884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自訂版面配置">
    <p:bg>
      <p:bgPr>
        <a:gradFill>
          <a:gsLst>
            <a:gs pos="35000">
              <a:schemeClr val="bg1"/>
            </a:gs>
            <a:gs pos="1000">
              <a:srgbClr val="EBFAFF"/>
            </a:gs>
            <a:gs pos="99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6A70634B-7819-4B1D-9976-5401A810A58E}"/>
              </a:ext>
            </a:extLst>
          </p:cNvPr>
          <p:cNvSpPr/>
          <p:nvPr userDrawn="1"/>
        </p:nvSpPr>
        <p:spPr bwMode="auto">
          <a:xfrm>
            <a:off x="0" y="6453336"/>
            <a:ext cx="12192000" cy="404664"/>
          </a:xfrm>
          <a:prstGeom prst="rect">
            <a:avLst/>
          </a:prstGeom>
          <a:gradFill flip="none"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endParaRPr lang="zh-TW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C28F3D0-8FF2-487D-80CA-89CB32A0D276}"/>
              </a:ext>
            </a:extLst>
          </p:cNvPr>
          <p:cNvSpPr txBox="1"/>
          <p:nvPr userDrawn="1"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TW" sz="2000" b="1">
                <a:solidFill>
                  <a:schemeClr val="bg1"/>
                </a:solidFill>
              </a:rPr>
              <a:t>NYCU</a:t>
            </a:r>
            <a:r>
              <a:rPr lang="zh-TW" altLang="en-US" sz="2000" b="1">
                <a:solidFill>
                  <a:schemeClr val="bg1"/>
                </a:solidFill>
              </a:rPr>
              <a:t> </a:t>
            </a:r>
            <a:r>
              <a:rPr lang="en-US" altLang="zh-TW" sz="2000" b="1">
                <a:solidFill>
                  <a:schemeClr val="bg1"/>
                </a:solidFill>
              </a:rPr>
              <a:t>CS</a:t>
            </a:r>
            <a:endParaRPr lang="zh-TW" altLang="en-US" sz="2000" b="1">
              <a:solidFill>
                <a:schemeClr val="bg1"/>
              </a:solidFill>
            </a:endParaRPr>
          </a:p>
        </p:txBody>
      </p:sp>
      <p:sp>
        <p:nvSpPr>
          <p:cNvPr id="21" name="投影片編號版面配置區 2">
            <a:extLst>
              <a:ext uri="{FF2B5EF4-FFF2-40B4-BE49-F238E27FC236}">
                <a16:creationId xmlns:a16="http://schemas.microsoft.com/office/drawing/2014/main" id="{517DF8D6-C4BC-4E21-9B65-9590C89D2A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897FC"/>
                </a:solidFill>
              </a:defRPr>
            </a:lvl1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421CDF80-58F9-40AD-A894-72E38B717567}"/>
              </a:ext>
            </a:extLst>
          </p:cNvPr>
          <p:cNvGrpSpPr/>
          <p:nvPr userDrawn="1"/>
        </p:nvGrpSpPr>
        <p:grpSpPr>
          <a:xfrm>
            <a:off x="695400" y="985047"/>
            <a:ext cx="10940873" cy="211705"/>
            <a:chOff x="3059832" y="779171"/>
            <a:chExt cx="3816424" cy="345573"/>
          </a:xfrm>
        </p:grpSpPr>
        <p:sp>
          <p:nvSpPr>
            <p:cNvPr id="8" name="弧形 7">
              <a:extLst>
                <a:ext uri="{FF2B5EF4-FFF2-40B4-BE49-F238E27FC236}">
                  <a16:creationId xmlns:a16="http://schemas.microsoft.com/office/drawing/2014/main" id="{B0D921CC-6E9E-9736-56F4-1FACE8D5A904}"/>
                </a:ext>
              </a:extLst>
            </p:cNvPr>
            <p:cNvSpPr/>
            <p:nvPr userDrawn="1"/>
          </p:nvSpPr>
          <p:spPr bwMode="auto">
            <a:xfrm>
              <a:off x="3059832" y="836712"/>
              <a:ext cx="3816424" cy="28803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24830C6-10FC-8690-4E44-34E0175936F9}"/>
                </a:ext>
              </a:extLst>
            </p:cNvPr>
            <p:cNvSpPr/>
            <p:nvPr userDrawn="1"/>
          </p:nvSpPr>
          <p:spPr bwMode="auto">
            <a:xfrm>
              <a:off x="3059832" y="779171"/>
              <a:ext cx="1908212" cy="144016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65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</p:grp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55A07BFF-CF99-95A1-3418-CBD8C916E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13" y="1073275"/>
            <a:ext cx="10916870" cy="5413072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  <a:endParaRPr lang="en-US" altLang="zh-TW"/>
          </a:p>
          <a:p>
            <a:pPr lvl="4"/>
            <a:r>
              <a:rPr lang="zh-TW" altLang="en-US"/>
              <a:t>第五層</a:t>
            </a:r>
            <a:endParaRPr lang="en-US" altLang="zh-TW"/>
          </a:p>
          <a:p>
            <a:pPr lvl="4"/>
            <a:endParaRPr lang="en-US" altLang="zh-TW"/>
          </a:p>
          <a:p>
            <a:pPr lvl="4"/>
            <a:endParaRPr lang="zh-TW" altLang="en-US"/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00A0E83E-3A5B-7BA3-3D72-4679DA5C2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61320"/>
            <a:ext cx="10081121" cy="914353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lang="zh-TW" altLang="en-US" sz="3600" b="1" dirty="0">
                <a:solidFill>
                  <a:srgbClr val="3297FC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928487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自訂版面配置">
    <p:bg>
      <p:bgPr>
        <a:gradFill>
          <a:gsLst>
            <a:gs pos="35000">
              <a:schemeClr val="bg1"/>
            </a:gs>
            <a:gs pos="1000">
              <a:srgbClr val="EBFAFF"/>
            </a:gs>
            <a:gs pos="99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27448" y="61320"/>
            <a:ext cx="10081121" cy="914353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lang="zh-TW" altLang="en-US" sz="3600" b="1" dirty="0">
                <a:solidFill>
                  <a:srgbClr val="3297FC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2279577" y="1073275"/>
            <a:ext cx="7560840" cy="5413072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  <a:endParaRPr lang="en-US" altLang="zh-TW"/>
          </a:p>
          <a:p>
            <a:pPr lvl="4"/>
            <a:r>
              <a:rPr lang="zh-TW" altLang="en-US"/>
              <a:t>第五層</a:t>
            </a:r>
            <a:endParaRPr lang="en-US" altLang="zh-TW"/>
          </a:p>
          <a:p>
            <a:pPr lvl="4"/>
            <a:endParaRPr lang="en-US" altLang="zh-TW"/>
          </a:p>
          <a:p>
            <a:pPr lvl="4"/>
            <a:endParaRPr lang="zh-TW" altLang="en-US"/>
          </a:p>
        </p:txBody>
      </p:sp>
      <p:grpSp>
        <p:nvGrpSpPr>
          <p:cNvPr id="5" name="群組 4"/>
          <p:cNvGrpSpPr/>
          <p:nvPr userDrawn="1"/>
        </p:nvGrpSpPr>
        <p:grpSpPr>
          <a:xfrm>
            <a:off x="695400" y="985047"/>
            <a:ext cx="10940873" cy="211705"/>
            <a:chOff x="3059832" y="779171"/>
            <a:chExt cx="3816424" cy="345573"/>
          </a:xfrm>
        </p:grpSpPr>
        <p:sp>
          <p:nvSpPr>
            <p:cNvPr id="6" name="弧形 5"/>
            <p:cNvSpPr/>
            <p:nvPr userDrawn="1"/>
          </p:nvSpPr>
          <p:spPr bwMode="auto">
            <a:xfrm>
              <a:off x="3059832" y="836712"/>
              <a:ext cx="3816424" cy="28803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  <p:sp>
          <p:nvSpPr>
            <p:cNvPr id="7" name="矩形 6"/>
            <p:cNvSpPr/>
            <p:nvPr userDrawn="1"/>
          </p:nvSpPr>
          <p:spPr bwMode="auto">
            <a:xfrm>
              <a:off x="3059832" y="779171"/>
              <a:ext cx="1908212" cy="144016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65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6A70634B-7819-4B1D-9976-5401A810A58E}"/>
              </a:ext>
            </a:extLst>
          </p:cNvPr>
          <p:cNvSpPr/>
          <p:nvPr userDrawn="1"/>
        </p:nvSpPr>
        <p:spPr bwMode="auto">
          <a:xfrm>
            <a:off x="0" y="6453336"/>
            <a:ext cx="12192000" cy="404664"/>
          </a:xfrm>
          <a:prstGeom prst="rect">
            <a:avLst/>
          </a:prstGeom>
          <a:gradFill flip="none"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endParaRPr lang="zh-TW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C28F3D0-8FF2-487D-80CA-89CB32A0D276}"/>
              </a:ext>
            </a:extLst>
          </p:cNvPr>
          <p:cNvSpPr txBox="1"/>
          <p:nvPr userDrawn="1"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TW" sz="2000" b="1">
                <a:solidFill>
                  <a:schemeClr val="bg1"/>
                </a:solidFill>
              </a:rPr>
              <a:t>NYCU</a:t>
            </a:r>
            <a:r>
              <a:rPr lang="zh-TW" altLang="en-US" sz="2000" b="1">
                <a:solidFill>
                  <a:schemeClr val="bg1"/>
                </a:solidFill>
              </a:rPr>
              <a:t> </a:t>
            </a:r>
            <a:r>
              <a:rPr lang="en-US" altLang="zh-TW" sz="2000" b="1">
                <a:solidFill>
                  <a:schemeClr val="bg1"/>
                </a:solidFill>
              </a:rPr>
              <a:t>CS</a:t>
            </a:r>
            <a:endParaRPr lang="zh-TW" altLang="en-US" sz="2000" b="1">
              <a:solidFill>
                <a:schemeClr val="bg1"/>
              </a:solidFill>
            </a:endParaRPr>
          </a:p>
        </p:txBody>
      </p:sp>
      <p:sp>
        <p:nvSpPr>
          <p:cNvPr id="21" name="投影片編號版面配置區 2">
            <a:extLst>
              <a:ext uri="{FF2B5EF4-FFF2-40B4-BE49-F238E27FC236}">
                <a16:creationId xmlns:a16="http://schemas.microsoft.com/office/drawing/2014/main" id="{517DF8D6-C4BC-4E21-9B65-9590C89D2A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897FC"/>
                </a:solidFill>
              </a:defRPr>
            </a:lvl1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EF5F67F-08F8-4CC5-8596-85E70AD004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29" y="90388"/>
            <a:ext cx="748002" cy="98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自訂版面配置">
    <p:bg>
      <p:bgPr>
        <a:gradFill>
          <a:gsLst>
            <a:gs pos="35000">
              <a:schemeClr val="bg1"/>
            </a:gs>
            <a:gs pos="1000">
              <a:srgbClr val="EBFAFF"/>
            </a:gs>
            <a:gs pos="99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6A70634B-7819-4B1D-9976-5401A810A58E}"/>
              </a:ext>
            </a:extLst>
          </p:cNvPr>
          <p:cNvSpPr/>
          <p:nvPr userDrawn="1"/>
        </p:nvSpPr>
        <p:spPr bwMode="auto">
          <a:xfrm>
            <a:off x="0" y="6453336"/>
            <a:ext cx="12192000" cy="404664"/>
          </a:xfrm>
          <a:prstGeom prst="rect">
            <a:avLst/>
          </a:prstGeom>
          <a:gradFill flip="none"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endParaRPr lang="zh-TW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C28F3D0-8FF2-487D-80CA-89CB32A0D276}"/>
              </a:ext>
            </a:extLst>
          </p:cNvPr>
          <p:cNvSpPr txBox="1"/>
          <p:nvPr userDrawn="1"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TW" sz="2000" b="1">
                <a:solidFill>
                  <a:schemeClr val="bg1"/>
                </a:solidFill>
              </a:rPr>
              <a:t>NYCU</a:t>
            </a:r>
            <a:r>
              <a:rPr lang="zh-TW" altLang="en-US" sz="2000" b="1">
                <a:solidFill>
                  <a:schemeClr val="bg1"/>
                </a:solidFill>
              </a:rPr>
              <a:t> </a:t>
            </a:r>
            <a:r>
              <a:rPr lang="en-US" altLang="zh-TW" sz="2000" b="1">
                <a:solidFill>
                  <a:schemeClr val="bg1"/>
                </a:solidFill>
              </a:rPr>
              <a:t>CS</a:t>
            </a:r>
            <a:endParaRPr lang="zh-TW" altLang="en-US" sz="2000" b="1">
              <a:solidFill>
                <a:schemeClr val="bg1"/>
              </a:solidFill>
            </a:endParaRPr>
          </a:p>
        </p:txBody>
      </p:sp>
      <p:sp>
        <p:nvSpPr>
          <p:cNvPr id="21" name="投影片編號版面配置區 2">
            <a:extLst>
              <a:ext uri="{FF2B5EF4-FFF2-40B4-BE49-F238E27FC236}">
                <a16:creationId xmlns:a16="http://schemas.microsoft.com/office/drawing/2014/main" id="{517DF8D6-C4BC-4E21-9B65-9590C89D2A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897FC"/>
                </a:solidFill>
              </a:defRPr>
            </a:lvl1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421CDF80-58F9-40AD-A894-72E38B717567}"/>
              </a:ext>
            </a:extLst>
          </p:cNvPr>
          <p:cNvGrpSpPr/>
          <p:nvPr userDrawn="1"/>
        </p:nvGrpSpPr>
        <p:grpSpPr>
          <a:xfrm>
            <a:off x="695400" y="985047"/>
            <a:ext cx="10940873" cy="211705"/>
            <a:chOff x="3059832" y="779171"/>
            <a:chExt cx="3816424" cy="345573"/>
          </a:xfrm>
        </p:grpSpPr>
        <p:sp>
          <p:nvSpPr>
            <p:cNvPr id="8" name="弧形 7">
              <a:extLst>
                <a:ext uri="{FF2B5EF4-FFF2-40B4-BE49-F238E27FC236}">
                  <a16:creationId xmlns:a16="http://schemas.microsoft.com/office/drawing/2014/main" id="{B0D921CC-6E9E-9736-56F4-1FACE8D5A904}"/>
                </a:ext>
              </a:extLst>
            </p:cNvPr>
            <p:cNvSpPr/>
            <p:nvPr userDrawn="1"/>
          </p:nvSpPr>
          <p:spPr bwMode="auto">
            <a:xfrm>
              <a:off x="3059832" y="836712"/>
              <a:ext cx="3816424" cy="28803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24830C6-10FC-8690-4E44-34E0175936F9}"/>
                </a:ext>
              </a:extLst>
            </p:cNvPr>
            <p:cNvSpPr/>
            <p:nvPr userDrawn="1"/>
          </p:nvSpPr>
          <p:spPr bwMode="auto">
            <a:xfrm>
              <a:off x="3059832" y="779171"/>
              <a:ext cx="1908212" cy="144016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65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</p:grp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55A07BFF-CF99-95A1-3418-CBD8C916E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9575" y="1073275"/>
            <a:ext cx="7488833" cy="5380061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  <a:endParaRPr lang="en-US" altLang="zh-TW"/>
          </a:p>
          <a:p>
            <a:pPr lvl="4"/>
            <a:r>
              <a:rPr lang="zh-TW" altLang="en-US"/>
              <a:t>第五層</a:t>
            </a:r>
            <a:endParaRPr lang="en-US" altLang="zh-TW"/>
          </a:p>
          <a:p>
            <a:pPr lvl="4"/>
            <a:endParaRPr lang="en-US" altLang="zh-TW"/>
          </a:p>
          <a:p>
            <a:pPr lvl="4"/>
            <a:endParaRPr lang="zh-TW" altLang="en-US"/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00A0E83E-3A5B-7BA3-3D72-4679DA5C2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61320"/>
            <a:ext cx="10081121" cy="914353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lang="zh-TW" altLang="en-US" sz="3600" b="1" dirty="0">
                <a:solidFill>
                  <a:srgbClr val="3297FC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700514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自訂版面配置">
    <p:bg>
      <p:bgPr>
        <a:gradFill>
          <a:gsLst>
            <a:gs pos="35000">
              <a:schemeClr val="bg1"/>
            </a:gs>
            <a:gs pos="1000">
              <a:srgbClr val="EBFAFF"/>
            </a:gs>
            <a:gs pos="99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99456" y="61320"/>
            <a:ext cx="10009113" cy="986361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lang="zh-TW" altLang="en-US" sz="3600" b="1" dirty="0">
                <a:solidFill>
                  <a:srgbClr val="3297FC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grpSp>
        <p:nvGrpSpPr>
          <p:cNvPr id="5" name="群組 4"/>
          <p:cNvGrpSpPr/>
          <p:nvPr userDrawn="1"/>
        </p:nvGrpSpPr>
        <p:grpSpPr>
          <a:xfrm>
            <a:off x="695400" y="1057055"/>
            <a:ext cx="10940873" cy="211705"/>
            <a:chOff x="3059832" y="779171"/>
            <a:chExt cx="3816424" cy="345573"/>
          </a:xfrm>
        </p:grpSpPr>
        <p:sp>
          <p:nvSpPr>
            <p:cNvPr id="6" name="弧形 5"/>
            <p:cNvSpPr/>
            <p:nvPr userDrawn="1"/>
          </p:nvSpPr>
          <p:spPr bwMode="auto">
            <a:xfrm>
              <a:off x="3059832" y="836712"/>
              <a:ext cx="3816424" cy="28803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  <p:sp>
          <p:nvSpPr>
            <p:cNvPr id="7" name="矩形 6"/>
            <p:cNvSpPr/>
            <p:nvPr userDrawn="1"/>
          </p:nvSpPr>
          <p:spPr bwMode="auto">
            <a:xfrm>
              <a:off x="3059832" y="779171"/>
              <a:ext cx="1908212" cy="144016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65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6A70634B-7819-4B1D-9976-5401A810A58E}"/>
              </a:ext>
            </a:extLst>
          </p:cNvPr>
          <p:cNvSpPr/>
          <p:nvPr userDrawn="1"/>
        </p:nvSpPr>
        <p:spPr bwMode="auto">
          <a:xfrm>
            <a:off x="0" y="6453336"/>
            <a:ext cx="12192000" cy="404664"/>
          </a:xfrm>
          <a:prstGeom prst="rect">
            <a:avLst/>
          </a:prstGeom>
          <a:gradFill flip="none"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endParaRPr lang="zh-TW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C28F3D0-8FF2-487D-80CA-89CB32A0D276}"/>
              </a:ext>
            </a:extLst>
          </p:cNvPr>
          <p:cNvSpPr txBox="1"/>
          <p:nvPr userDrawn="1"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TW" sz="2000" b="1">
                <a:solidFill>
                  <a:schemeClr val="bg1"/>
                </a:solidFill>
              </a:rPr>
              <a:t>NYCU</a:t>
            </a:r>
            <a:r>
              <a:rPr lang="zh-TW" altLang="en-US" sz="2000" b="1">
                <a:solidFill>
                  <a:schemeClr val="bg1"/>
                </a:solidFill>
              </a:rPr>
              <a:t> </a:t>
            </a:r>
            <a:r>
              <a:rPr lang="en-US" altLang="zh-TW" sz="2000" b="1">
                <a:solidFill>
                  <a:schemeClr val="bg1"/>
                </a:solidFill>
              </a:rPr>
              <a:t>CS</a:t>
            </a:r>
            <a:endParaRPr lang="zh-TW" altLang="en-US" sz="2000" b="1">
              <a:solidFill>
                <a:schemeClr val="bg1"/>
              </a:solidFill>
            </a:endParaRPr>
          </a:p>
        </p:txBody>
      </p:sp>
      <p:sp>
        <p:nvSpPr>
          <p:cNvPr id="21" name="投影片編號版面配置區 2">
            <a:extLst>
              <a:ext uri="{FF2B5EF4-FFF2-40B4-BE49-F238E27FC236}">
                <a16:creationId xmlns:a16="http://schemas.microsoft.com/office/drawing/2014/main" id="{517DF8D6-C4BC-4E21-9B65-9590C89D2A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897FC"/>
                </a:solidFill>
              </a:defRPr>
            </a:lvl1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0C09CF02-B3DC-456E-87E8-DDD2D6468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14" y="1073275"/>
            <a:ext cx="5436000" cy="5413072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  <a:endParaRPr lang="en-US" altLang="zh-TW"/>
          </a:p>
          <a:p>
            <a:pPr lvl="4"/>
            <a:r>
              <a:rPr lang="zh-TW" altLang="en-US"/>
              <a:t>第五層</a:t>
            </a:r>
            <a:endParaRPr lang="en-US" altLang="zh-TW"/>
          </a:p>
          <a:p>
            <a:pPr lvl="4"/>
            <a:endParaRPr lang="en-US" altLang="zh-TW"/>
          </a:p>
          <a:p>
            <a:pPr lvl="4"/>
            <a:endParaRPr lang="zh-TW" altLang="en-US"/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7E132FCA-432C-41E3-B712-99F4F3BE5C3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2615" y="1073275"/>
            <a:ext cx="5436000" cy="5413072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  <a:endParaRPr lang="en-US" altLang="zh-TW"/>
          </a:p>
          <a:p>
            <a:pPr lvl="4"/>
            <a:r>
              <a:rPr lang="zh-TW" altLang="en-US"/>
              <a:t>第五層</a:t>
            </a:r>
            <a:endParaRPr lang="en-US" altLang="zh-TW"/>
          </a:p>
          <a:p>
            <a:pPr lvl="4"/>
            <a:endParaRPr lang="en-US" altLang="zh-TW"/>
          </a:p>
          <a:p>
            <a:pPr lvl="4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0134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-168696" y="0"/>
            <a:ext cx="12457384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FontTx/>
              <a:buNone/>
              <a:defRPr baseline="0"/>
            </a:lvl1pPr>
          </a:lstStyle>
          <a:p>
            <a:pPr lvl="0"/>
            <a:endParaRPr lang="zh-TW" altLang="en-US" noProof="0"/>
          </a:p>
        </p:txBody>
      </p:sp>
      <p:pic>
        <p:nvPicPr>
          <p:cNvPr id="8" name="圖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2636912"/>
          </a:xfrm>
          <a:prstGeom prst="rect">
            <a:avLst/>
          </a:prstGeom>
          <a:gradFill>
            <a:gsLst>
              <a:gs pos="29000">
                <a:schemeClr val="bg1"/>
              </a:gs>
              <a:gs pos="1000">
                <a:srgbClr val="EBFAFF"/>
              </a:gs>
              <a:gs pos="99000">
                <a:srgbClr val="EBFAFF"/>
              </a:gs>
            </a:gsLst>
            <a:lin ang="5400000" scaled="1"/>
          </a:gradFill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41" y="6031898"/>
            <a:ext cx="744083" cy="691468"/>
          </a:xfrm>
          <a:prstGeom prst="rect">
            <a:avLst/>
          </a:prstGeom>
        </p:spPr>
      </p:pic>
      <p:grpSp>
        <p:nvGrpSpPr>
          <p:cNvPr id="6" name="群組 5"/>
          <p:cNvGrpSpPr/>
          <p:nvPr userDrawn="1"/>
        </p:nvGrpSpPr>
        <p:grpSpPr>
          <a:xfrm>
            <a:off x="239350" y="2384670"/>
            <a:ext cx="11823133" cy="468267"/>
            <a:chOff x="179512" y="2384669"/>
            <a:chExt cx="9001001" cy="468267"/>
          </a:xfrm>
        </p:grpSpPr>
        <p:sp>
          <p:nvSpPr>
            <p:cNvPr id="3" name="弧形 2"/>
            <p:cNvSpPr/>
            <p:nvPr userDrawn="1"/>
          </p:nvSpPr>
          <p:spPr bwMode="auto">
            <a:xfrm>
              <a:off x="179512" y="2392274"/>
              <a:ext cx="9001001" cy="46066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6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  <p:sp>
          <p:nvSpPr>
            <p:cNvPr id="15" name="矩形 14"/>
            <p:cNvSpPr/>
            <p:nvPr userDrawn="1"/>
          </p:nvSpPr>
          <p:spPr bwMode="auto">
            <a:xfrm>
              <a:off x="313163" y="2384669"/>
              <a:ext cx="4402853" cy="230331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82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6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</p:grpSp>
      <p:pic>
        <p:nvPicPr>
          <p:cNvPr id="13" name="圖片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435" y="6494238"/>
            <a:ext cx="3072341" cy="175123"/>
          </a:xfrm>
          <a:prstGeom prst="rect">
            <a:avLst/>
          </a:prstGeom>
        </p:spPr>
      </p:pic>
      <p:sp>
        <p:nvSpPr>
          <p:cNvPr id="16" name="標題 15"/>
          <p:cNvSpPr>
            <a:spLocks noGrp="1"/>
          </p:cNvSpPr>
          <p:nvPr>
            <p:ph type="title"/>
          </p:nvPr>
        </p:nvSpPr>
        <p:spPr>
          <a:xfrm>
            <a:off x="2351585" y="404664"/>
            <a:ext cx="8499855" cy="1987610"/>
          </a:xfrm>
        </p:spPr>
        <p:txBody>
          <a:bodyPr/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8" name="投影片編號版面配置區 2"/>
          <p:cNvSpPr>
            <a:spLocks noGrp="1"/>
          </p:cNvSpPr>
          <p:nvPr>
            <p:ph type="sldNum" sz="quarter" idx="10"/>
          </p:nvPr>
        </p:nvSpPr>
        <p:spPr>
          <a:xfrm>
            <a:off x="5996383" y="6400800"/>
            <a:ext cx="5764247" cy="34056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0070C0"/>
                </a:solidFill>
              </a:defRPr>
            </a:lvl1pPr>
          </a:lstStyle>
          <a:p>
            <a:pPr algn="r">
              <a:defRPr/>
            </a:pPr>
            <a:fld id="{DBC8A1ED-4F98-4D8C-81F6-271243F7D6B0}" type="slidenum">
              <a:rPr lang="en-US" altLang="zh-TW" smtClean="0"/>
              <a:pPr algn="r">
                <a:defRPr/>
              </a:pPr>
              <a:t>‹#›</a:t>
            </a:fld>
            <a:endParaRPr lang="en-US" altLang="zh-TW"/>
          </a:p>
        </p:txBody>
      </p:sp>
      <p:pic>
        <p:nvPicPr>
          <p:cNvPr id="17" name="圖片 1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26" y="313292"/>
            <a:ext cx="2288045" cy="1716034"/>
          </a:xfrm>
          <a:prstGeom prst="rect">
            <a:avLst/>
          </a:prstGeom>
        </p:spPr>
      </p:pic>
      <p:pic>
        <p:nvPicPr>
          <p:cNvPr id="37" name="內容版面配置區 8">
            <a:extLst>
              <a:ext uri="{FF2B5EF4-FFF2-40B4-BE49-F238E27FC236}">
                <a16:creationId xmlns:a16="http://schemas.microsoft.com/office/drawing/2014/main" id="{2122885E-05D8-75E4-94FE-00CFFD5434A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69" y="3482726"/>
            <a:ext cx="1780748" cy="1780748"/>
          </a:xfrm>
          <a:prstGeom prst="rect">
            <a:avLst/>
          </a:prstGeom>
          <a:ln>
            <a:noFill/>
          </a:ln>
        </p:spPr>
      </p:pic>
      <p:sp>
        <p:nvSpPr>
          <p:cNvPr id="38" name="投影片編號版面配置區 3">
            <a:extLst>
              <a:ext uri="{FF2B5EF4-FFF2-40B4-BE49-F238E27FC236}">
                <a16:creationId xmlns:a16="http://schemas.microsoft.com/office/drawing/2014/main" id="{DF466200-392C-65E3-24F7-5A9C049CE880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0532888" y="6486346"/>
            <a:ext cx="1467768" cy="327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rgbClr val="3297FC"/>
                </a:solidFill>
                <a:latin typeface="Calibri" pitchFamily="34" charset="0"/>
                <a:ea typeface="新細明體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9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pic>
        <p:nvPicPr>
          <p:cNvPr id="39" name="圖片 40">
            <a:extLst>
              <a:ext uri="{FF2B5EF4-FFF2-40B4-BE49-F238E27FC236}">
                <a16:creationId xmlns:a16="http://schemas.microsoft.com/office/drawing/2014/main" id="{0E8E7785-8091-8394-CEAD-5BACCA4D2DB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alphaModFix amt="13000"/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6000"/>
                    </a14:imgEffect>
                    <a14:imgEffect>
                      <a14:brightnessContrast bright="-1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7487" y="2612053"/>
            <a:ext cx="3194160" cy="3194160"/>
          </a:xfrm>
          <a:prstGeom prst="rect">
            <a:avLst/>
          </a:prstGeom>
        </p:spPr>
      </p:pic>
      <p:pic>
        <p:nvPicPr>
          <p:cNvPr id="40" name="圖片 39">
            <a:extLst>
              <a:ext uri="{FF2B5EF4-FFF2-40B4-BE49-F238E27FC236}">
                <a16:creationId xmlns:a16="http://schemas.microsoft.com/office/drawing/2014/main" id="{DEC9B6E5-2D2D-6568-021C-A72C5D17D5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screen">
            <a:alphaModFix amt="50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1412" y="3895847"/>
            <a:ext cx="1384853" cy="559839"/>
          </a:xfrm>
          <a:prstGeom prst="rect">
            <a:avLst/>
          </a:prstGeom>
        </p:spPr>
      </p:pic>
      <p:pic>
        <p:nvPicPr>
          <p:cNvPr id="41" name="圖片 40">
            <a:extLst>
              <a:ext uri="{FF2B5EF4-FFF2-40B4-BE49-F238E27FC236}">
                <a16:creationId xmlns:a16="http://schemas.microsoft.com/office/drawing/2014/main" id="{49349CCB-701E-8584-B7DF-5BF9423B3D15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9963" y="724402"/>
            <a:ext cx="5519186" cy="1790893"/>
          </a:xfrm>
          <a:prstGeom prst="rect">
            <a:avLst/>
          </a:prstGeom>
        </p:spPr>
      </p:pic>
      <p:pic>
        <p:nvPicPr>
          <p:cNvPr id="42" name="圖片 41">
            <a:extLst>
              <a:ext uri="{FF2B5EF4-FFF2-40B4-BE49-F238E27FC236}">
                <a16:creationId xmlns:a16="http://schemas.microsoft.com/office/drawing/2014/main" id="{1F58FCCB-DFF4-14D3-E2B8-71B86B2C50FC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0" y="4513036"/>
            <a:ext cx="5294387" cy="2161036"/>
          </a:xfrm>
          <a:prstGeom prst="rect">
            <a:avLst/>
          </a:prstGeom>
        </p:spPr>
      </p:pic>
      <p:pic>
        <p:nvPicPr>
          <p:cNvPr id="43" name="圖片 42">
            <a:extLst>
              <a:ext uri="{FF2B5EF4-FFF2-40B4-BE49-F238E27FC236}">
                <a16:creationId xmlns:a16="http://schemas.microsoft.com/office/drawing/2014/main" id="{0E45362D-D028-82B2-41FB-F0FBD7F2E64A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7018" y="-256740"/>
            <a:ext cx="3267225" cy="2659163"/>
          </a:xfrm>
          <a:prstGeom prst="rect">
            <a:avLst/>
          </a:prstGeom>
        </p:spPr>
      </p:pic>
      <p:pic>
        <p:nvPicPr>
          <p:cNvPr id="44" name="圖片 43">
            <a:extLst>
              <a:ext uri="{FF2B5EF4-FFF2-40B4-BE49-F238E27FC236}">
                <a16:creationId xmlns:a16="http://schemas.microsoft.com/office/drawing/2014/main" id="{ABC47A67-63EF-ECB7-B17A-A6C95977A83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2819" y="12732"/>
            <a:ext cx="2857143" cy="1038095"/>
          </a:xfrm>
          <a:prstGeom prst="rect">
            <a:avLst/>
          </a:prstGeom>
        </p:spPr>
      </p:pic>
      <p:pic>
        <p:nvPicPr>
          <p:cNvPr id="45" name="圖片 44">
            <a:extLst>
              <a:ext uri="{FF2B5EF4-FFF2-40B4-BE49-F238E27FC236}">
                <a16:creationId xmlns:a16="http://schemas.microsoft.com/office/drawing/2014/main" id="{841066ED-F7BF-449F-95E7-021F43B813BE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1247" y="570852"/>
            <a:ext cx="2857143" cy="1038095"/>
          </a:xfrm>
          <a:prstGeom prst="rect">
            <a:avLst/>
          </a:prstGeom>
        </p:spPr>
      </p:pic>
      <p:pic>
        <p:nvPicPr>
          <p:cNvPr id="46" name="圖片 45">
            <a:extLst>
              <a:ext uri="{FF2B5EF4-FFF2-40B4-BE49-F238E27FC236}">
                <a16:creationId xmlns:a16="http://schemas.microsoft.com/office/drawing/2014/main" id="{5A681821-CA6B-2F1F-4D63-4FE57DDB05FD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358" y="3052990"/>
            <a:ext cx="2857143" cy="1685714"/>
          </a:xfrm>
          <a:prstGeom prst="rect">
            <a:avLst/>
          </a:prstGeom>
        </p:spPr>
      </p:pic>
      <p:pic>
        <p:nvPicPr>
          <p:cNvPr id="47" name="圖片 46">
            <a:extLst>
              <a:ext uri="{FF2B5EF4-FFF2-40B4-BE49-F238E27FC236}">
                <a16:creationId xmlns:a16="http://schemas.microsoft.com/office/drawing/2014/main" id="{3B9C6066-2027-C2C7-15D3-7FC7466C63BC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0091" y="2801331"/>
            <a:ext cx="2857143" cy="1676190"/>
          </a:xfrm>
          <a:prstGeom prst="rect">
            <a:avLst/>
          </a:prstGeom>
        </p:spPr>
      </p:pic>
      <p:pic>
        <p:nvPicPr>
          <p:cNvPr id="48" name="圖片 47">
            <a:extLst>
              <a:ext uri="{FF2B5EF4-FFF2-40B4-BE49-F238E27FC236}">
                <a16:creationId xmlns:a16="http://schemas.microsoft.com/office/drawing/2014/main" id="{E4BD9A39-E09F-E84A-803F-FA6AFCCE300A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321" y="1776109"/>
            <a:ext cx="4548591" cy="773260"/>
          </a:xfrm>
          <a:prstGeom prst="rect">
            <a:avLst/>
          </a:prstGeom>
        </p:spPr>
      </p:pic>
      <p:pic>
        <p:nvPicPr>
          <p:cNvPr id="49" name="圖片 48">
            <a:extLst>
              <a:ext uri="{FF2B5EF4-FFF2-40B4-BE49-F238E27FC236}">
                <a16:creationId xmlns:a16="http://schemas.microsoft.com/office/drawing/2014/main" id="{0D5ADA81-88A9-236E-081E-C9184AD63987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9285" y="2811286"/>
            <a:ext cx="2857143" cy="485714"/>
          </a:xfrm>
          <a:prstGeom prst="rect">
            <a:avLst/>
          </a:prstGeom>
        </p:spPr>
      </p:pic>
      <p:pic>
        <p:nvPicPr>
          <p:cNvPr id="50" name="圖片 49">
            <a:extLst>
              <a:ext uri="{FF2B5EF4-FFF2-40B4-BE49-F238E27FC236}">
                <a16:creationId xmlns:a16="http://schemas.microsoft.com/office/drawing/2014/main" id="{A2762F2D-38F4-C712-7396-07F56338F304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934" y="2358950"/>
            <a:ext cx="2857143" cy="485714"/>
          </a:xfrm>
          <a:prstGeom prst="rect">
            <a:avLst/>
          </a:prstGeom>
        </p:spPr>
      </p:pic>
      <p:pic>
        <p:nvPicPr>
          <p:cNvPr id="51" name="圖片 50">
            <a:extLst>
              <a:ext uri="{FF2B5EF4-FFF2-40B4-BE49-F238E27FC236}">
                <a16:creationId xmlns:a16="http://schemas.microsoft.com/office/drawing/2014/main" id="{BE3C119C-8C68-F469-ACAF-F1BF1F15FB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1" cstate="screen">
            <a:alphaModFix amt="50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73492" y="1737008"/>
            <a:ext cx="1384853" cy="559839"/>
          </a:xfrm>
          <a:prstGeom prst="rect">
            <a:avLst/>
          </a:prstGeom>
        </p:spPr>
      </p:pic>
      <p:pic>
        <p:nvPicPr>
          <p:cNvPr id="52" name="圖片 51">
            <a:extLst>
              <a:ext uri="{FF2B5EF4-FFF2-40B4-BE49-F238E27FC236}">
                <a16:creationId xmlns:a16="http://schemas.microsoft.com/office/drawing/2014/main" id="{6EF04522-E896-5DCD-15D0-C8281B1E7C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3346" y="2587377"/>
            <a:ext cx="3581646" cy="857145"/>
          </a:xfrm>
          <a:prstGeom prst="rect">
            <a:avLst/>
          </a:prstGeom>
        </p:spPr>
      </p:pic>
      <p:pic>
        <p:nvPicPr>
          <p:cNvPr id="53" name="Picture 6">
            <a:extLst>
              <a:ext uri="{FF2B5EF4-FFF2-40B4-BE49-F238E27FC236}">
                <a16:creationId xmlns:a16="http://schemas.microsoft.com/office/drawing/2014/main" id="{542166DF-5BBB-EDF8-6282-B67BC1F7780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1893" y="28689"/>
            <a:ext cx="2057400" cy="43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內容版面配置區 6">
            <a:extLst>
              <a:ext uri="{FF2B5EF4-FFF2-40B4-BE49-F238E27FC236}">
                <a16:creationId xmlns:a16="http://schemas.microsoft.com/office/drawing/2014/main" id="{40600C12-2EC4-60DB-AA10-2635B9974081}"/>
              </a:ext>
            </a:extLst>
          </p:cNvPr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89804" y="3747453"/>
            <a:ext cx="1780748" cy="1449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5" name="圖片 54">
            <a:extLst>
              <a:ext uri="{FF2B5EF4-FFF2-40B4-BE49-F238E27FC236}">
                <a16:creationId xmlns:a16="http://schemas.microsoft.com/office/drawing/2014/main" id="{6F1FDCF9-FA52-0752-74AB-1CC7F082BD06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2018" y="5555946"/>
            <a:ext cx="4464865" cy="1450162"/>
          </a:xfrm>
          <a:prstGeom prst="rect">
            <a:avLst/>
          </a:prstGeom>
        </p:spPr>
      </p:pic>
      <p:pic>
        <p:nvPicPr>
          <p:cNvPr id="56" name="圖片 55">
            <a:extLst>
              <a:ext uri="{FF2B5EF4-FFF2-40B4-BE49-F238E27FC236}">
                <a16:creationId xmlns:a16="http://schemas.microsoft.com/office/drawing/2014/main" id="{ECD855AD-A188-D336-6117-45E706786A91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962" y="1398469"/>
            <a:ext cx="1655674" cy="1655674"/>
          </a:xfrm>
          <a:prstGeom prst="rect">
            <a:avLst/>
          </a:prstGeom>
        </p:spPr>
      </p:pic>
      <p:pic>
        <p:nvPicPr>
          <p:cNvPr id="57" name="圖片 56">
            <a:extLst>
              <a:ext uri="{FF2B5EF4-FFF2-40B4-BE49-F238E27FC236}">
                <a16:creationId xmlns:a16="http://schemas.microsoft.com/office/drawing/2014/main" id="{D55E4372-823B-EBF1-331A-F77B73AE1184}"/>
              </a:ext>
            </a:extLst>
          </p:cNvPr>
          <p:cNvPicPr>
            <a:picLocks noChangeAspect="1"/>
          </p:cNvPicPr>
          <p:nvPr userDrawn="1"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2482" y="4137768"/>
            <a:ext cx="5297435" cy="2164084"/>
          </a:xfrm>
          <a:prstGeom prst="rect">
            <a:avLst/>
          </a:prstGeom>
        </p:spPr>
      </p:pic>
      <p:sp>
        <p:nvSpPr>
          <p:cNvPr id="58" name="投影片編號版面配置區 3">
            <a:extLst>
              <a:ext uri="{FF2B5EF4-FFF2-40B4-BE49-F238E27FC236}">
                <a16:creationId xmlns:a16="http://schemas.microsoft.com/office/drawing/2014/main" id="{4DABA128-E4B3-79A0-7596-D65AAAF9918F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0532888" y="6486346"/>
            <a:ext cx="1467768" cy="327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kumimoji="1" sz="1200" b="1" kern="1200">
                <a:solidFill>
                  <a:srgbClr val="3897FC"/>
                </a:solidFill>
                <a:latin typeface="Calibri" pitchFamily="34" charset="0"/>
                <a:ea typeface="新細明體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9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pic>
        <p:nvPicPr>
          <p:cNvPr id="59" name="Picture 2">
            <a:extLst>
              <a:ext uri="{FF2B5EF4-FFF2-40B4-BE49-F238E27FC236}">
                <a16:creationId xmlns:a16="http://schemas.microsoft.com/office/drawing/2014/main" id="{F6A17462-81BA-86AE-5B92-E5910DC5168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740" b="20361"/>
          <a:stretch/>
        </p:blipFill>
        <p:spPr bwMode="auto">
          <a:xfrm>
            <a:off x="9574796" y="4458667"/>
            <a:ext cx="878200" cy="1041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文字方塊 59">
            <a:extLst>
              <a:ext uri="{FF2B5EF4-FFF2-40B4-BE49-F238E27FC236}">
                <a16:creationId xmlns:a16="http://schemas.microsoft.com/office/drawing/2014/main" id="{916D6B20-4977-0926-6E3E-29E2B4764824}"/>
              </a:ext>
            </a:extLst>
          </p:cNvPr>
          <p:cNvSpPr txBox="1"/>
          <p:nvPr userDrawn="1"/>
        </p:nvSpPr>
        <p:spPr>
          <a:xfrm>
            <a:off x="10544813" y="5593979"/>
            <a:ext cx="1364567" cy="338554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TW"/>
            </a:defPPr>
            <a:lvl1pPr algn="ctr" defTabSz="298884">
              <a:defRPr sz="16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電子</a:t>
            </a:r>
            <a:r>
              <a:rPr lang="en-US" altLang="zh-TW"/>
              <a:t>/</a:t>
            </a:r>
            <a:r>
              <a:rPr lang="zh-TW" altLang="en-US"/>
              <a:t>資通訊</a:t>
            </a: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0B17B164-B8B9-F99C-0F87-25F3F0E96004}"/>
              </a:ext>
            </a:extLst>
          </p:cNvPr>
          <p:cNvSpPr txBox="1"/>
          <p:nvPr userDrawn="1"/>
        </p:nvSpPr>
        <p:spPr>
          <a:xfrm>
            <a:off x="9306892" y="5593554"/>
            <a:ext cx="1146104" cy="338554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 defTabSz="298096"/>
            <a:r>
              <a:rPr lang="zh-TW" altLang="en-US" sz="16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生物醫學</a:t>
            </a:r>
          </a:p>
        </p:txBody>
      </p:sp>
      <p:pic>
        <p:nvPicPr>
          <p:cNvPr id="62" name="Picture 2">
            <a:extLst>
              <a:ext uri="{FF2B5EF4-FFF2-40B4-BE49-F238E27FC236}">
                <a16:creationId xmlns:a16="http://schemas.microsoft.com/office/drawing/2014/main" id="{6E72A5D3-8471-7E20-42DA-F0011DF0F38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35" b="20361"/>
          <a:stretch/>
        </p:blipFill>
        <p:spPr bwMode="auto">
          <a:xfrm>
            <a:off x="10702093" y="4447943"/>
            <a:ext cx="943786" cy="1041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9003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512271" y="332658"/>
            <a:ext cx="9672295" cy="201622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pic>
        <p:nvPicPr>
          <p:cNvPr id="4" name="圖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50" y="692696"/>
            <a:ext cx="2208245" cy="1656184"/>
          </a:xfrm>
          <a:prstGeom prst="rect">
            <a:avLst/>
          </a:prstGeom>
        </p:spPr>
      </p:pic>
      <p:grpSp>
        <p:nvGrpSpPr>
          <p:cNvPr id="5" name="群組 4"/>
          <p:cNvGrpSpPr/>
          <p:nvPr userDrawn="1"/>
        </p:nvGrpSpPr>
        <p:grpSpPr>
          <a:xfrm>
            <a:off x="239350" y="2384670"/>
            <a:ext cx="11823133" cy="468267"/>
            <a:chOff x="179512" y="2384669"/>
            <a:chExt cx="9001001" cy="468267"/>
          </a:xfrm>
        </p:grpSpPr>
        <p:sp>
          <p:nvSpPr>
            <p:cNvPr id="6" name="弧形 5"/>
            <p:cNvSpPr/>
            <p:nvPr userDrawn="1"/>
          </p:nvSpPr>
          <p:spPr bwMode="auto">
            <a:xfrm>
              <a:off x="179512" y="2392274"/>
              <a:ext cx="9001001" cy="46066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  <p:sp>
          <p:nvSpPr>
            <p:cNvPr id="7" name="矩形 6"/>
            <p:cNvSpPr/>
            <p:nvPr userDrawn="1"/>
          </p:nvSpPr>
          <p:spPr bwMode="auto">
            <a:xfrm>
              <a:off x="313163" y="2384669"/>
              <a:ext cx="4402853" cy="230331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82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</p:grpSp>
      <p:pic>
        <p:nvPicPr>
          <p:cNvPr id="8" name="圖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3347" y="131617"/>
            <a:ext cx="1608332" cy="1206249"/>
          </a:xfrm>
          <a:prstGeom prst="rect">
            <a:avLst/>
          </a:prstGeom>
        </p:spPr>
      </p:pic>
      <p:pic>
        <p:nvPicPr>
          <p:cNvPr id="9" name="Picture 2" descr="https://www.opennetworking.org/wp-content/uploads/2020/01/onos-project-logo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9419" y="1097909"/>
            <a:ext cx="1836205" cy="1200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E9F8CE37-B1E0-4720-88BF-53B472EC481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639558" y="260116"/>
            <a:ext cx="763654" cy="516816"/>
          </a:xfrm>
          <a:prstGeom prst="rect">
            <a:avLst/>
          </a:prstGeom>
        </p:spPr>
      </p:pic>
      <p:pic>
        <p:nvPicPr>
          <p:cNvPr id="13" name="Picture 1">
            <a:extLst>
              <a:ext uri="{FF2B5EF4-FFF2-40B4-BE49-F238E27FC236}">
                <a16:creationId xmlns:a16="http://schemas.microsoft.com/office/drawing/2014/main" id="{81B62479-AFD3-469A-AC36-FA6C40186D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59" t="66596" r="15166" b="12381"/>
          <a:stretch/>
        </p:blipFill>
        <p:spPr>
          <a:xfrm>
            <a:off x="9659898" y="1086876"/>
            <a:ext cx="2357572" cy="502313"/>
          </a:xfrm>
          <a:prstGeom prst="rect">
            <a:avLst/>
          </a:prstGeom>
        </p:spPr>
      </p:pic>
      <p:pic>
        <p:nvPicPr>
          <p:cNvPr id="14" name="Picture 7">
            <a:extLst>
              <a:ext uri="{FF2B5EF4-FFF2-40B4-BE49-F238E27FC236}">
                <a16:creationId xmlns:a16="http://schemas.microsoft.com/office/drawing/2014/main" id="{D7318425-D02C-4E97-8E8F-BFD8B625F6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39" t="12188" r="37496" b="40370"/>
          <a:stretch/>
        </p:blipFill>
        <p:spPr>
          <a:xfrm>
            <a:off x="10954719" y="1776166"/>
            <a:ext cx="1031919" cy="1121649"/>
          </a:xfrm>
          <a:prstGeom prst="rect">
            <a:avLst/>
          </a:prstGeom>
        </p:spPr>
      </p:pic>
      <p:pic>
        <p:nvPicPr>
          <p:cNvPr id="16" name="圖片 15" descr="一張含有 標誌, 象徵物, 圓形, 符號 的圖片&#10;&#10;AI 產生的內容可能不正確。">
            <a:extLst>
              <a:ext uri="{FF2B5EF4-FFF2-40B4-BE49-F238E27FC236}">
                <a16:creationId xmlns:a16="http://schemas.microsoft.com/office/drawing/2014/main" id="{703FB429-C776-F980-7DB1-DB8691AE7597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3354" y="2001708"/>
            <a:ext cx="4251969" cy="2161036"/>
          </a:xfrm>
          <a:prstGeom prst="rect">
            <a:avLst/>
          </a:prstGeom>
        </p:spPr>
      </p:pic>
      <p:pic>
        <p:nvPicPr>
          <p:cNvPr id="18" name="圖片 17" descr="一張含有 象徵物, 標誌, 符號, 商標 的圖片&#10;&#10;AI 產生的內容可能不正確。">
            <a:extLst>
              <a:ext uri="{FF2B5EF4-FFF2-40B4-BE49-F238E27FC236}">
                <a16:creationId xmlns:a16="http://schemas.microsoft.com/office/drawing/2014/main" id="{AAC617F7-CF04-885D-A0AB-4591EE3A761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821" y="671165"/>
            <a:ext cx="4251969" cy="2685293"/>
          </a:xfrm>
          <a:prstGeom prst="rect">
            <a:avLst/>
          </a:prstGeom>
        </p:spPr>
      </p:pic>
      <p:pic>
        <p:nvPicPr>
          <p:cNvPr id="20" name="圖片 19" descr="一張含有 標誌, 符號, 象徵物, 圓形 的圖片&#10;&#10;AI 產生的內容可能不正確。">
            <a:extLst>
              <a:ext uri="{FF2B5EF4-FFF2-40B4-BE49-F238E27FC236}">
                <a16:creationId xmlns:a16="http://schemas.microsoft.com/office/drawing/2014/main" id="{92841CED-E8C2-EAB6-4343-1A4183ACFB9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93909" y="4596692"/>
            <a:ext cx="4251969" cy="3206503"/>
          </a:xfrm>
          <a:prstGeom prst="rect">
            <a:avLst/>
          </a:prstGeom>
        </p:spPr>
      </p:pic>
      <p:pic>
        <p:nvPicPr>
          <p:cNvPr id="22" name="圖片 21" descr="一張含有 螢幕擷取畫面, 圓形, 標誌, 圖形 的圖片&#10;&#10;AI 產生的內容可能不正確。">
            <a:extLst>
              <a:ext uri="{FF2B5EF4-FFF2-40B4-BE49-F238E27FC236}">
                <a16:creationId xmlns:a16="http://schemas.microsoft.com/office/drawing/2014/main" id="{F8DD0F30-40FD-C55E-1FB3-2F2DDF89F24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5874" y="2190515"/>
            <a:ext cx="1883668" cy="4264161"/>
          </a:xfrm>
          <a:prstGeom prst="rect">
            <a:avLst/>
          </a:prstGeom>
        </p:spPr>
      </p:pic>
      <p:pic>
        <p:nvPicPr>
          <p:cNvPr id="24" name="圖片 23" descr="一張含有 文字, 螢幕擷取畫面, 名片, 字型 的圖片&#10;&#10;AI 產生的內容可能不正確。">
            <a:extLst>
              <a:ext uri="{FF2B5EF4-FFF2-40B4-BE49-F238E27FC236}">
                <a16:creationId xmlns:a16="http://schemas.microsoft.com/office/drawing/2014/main" id="{965396C6-B51B-DEC8-1DD3-6CB6B0E3BCF1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8638" y="2043643"/>
            <a:ext cx="1883668" cy="4264161"/>
          </a:xfrm>
          <a:prstGeom prst="rect">
            <a:avLst/>
          </a:prstGeom>
        </p:spPr>
      </p:pic>
      <p:pic>
        <p:nvPicPr>
          <p:cNvPr id="26" name="圖片 25" descr="一張含有 符號, 標誌, 圖形 的圖片&#10;&#10;AI 產生的內容可能不正確。">
            <a:extLst>
              <a:ext uri="{FF2B5EF4-FFF2-40B4-BE49-F238E27FC236}">
                <a16:creationId xmlns:a16="http://schemas.microsoft.com/office/drawing/2014/main" id="{91C45B9E-9573-A6DB-CA07-C6274ABCE69A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" y="3429000"/>
            <a:ext cx="5654052" cy="1155194"/>
          </a:xfrm>
          <a:prstGeom prst="rect">
            <a:avLst/>
          </a:prstGeom>
        </p:spPr>
      </p:pic>
      <p:pic>
        <p:nvPicPr>
          <p:cNvPr id="28" name="圖片 27" descr="一張含有 標誌, 象徵物, 符號, 圓形 的圖片&#10;&#10;AI 產生的內容可能不正確。">
            <a:extLst>
              <a:ext uri="{FF2B5EF4-FFF2-40B4-BE49-F238E27FC236}">
                <a16:creationId xmlns:a16="http://schemas.microsoft.com/office/drawing/2014/main" id="{B3CEEED4-6D53-621B-3DA8-BBCB49B1B0AB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3722" y="4390871"/>
            <a:ext cx="5294387" cy="2161036"/>
          </a:xfrm>
          <a:prstGeom prst="rect">
            <a:avLst/>
          </a:prstGeom>
        </p:spPr>
      </p:pic>
      <p:pic>
        <p:nvPicPr>
          <p:cNvPr id="30" name="圖片 29" descr="一張含有 圖形, 黑暗, 黑色, 標誌 的圖片&#10;&#10;AI 產生的內容可能不正確。">
            <a:extLst>
              <a:ext uri="{FF2B5EF4-FFF2-40B4-BE49-F238E27FC236}">
                <a16:creationId xmlns:a16="http://schemas.microsoft.com/office/drawing/2014/main" id="{74E53C83-D78A-7034-E5E2-5841F0388764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209" y="3532775"/>
            <a:ext cx="9214123" cy="1767844"/>
          </a:xfrm>
          <a:prstGeom prst="rect">
            <a:avLst/>
          </a:prstGeom>
        </p:spPr>
      </p:pic>
      <p:pic>
        <p:nvPicPr>
          <p:cNvPr id="32" name="圖片 31" descr="一張含有 圖形, 黑色, 黑暗, 標誌 的圖片&#10;&#10;AI 產生的內容可能不正確。">
            <a:extLst>
              <a:ext uri="{FF2B5EF4-FFF2-40B4-BE49-F238E27FC236}">
                <a16:creationId xmlns:a16="http://schemas.microsoft.com/office/drawing/2014/main" id="{E044F936-DF50-6819-B461-8A10350D4FA1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555" y="5783966"/>
            <a:ext cx="9214123" cy="176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092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71464" y="116633"/>
            <a:ext cx="10225136" cy="8640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480376" y="6400800"/>
            <a:ext cx="2187848" cy="340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3297FC"/>
                </a:solidFill>
                <a:ea typeface="新細明體" pitchFamily="18" charset="-120"/>
              </a:defRPr>
            </a:lvl1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814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b="1">
          <a:solidFill>
            <a:srgbClr val="3297FC"/>
          </a:solidFill>
          <a:latin typeface="Calibri" panose="020F0502020204030204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9pPr>
    </p:titleStyle>
    <p:bodyStyle>
      <a:lvl1pPr marL="268288" indent="-268288" algn="l" rtl="0" eaLnBrk="1" fontAlgn="base" hangingPunct="1">
        <a:spcBef>
          <a:spcPct val="20000"/>
        </a:spcBef>
        <a:spcAft>
          <a:spcPct val="0"/>
        </a:spcAft>
        <a:buClr>
          <a:srgbClr val="0070C0"/>
        </a:buClr>
        <a:buSzPct val="80000"/>
        <a:buFont typeface="Wingdings" panose="05000000000000000000" pitchFamily="2" charset="2"/>
        <a:buChar char="m"/>
        <a:defRPr kumimoji="1" sz="2400">
          <a:solidFill>
            <a:srgbClr val="3297FC"/>
          </a:solidFill>
          <a:latin typeface="Calibri" panose="020F0502020204030204" pitchFamily="34" charset="0"/>
          <a:ea typeface="+mn-ea"/>
          <a:cs typeface="+mn-cs"/>
        </a:defRPr>
      </a:lvl1pPr>
      <a:lvl2pPr marL="622300" indent="-285750" algn="l" rtl="0" eaLnBrk="1" fontAlgn="base" hangingPunct="1">
        <a:spcBef>
          <a:spcPct val="20000"/>
        </a:spcBef>
        <a:spcAft>
          <a:spcPct val="0"/>
        </a:spcAft>
        <a:buClr>
          <a:srgbClr val="0088EE"/>
        </a:buClr>
        <a:buSzPct val="80000"/>
        <a:buFont typeface="Wingdings" panose="05000000000000000000" pitchFamily="2" charset="2"/>
        <a:buChar char="l"/>
        <a:defRPr kumimoji="1" sz="2400">
          <a:solidFill>
            <a:srgbClr val="3297FC"/>
          </a:solidFill>
          <a:latin typeface="Calibri" panose="020F0502020204030204" pitchFamily="34" charset="0"/>
          <a:ea typeface="+mn-ea"/>
        </a:defRPr>
      </a:lvl2pPr>
      <a:lvl3pPr marL="892175" indent="-228600" algn="l" rtl="0" eaLnBrk="1" fontAlgn="base" hangingPunct="1">
        <a:spcBef>
          <a:spcPct val="20000"/>
        </a:spcBef>
        <a:spcAft>
          <a:spcPct val="0"/>
        </a:spcAft>
        <a:buClr>
          <a:srgbClr val="0088EE"/>
        </a:buClr>
        <a:buFont typeface="Calibri" panose="020F0502020204030204" pitchFamily="34" charset="0"/>
        <a:buChar char="–"/>
        <a:defRPr kumimoji="1" sz="2400">
          <a:solidFill>
            <a:srgbClr val="3297FC"/>
          </a:solidFill>
          <a:latin typeface="Calibri" panose="020F0502020204030204" pitchFamily="34" charset="0"/>
          <a:ea typeface="+mn-ea"/>
        </a:defRPr>
      </a:lvl3pPr>
      <a:lvl4pPr marL="1252538" indent="-228600" algn="l" rtl="0" eaLnBrk="1" fontAlgn="base" hangingPunct="1">
        <a:spcBef>
          <a:spcPct val="20000"/>
        </a:spcBef>
        <a:spcAft>
          <a:spcPct val="0"/>
        </a:spcAft>
        <a:buClr>
          <a:srgbClr val="0070C0"/>
        </a:buClr>
        <a:buSzPct val="80000"/>
        <a:buFont typeface="Wingdings" panose="05000000000000000000" pitchFamily="2" charset="2"/>
        <a:buChar char="§"/>
        <a:defRPr kumimoji="1" sz="2400">
          <a:solidFill>
            <a:srgbClr val="3297FC"/>
          </a:solidFill>
          <a:latin typeface="Calibri" panose="020F0502020204030204" pitchFamily="34" charset="0"/>
          <a:ea typeface="+mn-ea"/>
        </a:defRPr>
      </a:lvl4pPr>
      <a:lvl5pPr marL="1609725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400">
          <a:solidFill>
            <a:srgbClr val="3297FC"/>
          </a:solidFill>
          <a:latin typeface="Calibri" panose="020F0502020204030204" pitchFamily="34" charset="0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4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4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4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gi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>
            <a:extLst>
              <a:ext uri="{FF2B5EF4-FFF2-40B4-BE49-F238E27FC236}">
                <a16:creationId xmlns:a16="http://schemas.microsoft.com/office/drawing/2014/main" id="{C247BD64-C192-4702-9280-E11EA5FC83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spcBef>
                <a:spcPts val="600"/>
              </a:spcBef>
              <a:buNone/>
            </a:pPr>
            <a:r>
              <a:rPr b="1"/>
              <a:t>Professor Chien-Chao Tseng</a:t>
            </a:r>
          </a:p>
          <a:p>
            <a:pPr>
              <a:spcBef>
                <a:spcPts val="0"/>
              </a:spcBef>
              <a:buNone/>
            </a:pPr>
            <a:endParaRPr b="1"/>
          </a:p>
          <a:p>
            <a:pPr>
              <a:spcBef>
                <a:spcPts val="600"/>
              </a:spcBef>
              <a:buNone/>
            </a:pPr>
            <a:r>
              <a:rPr sz="2800"/>
              <a:t>Department of Computer Science</a:t>
            </a:r>
          </a:p>
          <a:p>
            <a:pPr>
              <a:spcBef>
                <a:spcPts val="0"/>
              </a:spcBef>
              <a:buNone/>
            </a:pPr>
            <a:r>
              <a:rPr sz="2800"/>
              <a:t>National Yang Ming Chiao Tung University</a:t>
            </a:r>
          </a:p>
          <a:p>
            <a:r>
              <a:rPr sz="2800"/>
              <a:t>cctseng@cs.nycu.edu.tw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DAF1884-810D-436A-AD5D-6FA4B9DEB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dirty="0" err="1"/>
              <a:t>AoA</a:t>
            </a:r>
            <a:r>
              <a:rPr sz="4000" dirty="0"/>
              <a:t>-Assisted Dynamic RTS Threshold Adaptation for Hidden-Node Risk Mitigation in</a:t>
            </a:r>
            <a:r>
              <a:rPr lang="en-US" sz="4000" dirty="0"/>
              <a:t> </a:t>
            </a:r>
            <a:r>
              <a:rPr sz="4000" dirty="0"/>
              <a:t>Wi-Fi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1B1769B-E868-4B1B-9BF6-7276D0D59F1F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AD75FED6-38D0-DE9C-92C0-6E7FA635581C}" type="slidenum">
              <a:rPr sz="1400"/>
              <a:t>1</a:t>
            </a:fld>
            <a:endParaRPr sz="1400"/>
          </a:p>
        </p:txBody>
      </p:sp>
    </p:spTree>
    <p:extLst>
      <p:ext uri="{BB962C8B-B14F-4D97-AF65-F5344CB8AC3E}">
        <p14:creationId xmlns:p14="http://schemas.microsoft.com/office/powerpoint/2010/main" val="3374181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?蔣?楊???ａ?蝵桀? 1">
            <a:extLst>
              <a:ext uri="{FF2B5EF4-FFF2-40B4-BE49-F238E27FC236}">
                <a16:creationId xmlns:a16="http://schemas.microsoft.com/office/drawing/2014/main" id="{7C687AF8-AF63-1728-2C7B-76B8DC1837D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E2598689-54C9-18A7-3A19-ED76AA08988F}" type="slidenum">
              <a:rPr sz="1400">
                <a:latin typeface="Times New Roman"/>
                <a:ea typeface="Times New Roman"/>
                <a:cs typeface="Times New Roman"/>
              </a:rPr>
              <a:t>2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?批捆??蔭? 2">
            <a:extLst>
              <a:ext uri="{FF2B5EF4-FFF2-40B4-BE49-F238E27FC236}">
                <a16:creationId xmlns:a16="http://schemas.microsoft.com/office/drawing/2014/main" id="{EFDF35B5-B6BD-325F-B271-EE420282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Introduction</a:t>
            </a:r>
          </a:p>
          <a:p>
            <a:r>
              <a:rPr dirty="0"/>
              <a:t>Background</a:t>
            </a:r>
          </a:p>
          <a:p>
            <a:r>
              <a:rPr lang="en-US" altLang="zh-TW" sz="2400" dirty="0"/>
              <a:t>AoA-Assisted Dynamic RTS Threshold Adaptation</a:t>
            </a:r>
          </a:p>
          <a:p>
            <a:r>
              <a:rPr dirty="0"/>
              <a:t>Evaluation</a:t>
            </a:r>
          </a:p>
          <a:p>
            <a:r>
              <a:rPr dirty="0"/>
              <a:t>Conclusion</a:t>
            </a:r>
          </a:p>
        </p:txBody>
      </p:sp>
      <p:sp>
        <p:nvSpPr>
          <p:cNvPr id="4" name="璅? 3">
            <a:extLst>
              <a:ext uri="{FF2B5EF4-FFF2-40B4-BE49-F238E27FC236}">
                <a16:creationId xmlns:a16="http://schemas.microsoft.com/office/drawing/2014/main" id="{363B54DA-5A57-63A3-3957-4A5B100F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2443002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?蔣?楊???ａ?蝵桀? 1">
            <a:extLst>
              <a:ext uri="{FF2B5EF4-FFF2-40B4-BE49-F238E27FC236}">
                <a16:creationId xmlns:a16="http://schemas.microsoft.com/office/drawing/2014/main" id="{7C687AF8-AF63-1728-2C7B-76B8DC1837D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202359C0-8A7A-196E-DD58-8E6569619F09}" type="slidenum">
              <a:rPr sz="1400">
                <a:latin typeface="Times New Roman"/>
                <a:ea typeface="Times New Roman"/>
                <a:cs typeface="Times New Roman"/>
              </a:rPr>
              <a:t>3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?批捆??蔭? 2">
            <a:extLst>
              <a:ext uri="{FF2B5EF4-FFF2-40B4-BE49-F238E27FC236}">
                <a16:creationId xmlns:a16="http://schemas.microsoft.com/office/drawing/2014/main" id="{EFDF35B5-B6BD-325F-B271-EE420282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Introduction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Background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AoA-Assisted Dynamic RTS Threshold Adaptation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Evaluation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Conclusion</a:t>
            </a:r>
          </a:p>
        </p:txBody>
      </p:sp>
      <p:sp>
        <p:nvSpPr>
          <p:cNvPr id="4" name="璅? 3">
            <a:extLst>
              <a:ext uri="{FF2B5EF4-FFF2-40B4-BE49-F238E27FC236}">
                <a16:creationId xmlns:a16="http://schemas.microsoft.com/office/drawing/2014/main" id="{363B54DA-5A57-63A3-3957-4A5B100F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2602916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3E4731-F479-499C-B7C2-9844D12AF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Hidden Nodes Problem</a:t>
            </a:r>
            <a:endParaRPr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AF4DB3-7A18-4C4D-BCB8-F507050E88E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EE5B3003-2C54-13C6-9832-7637201064DE}" type="slidenum">
              <a:rPr sz="1400">
                <a:latin typeface="Times New Roman"/>
                <a:ea typeface="Times New Roman"/>
                <a:cs typeface="Times New Roman"/>
              </a:rPr>
              <a:t>4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9" name="內容版面配置區 28">
            <a:extLst>
              <a:ext uri="{FF2B5EF4-FFF2-40B4-BE49-F238E27FC236}">
                <a16:creationId xmlns:a16="http://schemas.microsoft.com/office/drawing/2014/main" id="{EC4A2511-2262-99A8-5D5C-D5FDC2C77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</a:t>
            </a:r>
            <a:r>
              <a:rPr lang="zh-TW" altLang="zh-TW" dirty="0"/>
              <a:t>evices</a:t>
            </a:r>
            <a:r>
              <a:rPr lang="zh-TW" altLang="en-US" dirty="0"/>
              <a:t> </a:t>
            </a:r>
            <a:r>
              <a:rPr lang="zh-TW" altLang="zh-TW" dirty="0"/>
              <a:t>can communicate with AP but cannot detect each other</a:t>
            </a:r>
            <a:endParaRPr lang="en-US" altLang="zh-TW" dirty="0"/>
          </a:p>
          <a:p>
            <a:r>
              <a:rPr lang="zh-TW" altLang="zh-TW" dirty="0"/>
              <a:t>When they transmit at the same time, their signals collide at the AP</a:t>
            </a:r>
            <a:endParaRPr lang="en-US" altLang="zh-TW" dirty="0"/>
          </a:p>
          <a:p>
            <a:pPr lvl="1"/>
            <a:r>
              <a:rPr lang="en-US" altLang="zh-TW" dirty="0"/>
              <a:t>C</a:t>
            </a:r>
            <a:r>
              <a:rPr lang="zh-TW" altLang="zh-TW" dirty="0"/>
              <a:t>auses packet loss and lower throughput</a:t>
            </a:r>
            <a:endParaRPr lang="en-US" altLang="zh-TW" dirty="0"/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58B64D92-EB49-29A6-9035-D014E91FA694}"/>
              </a:ext>
            </a:extLst>
          </p:cNvPr>
          <p:cNvGrpSpPr/>
          <p:nvPr/>
        </p:nvGrpSpPr>
        <p:grpSpPr>
          <a:xfrm>
            <a:off x="3040250" y="2824942"/>
            <a:ext cx="6255516" cy="3356964"/>
            <a:chOff x="2864188" y="3407243"/>
            <a:chExt cx="6255516" cy="3356964"/>
          </a:xfrm>
        </p:grpSpPr>
        <p:grpSp>
          <p:nvGrpSpPr>
            <p:cNvPr id="31" name="群組 30">
              <a:extLst>
                <a:ext uri="{FF2B5EF4-FFF2-40B4-BE49-F238E27FC236}">
                  <a16:creationId xmlns:a16="http://schemas.microsoft.com/office/drawing/2014/main" id="{D0EADA24-3743-74BA-645B-C6278D8BAD57}"/>
                </a:ext>
              </a:extLst>
            </p:cNvPr>
            <p:cNvGrpSpPr/>
            <p:nvPr/>
          </p:nvGrpSpPr>
          <p:grpSpPr>
            <a:xfrm>
              <a:off x="2864188" y="3407243"/>
              <a:ext cx="6255516" cy="3356964"/>
              <a:chOff x="2864188" y="3407243"/>
              <a:chExt cx="6255516" cy="3356964"/>
            </a:xfrm>
          </p:grpSpPr>
          <p:pic>
            <p:nvPicPr>
              <p:cNvPr id="34" name="圖片 33">
                <a:extLst>
                  <a:ext uri="{FF2B5EF4-FFF2-40B4-BE49-F238E27FC236}">
                    <a16:creationId xmlns:a16="http://schemas.microsoft.com/office/drawing/2014/main" id="{BDAA1C12-72B9-53BC-1C4F-B9A924BC4A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06231" y="4621767"/>
                <a:ext cx="971430" cy="971430"/>
              </a:xfrm>
              <a:prstGeom prst="rect">
                <a:avLst/>
              </a:prstGeom>
            </p:spPr>
          </p:pic>
          <p:grpSp>
            <p:nvGrpSpPr>
              <p:cNvPr id="35" name="群組 34">
                <a:extLst>
                  <a:ext uri="{FF2B5EF4-FFF2-40B4-BE49-F238E27FC236}">
                    <a16:creationId xmlns:a16="http://schemas.microsoft.com/office/drawing/2014/main" id="{F8BA280E-0E0C-ECCF-D6EB-DA7A1E9D34BE}"/>
                  </a:ext>
                </a:extLst>
              </p:cNvPr>
              <p:cNvGrpSpPr/>
              <p:nvPr/>
            </p:nvGrpSpPr>
            <p:grpSpPr>
              <a:xfrm>
                <a:off x="2864188" y="3407243"/>
                <a:ext cx="3432558" cy="3356964"/>
                <a:chOff x="2177143" y="3429000"/>
                <a:chExt cx="3432558" cy="3356964"/>
              </a:xfrm>
            </p:grpSpPr>
            <p:pic>
              <p:nvPicPr>
                <p:cNvPr id="39" name="內容版面配置區 5">
                  <a:extLst>
                    <a:ext uri="{FF2B5EF4-FFF2-40B4-BE49-F238E27FC236}">
                      <a16:creationId xmlns:a16="http://schemas.microsoft.com/office/drawing/2014/main" id="{12B9C05F-1274-449C-48AB-9A5A7D87F2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75354" y="4611186"/>
                  <a:ext cx="1036137" cy="1036137"/>
                </a:xfrm>
                <a:prstGeom prst="rect">
                  <a:avLst/>
                </a:prstGeom>
                <a:noFill/>
              </p:spPr>
            </p:pic>
            <p:sp>
              <p:nvSpPr>
                <p:cNvPr id="40" name="橢圓 39">
                  <a:extLst>
                    <a:ext uri="{FF2B5EF4-FFF2-40B4-BE49-F238E27FC236}">
                      <a16:creationId xmlns:a16="http://schemas.microsoft.com/office/drawing/2014/main" id="{C55DFED3-7882-FEDB-5B4B-FB8C86E1C94F}"/>
                    </a:ext>
                  </a:extLst>
                </p:cNvPr>
                <p:cNvSpPr/>
                <p:nvPr/>
              </p:nvSpPr>
              <p:spPr>
                <a:xfrm>
                  <a:off x="2177143" y="3429000"/>
                  <a:ext cx="3432558" cy="3356964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06D5EDDB-F982-DEF1-450F-60BF56CFC58C}"/>
                  </a:ext>
                </a:extLst>
              </p:cNvPr>
              <p:cNvGrpSpPr/>
              <p:nvPr/>
            </p:nvGrpSpPr>
            <p:grpSpPr>
              <a:xfrm>
                <a:off x="5687146" y="3407243"/>
                <a:ext cx="3432558" cy="3356964"/>
                <a:chOff x="2177143" y="3429000"/>
                <a:chExt cx="3432558" cy="3356964"/>
              </a:xfrm>
            </p:grpSpPr>
            <p:pic>
              <p:nvPicPr>
                <p:cNvPr id="37" name="內容版面配置區 5">
                  <a:extLst>
                    <a:ext uri="{FF2B5EF4-FFF2-40B4-BE49-F238E27FC236}">
                      <a16:creationId xmlns:a16="http://schemas.microsoft.com/office/drawing/2014/main" id="{99FBA6D5-6A8D-784C-D1F5-56C116E9E0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75354" y="4611186"/>
                  <a:ext cx="1036137" cy="1036137"/>
                </a:xfrm>
                <a:prstGeom prst="rect">
                  <a:avLst/>
                </a:prstGeom>
                <a:noFill/>
              </p:spPr>
            </p:pic>
            <p:sp>
              <p:nvSpPr>
                <p:cNvPr id="38" name="橢圓 37">
                  <a:extLst>
                    <a:ext uri="{FF2B5EF4-FFF2-40B4-BE49-F238E27FC236}">
                      <a16:creationId xmlns:a16="http://schemas.microsoft.com/office/drawing/2014/main" id="{8162223E-F766-B1C2-69E0-0E85662F9FD8}"/>
                    </a:ext>
                  </a:extLst>
                </p:cNvPr>
                <p:cNvSpPr/>
                <p:nvPr/>
              </p:nvSpPr>
              <p:spPr>
                <a:xfrm>
                  <a:off x="2177143" y="3429000"/>
                  <a:ext cx="3432558" cy="3356964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</p:grpSp>
        <p:cxnSp>
          <p:nvCxnSpPr>
            <p:cNvPr id="32" name="直線接點 31">
              <a:extLst>
                <a:ext uri="{FF2B5EF4-FFF2-40B4-BE49-F238E27FC236}">
                  <a16:creationId xmlns:a16="http://schemas.microsoft.com/office/drawing/2014/main" id="{E975B106-7280-547B-5C85-E48F0D77DD05}"/>
                </a:ext>
              </a:extLst>
            </p:cNvPr>
            <p:cNvCxnSpPr>
              <a:cxnSpLocks/>
              <a:stCxn id="34" idx="3"/>
              <a:endCxn id="37" idx="1"/>
            </p:cNvCxnSpPr>
            <p:nvPr/>
          </p:nvCxnSpPr>
          <p:spPr>
            <a:xfrm>
              <a:off x="6477661" y="5107482"/>
              <a:ext cx="407696" cy="16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>
              <a:extLst>
                <a:ext uri="{FF2B5EF4-FFF2-40B4-BE49-F238E27FC236}">
                  <a16:creationId xmlns:a16="http://schemas.microsoft.com/office/drawing/2014/main" id="{8854315B-9485-444D-2076-E320F15A8B9A}"/>
                </a:ext>
              </a:extLst>
            </p:cNvPr>
            <p:cNvCxnSpPr>
              <a:cxnSpLocks/>
              <a:stCxn id="39" idx="3"/>
              <a:endCxn id="34" idx="1"/>
            </p:cNvCxnSpPr>
            <p:nvPr/>
          </p:nvCxnSpPr>
          <p:spPr>
            <a:xfrm flipV="1">
              <a:off x="5098536" y="5107482"/>
              <a:ext cx="407695" cy="16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97335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3E4731-F479-499C-B7C2-9844D12AF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RTS/CTS Mitigates Hidden-Node Collisions</a:t>
            </a:r>
            <a:endParaRPr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761585F-5E53-49CE-948C-C549D563F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O</a:t>
            </a:r>
            <a:r>
              <a:rPr lang="zh-TW" altLang="zh-TW" dirty="0"/>
              <a:t>ptional 802.11 handshake before data transmission</a:t>
            </a:r>
            <a:endParaRPr lang="en-US" altLang="zh-TW" dirty="0"/>
          </a:p>
          <a:p>
            <a:r>
              <a:rPr lang="zh-TW" altLang="zh-TW" dirty="0"/>
              <a:t>RTS/CTS makes nearby nodes defer, reducing hidden-node collisions</a:t>
            </a:r>
            <a:endParaRPr lang="en-US" altLang="zh-TW" dirty="0"/>
          </a:p>
          <a:p>
            <a:r>
              <a:rPr lang="en-US" altLang="zh-TW" dirty="0"/>
              <a:t>Step:</a:t>
            </a:r>
          </a:p>
          <a:p>
            <a:pPr marL="745200" lvl="1" indent="-457200">
              <a:buFont typeface="+mj-lt"/>
              <a:buAutoNum type="arabicPeriod"/>
            </a:pPr>
            <a:r>
              <a:rPr lang="zh-TW" altLang="zh-TW" dirty="0"/>
              <a:t>Sender sends RTS to request channel access</a:t>
            </a:r>
            <a:endParaRPr lang="en-US" altLang="zh-TW" dirty="0"/>
          </a:p>
          <a:p>
            <a:pPr lvl="2"/>
            <a:r>
              <a:rPr lang="zh-TW" altLang="zh-TW" dirty="0"/>
              <a:t>Nearby node hear</a:t>
            </a:r>
            <a:r>
              <a:rPr lang="en-US" altLang="zh-TW" dirty="0" err="1"/>
              <a:t>ing</a:t>
            </a:r>
            <a:r>
              <a:rPr lang="zh-TW" altLang="zh-TW" dirty="0"/>
              <a:t> </a:t>
            </a:r>
            <a:r>
              <a:rPr lang="en-US" altLang="zh-TW" dirty="0"/>
              <a:t>RTS</a:t>
            </a:r>
            <a:r>
              <a:rPr lang="zh-TW" altLang="en-US" dirty="0"/>
              <a:t> </a:t>
            </a:r>
            <a:r>
              <a:rPr lang="zh-TW" altLang="zh-TW" dirty="0"/>
              <a:t>defer</a:t>
            </a:r>
            <a:r>
              <a:rPr lang="en-US" altLang="zh-TW" dirty="0"/>
              <a:t>s</a:t>
            </a:r>
          </a:p>
          <a:p>
            <a:pPr marL="745200" lvl="1" indent="-457200">
              <a:buFont typeface="+mj-lt"/>
              <a:buAutoNum type="arabicPeriod"/>
            </a:pPr>
            <a:r>
              <a:rPr lang="en-US" altLang="zh-TW" dirty="0"/>
              <a:t>AP</a:t>
            </a:r>
            <a:r>
              <a:rPr lang="zh-TW" altLang="zh-TW" dirty="0"/>
              <a:t> sends CTS to grant transmission permission</a:t>
            </a:r>
            <a:endParaRPr lang="en-US" altLang="zh-TW" dirty="0"/>
          </a:p>
          <a:p>
            <a:pPr lvl="2"/>
            <a:r>
              <a:rPr lang="zh-TW" altLang="zh-TW" dirty="0"/>
              <a:t>Hidden node</a:t>
            </a:r>
            <a:r>
              <a:rPr lang="en-US" altLang="zh-TW" dirty="0"/>
              <a:t> </a:t>
            </a:r>
            <a:r>
              <a:rPr lang="zh-TW" altLang="zh-TW" dirty="0"/>
              <a:t>hear</a:t>
            </a:r>
            <a:r>
              <a:rPr lang="en-US" altLang="zh-TW" dirty="0" err="1"/>
              <a:t>ing</a:t>
            </a:r>
            <a:r>
              <a:rPr lang="zh-TW" altLang="zh-TW" dirty="0"/>
              <a:t> CTS </a:t>
            </a:r>
            <a:r>
              <a:rPr lang="en-US" altLang="zh-TW" dirty="0"/>
              <a:t> defers</a:t>
            </a:r>
          </a:p>
          <a:p>
            <a:pPr marL="745200" lvl="1" indent="-457200">
              <a:buFont typeface="+mj-lt"/>
              <a:buAutoNum type="arabicPeriod"/>
            </a:pPr>
            <a:r>
              <a:rPr lang="en-US" altLang="zh-TW" dirty="0"/>
              <a:t>Sender transmits data after the channel is reserved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AF4DB3-7A18-4C4D-BCB8-F507050E88E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3D7D1C8-AE23-AA48-DF65-C742588DBE47}" type="slidenum">
              <a:rPr sz="1400">
                <a:latin typeface="Times New Roman"/>
                <a:ea typeface="Times New Roman"/>
                <a:cs typeface="Times New Roman"/>
              </a:rPr>
              <a:t>5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86F1F333-313E-46BE-BEF9-DF3DBDE21760}"/>
              </a:ext>
            </a:extLst>
          </p:cNvPr>
          <p:cNvGrpSpPr/>
          <p:nvPr/>
        </p:nvGrpSpPr>
        <p:grpSpPr>
          <a:xfrm>
            <a:off x="38090" y="4268335"/>
            <a:ext cx="12259836" cy="2169210"/>
            <a:chOff x="-259180" y="4323740"/>
            <a:chExt cx="12259836" cy="2169210"/>
          </a:xfrm>
        </p:grpSpPr>
        <p:pic>
          <p:nvPicPr>
            <p:cNvPr id="37" name="內容版面配置區 5">
              <a:extLst>
                <a:ext uri="{FF2B5EF4-FFF2-40B4-BE49-F238E27FC236}">
                  <a16:creationId xmlns:a16="http://schemas.microsoft.com/office/drawing/2014/main" id="{BE4002B0-05F5-24BC-43DE-8D1C795535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50558" y="4845419"/>
              <a:ext cx="1592125" cy="1592125"/>
            </a:xfrm>
            <a:prstGeom prst="rect">
              <a:avLst/>
            </a:prstGeom>
            <a:noFill/>
          </p:spPr>
        </p:pic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408FBFEB-86BB-0F6F-AF14-AFB5AA687C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24175" y="4895134"/>
              <a:ext cx="1492696" cy="1492696"/>
            </a:xfrm>
            <a:prstGeom prst="rect">
              <a:avLst/>
            </a:prstGeom>
          </p:spPr>
        </p:pic>
        <p:pic>
          <p:nvPicPr>
            <p:cNvPr id="7" name="內容版面配置區 5">
              <a:extLst>
                <a:ext uri="{FF2B5EF4-FFF2-40B4-BE49-F238E27FC236}">
                  <a16:creationId xmlns:a16="http://schemas.microsoft.com/office/drawing/2014/main" id="{85E5E06E-7868-F095-29F7-BC10651771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60601" y="4845420"/>
              <a:ext cx="1592125" cy="1592125"/>
            </a:xfrm>
            <a:prstGeom prst="rect">
              <a:avLst/>
            </a:prstGeom>
            <a:noFill/>
          </p:spPr>
        </p:pic>
        <p:sp>
          <p:nvSpPr>
            <p:cNvPr id="15" name="乘號 14">
              <a:extLst>
                <a:ext uri="{FF2B5EF4-FFF2-40B4-BE49-F238E27FC236}">
                  <a16:creationId xmlns:a16="http://schemas.microsoft.com/office/drawing/2014/main" id="{B71CBB7F-6DC9-B75C-1780-EC99C1665C88}"/>
                </a:ext>
              </a:extLst>
            </p:cNvPr>
            <p:cNvSpPr/>
            <p:nvPr/>
          </p:nvSpPr>
          <p:spPr bwMode="auto">
            <a:xfrm>
              <a:off x="10123807" y="4652175"/>
              <a:ext cx="914400" cy="914400"/>
            </a:xfrm>
            <a:prstGeom prst="mathMultiply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6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  <p:grpSp>
          <p:nvGrpSpPr>
            <p:cNvPr id="61" name="群組 60">
              <a:extLst>
                <a:ext uri="{FF2B5EF4-FFF2-40B4-BE49-F238E27FC236}">
                  <a16:creationId xmlns:a16="http://schemas.microsoft.com/office/drawing/2014/main" id="{072EE419-6040-C4E7-3DA2-11CB8999AD13}"/>
                </a:ext>
              </a:extLst>
            </p:cNvPr>
            <p:cNvGrpSpPr/>
            <p:nvPr/>
          </p:nvGrpSpPr>
          <p:grpSpPr>
            <a:xfrm>
              <a:off x="1023065" y="4806537"/>
              <a:ext cx="2145564" cy="461665"/>
              <a:chOff x="3434887" y="4679193"/>
              <a:chExt cx="2197420" cy="461665"/>
            </a:xfrm>
          </p:grpSpPr>
          <p:cxnSp>
            <p:nvCxnSpPr>
              <p:cNvPr id="11" name="直線接點 10">
                <a:extLst>
                  <a:ext uri="{FF2B5EF4-FFF2-40B4-BE49-F238E27FC236}">
                    <a16:creationId xmlns:a16="http://schemas.microsoft.com/office/drawing/2014/main" id="{8FF64304-0A77-F79F-5F50-8A0702D0EA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34887" y="4910017"/>
                <a:ext cx="219742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457F2047-660C-E84E-378E-2E011EE328F9}"/>
                  </a:ext>
                </a:extLst>
              </p:cNvPr>
              <p:cNvSpPr txBox="1"/>
              <p:nvPr/>
            </p:nvSpPr>
            <p:spPr>
              <a:xfrm flipH="1">
                <a:off x="4001703" y="4679193"/>
                <a:ext cx="1029990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TW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1. RTS</a:t>
                </a:r>
                <a:endParaRPr lang="zh-TW" alt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62" name="群組 61">
              <a:extLst>
                <a:ext uri="{FF2B5EF4-FFF2-40B4-BE49-F238E27FC236}">
                  <a16:creationId xmlns:a16="http://schemas.microsoft.com/office/drawing/2014/main" id="{F81BFEA1-7ABC-1013-F912-3579711DCB40}"/>
                </a:ext>
              </a:extLst>
            </p:cNvPr>
            <p:cNvGrpSpPr/>
            <p:nvPr/>
          </p:nvGrpSpPr>
          <p:grpSpPr>
            <a:xfrm>
              <a:off x="4227040" y="5410432"/>
              <a:ext cx="2197420" cy="461665"/>
              <a:chOff x="3434887" y="5325684"/>
              <a:chExt cx="2197420" cy="461665"/>
            </a:xfrm>
          </p:grpSpPr>
          <p:cxnSp>
            <p:nvCxnSpPr>
              <p:cNvPr id="12" name="直線接點 11">
                <a:extLst>
                  <a:ext uri="{FF2B5EF4-FFF2-40B4-BE49-F238E27FC236}">
                    <a16:creationId xmlns:a16="http://schemas.microsoft.com/office/drawing/2014/main" id="{9B858A10-FE34-4FB2-78D3-09A598E3F07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34887" y="5556524"/>
                <a:ext cx="219742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A2286F52-F14D-2E59-7502-658EDE17413F}"/>
                  </a:ext>
                </a:extLst>
              </p:cNvPr>
              <p:cNvSpPr txBox="1"/>
              <p:nvPr/>
            </p:nvSpPr>
            <p:spPr>
              <a:xfrm>
                <a:off x="4082244" y="5325684"/>
                <a:ext cx="949449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TW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2. CTS</a:t>
                </a:r>
                <a:endParaRPr lang="zh-TW" alt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63" name="群組 62">
              <a:extLst>
                <a:ext uri="{FF2B5EF4-FFF2-40B4-BE49-F238E27FC236}">
                  <a16:creationId xmlns:a16="http://schemas.microsoft.com/office/drawing/2014/main" id="{A894F81D-9555-0AC5-7B6E-0370C4C47869}"/>
                </a:ext>
              </a:extLst>
            </p:cNvPr>
            <p:cNvGrpSpPr/>
            <p:nvPr/>
          </p:nvGrpSpPr>
          <p:grpSpPr>
            <a:xfrm>
              <a:off x="4227750" y="5990763"/>
              <a:ext cx="2196000" cy="461665"/>
              <a:chOff x="3510115" y="5972176"/>
              <a:chExt cx="2196000" cy="461665"/>
            </a:xfrm>
          </p:grpSpPr>
          <p:cxnSp>
            <p:nvCxnSpPr>
              <p:cNvPr id="13" name="直線接點 12">
                <a:extLst>
                  <a:ext uri="{FF2B5EF4-FFF2-40B4-BE49-F238E27FC236}">
                    <a16:creationId xmlns:a16="http://schemas.microsoft.com/office/drawing/2014/main" id="{3334BB22-7ADE-EB72-D461-FAF49340B4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0115" y="6203000"/>
                <a:ext cx="2196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F3D52C2F-24EE-4F29-C2C6-A4EBE550A421}"/>
                  </a:ext>
                </a:extLst>
              </p:cNvPr>
              <p:cNvSpPr txBox="1"/>
              <p:nvPr/>
            </p:nvSpPr>
            <p:spPr>
              <a:xfrm>
                <a:off x="3850362" y="5972176"/>
                <a:ext cx="1413213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TW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3. DATA</a:t>
                </a:r>
                <a:endParaRPr lang="zh-TW" alt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4" name="群組 23">
              <a:extLst>
                <a:ext uri="{FF2B5EF4-FFF2-40B4-BE49-F238E27FC236}">
                  <a16:creationId xmlns:a16="http://schemas.microsoft.com/office/drawing/2014/main" id="{574CB0A6-0408-B210-82D7-66FED1EA8C97}"/>
                </a:ext>
              </a:extLst>
            </p:cNvPr>
            <p:cNvGrpSpPr/>
            <p:nvPr/>
          </p:nvGrpSpPr>
          <p:grpSpPr>
            <a:xfrm>
              <a:off x="8021922" y="5387544"/>
              <a:ext cx="2510966" cy="461665"/>
              <a:chOff x="7740307" y="5313936"/>
              <a:chExt cx="2169268" cy="461665"/>
            </a:xfrm>
          </p:grpSpPr>
          <p:cxnSp>
            <p:nvCxnSpPr>
              <p:cNvPr id="10" name="直線接點 9">
                <a:extLst>
                  <a:ext uri="{FF2B5EF4-FFF2-40B4-BE49-F238E27FC236}">
                    <a16:creationId xmlns:a16="http://schemas.microsoft.com/office/drawing/2014/main" id="{9F5A3781-6CD8-061D-B188-1C866BCEEA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40307" y="5544769"/>
                <a:ext cx="2169268" cy="8621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306246AA-E294-228B-2264-6FE8B56B1AAB}"/>
                  </a:ext>
                </a:extLst>
              </p:cNvPr>
              <p:cNvSpPr txBox="1"/>
              <p:nvPr/>
            </p:nvSpPr>
            <p:spPr>
              <a:xfrm>
                <a:off x="8396171" y="5313936"/>
                <a:ext cx="1002848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TW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2. CTS</a:t>
                </a:r>
                <a:endParaRPr lang="zh-TW" alt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D15F7617-31D0-6A13-9354-34064B37185E}"/>
                </a:ext>
              </a:extLst>
            </p:cNvPr>
            <p:cNvSpPr txBox="1"/>
            <p:nvPr/>
          </p:nvSpPr>
          <p:spPr>
            <a:xfrm>
              <a:off x="2879585" y="4433469"/>
              <a:ext cx="1592124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Sender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25B388D5-FA91-C7A0-E079-5EF72AF8B4A9}"/>
                </a:ext>
              </a:extLst>
            </p:cNvPr>
            <p:cNvSpPr txBox="1"/>
            <p:nvPr/>
          </p:nvSpPr>
          <p:spPr>
            <a:xfrm>
              <a:off x="6474461" y="4419819"/>
              <a:ext cx="1592124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AP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5BE80359-67D1-51E9-E7F7-FB94D7F10C68}"/>
                </a:ext>
              </a:extLst>
            </p:cNvPr>
            <p:cNvSpPr txBox="1"/>
            <p:nvPr/>
          </p:nvSpPr>
          <p:spPr>
            <a:xfrm>
              <a:off x="9831912" y="4323740"/>
              <a:ext cx="2168744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Hidden Node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65" name="內容版面配置區 5">
              <a:extLst>
                <a:ext uri="{FF2B5EF4-FFF2-40B4-BE49-F238E27FC236}">
                  <a16:creationId xmlns:a16="http://schemas.microsoft.com/office/drawing/2014/main" id="{DB9FAEA5-1EC1-5A07-00D6-CF7D2B076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59180" y="4785405"/>
              <a:ext cx="1592125" cy="1592125"/>
            </a:xfrm>
            <a:prstGeom prst="rect">
              <a:avLst/>
            </a:prstGeom>
            <a:noFill/>
          </p:spPr>
        </p:pic>
        <p:grpSp>
          <p:nvGrpSpPr>
            <p:cNvPr id="69" name="群組 68">
              <a:extLst>
                <a:ext uri="{FF2B5EF4-FFF2-40B4-BE49-F238E27FC236}">
                  <a16:creationId xmlns:a16="http://schemas.microsoft.com/office/drawing/2014/main" id="{81E715B8-4FA9-7848-A70B-58B56E527FAB}"/>
                </a:ext>
              </a:extLst>
            </p:cNvPr>
            <p:cNvGrpSpPr/>
            <p:nvPr/>
          </p:nvGrpSpPr>
          <p:grpSpPr>
            <a:xfrm>
              <a:off x="4227040" y="4830100"/>
              <a:ext cx="2197420" cy="461665"/>
              <a:chOff x="3434887" y="4679193"/>
              <a:chExt cx="2197420" cy="461665"/>
            </a:xfrm>
          </p:grpSpPr>
          <p:cxnSp>
            <p:nvCxnSpPr>
              <p:cNvPr id="70" name="直線接點 69">
                <a:extLst>
                  <a:ext uri="{FF2B5EF4-FFF2-40B4-BE49-F238E27FC236}">
                    <a16:creationId xmlns:a16="http://schemas.microsoft.com/office/drawing/2014/main" id="{FDC67D34-43FE-0D54-4111-58FFF19513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34887" y="4910017"/>
                <a:ext cx="219742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866A48AF-D1AE-BE7D-456D-2CA0DE8E508C}"/>
                  </a:ext>
                </a:extLst>
              </p:cNvPr>
              <p:cNvSpPr txBox="1"/>
              <p:nvPr/>
            </p:nvSpPr>
            <p:spPr>
              <a:xfrm>
                <a:off x="4082244" y="4679193"/>
                <a:ext cx="949449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TW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1. RTS</a:t>
                </a:r>
                <a:endParaRPr lang="zh-TW" alt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73" name="文字方塊 72">
              <a:extLst>
                <a:ext uri="{FF2B5EF4-FFF2-40B4-BE49-F238E27FC236}">
                  <a16:creationId xmlns:a16="http://schemas.microsoft.com/office/drawing/2014/main" id="{04C15B66-6828-4C06-F554-AD0DAF2EDB35}"/>
                </a:ext>
              </a:extLst>
            </p:cNvPr>
            <p:cNvSpPr txBox="1"/>
            <p:nvPr/>
          </p:nvSpPr>
          <p:spPr>
            <a:xfrm>
              <a:off x="690284" y="5661953"/>
              <a:ext cx="1647605" cy="83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Nearby</a:t>
              </a:r>
              <a:b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Node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5" name="乘號 74">
              <a:extLst>
                <a:ext uri="{FF2B5EF4-FFF2-40B4-BE49-F238E27FC236}">
                  <a16:creationId xmlns:a16="http://schemas.microsoft.com/office/drawing/2014/main" id="{A3FAB8E5-1165-21A0-248D-352EAA57EC28}"/>
                </a:ext>
              </a:extLst>
            </p:cNvPr>
            <p:cNvSpPr/>
            <p:nvPr/>
          </p:nvSpPr>
          <p:spPr bwMode="auto">
            <a:xfrm>
              <a:off x="-134895" y="4433469"/>
              <a:ext cx="914400" cy="914400"/>
            </a:xfrm>
            <a:prstGeom prst="mathMultiply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6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</p:grp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34D72133-74EA-4FB3-8CBE-5C34F9928419}"/>
              </a:ext>
            </a:extLst>
          </p:cNvPr>
          <p:cNvSpPr txBox="1"/>
          <p:nvPr/>
        </p:nvSpPr>
        <p:spPr>
          <a:xfrm>
            <a:off x="1842431" y="6492950"/>
            <a:ext cx="62241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Request To Send / Clear To Send (RTS/CTS)</a:t>
            </a:r>
            <a:endParaRPr lang="zh-TW" altLang="en-US" sz="240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7335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F2DD0D-1D70-1D78-D9B0-90C63959F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No Static RTS Threshold Fits All Scenarios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4136766-374A-47FB-0C3F-8E137D598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RTS/CTS is used only for frames above threshold</a:t>
            </a:r>
          </a:p>
          <a:p>
            <a:r>
              <a:rPr lang="en-US" altLang="zh-TW" dirty="0"/>
              <a:t>Commodity APs use one fixed</a:t>
            </a:r>
            <a:r>
              <a:rPr lang="zh-TW" altLang="en-US" dirty="0"/>
              <a:t> </a:t>
            </a:r>
            <a:r>
              <a:rPr lang="en-US" altLang="zh-TW" dirty="0"/>
              <a:t>threshold</a:t>
            </a:r>
          </a:p>
          <a:p>
            <a:r>
              <a:rPr lang="en-US" altLang="zh-TW" dirty="0"/>
              <a:t>Suitable threshold changes as nodes move </a:t>
            </a:r>
          </a:p>
          <a:p>
            <a:r>
              <a:rPr lang="en-US" altLang="zh-TW" dirty="0"/>
              <a:t>A fixed value falls below or above the suitable value</a:t>
            </a:r>
          </a:p>
          <a:p>
            <a:pPr lvl="1"/>
            <a:r>
              <a:rPr lang="en-US" altLang="zh-TW" dirty="0"/>
              <a:t>Below → RTS/CTS overhead even without hidden nodes</a:t>
            </a:r>
          </a:p>
          <a:p>
            <a:pPr lvl="1"/>
            <a:r>
              <a:rPr lang="en-US" altLang="zh-TW" dirty="0"/>
              <a:t>Above → Hidden-node collisions stay unresolved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F806ABC-C321-A438-42AC-DBE888404EE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BC8A1ED-4F98-4D8C-81F6-271243F7D6B0}" type="slidenum">
              <a:rPr lang="en-US" altLang="zh-TW" sz="1400" smtClean="0">
                <a:latin typeface="Times New Roman"/>
                <a:ea typeface="Times New Roman"/>
                <a:cs typeface="Times New Roman"/>
              </a:rPr>
              <a:t>6</a:t>
            </a:fld>
            <a:endParaRPr lang="en-US" altLang="zh-TW"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35331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4537BE-4165-4A69-AB5D-4F2F037A6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Location Info Unused for RTS Control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F8B4F06-0621-4167-94AA-CF779A3DE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Adaptive RTS threshold control already exists </a:t>
            </a:r>
          </a:p>
          <a:p>
            <a:pPr lvl="1"/>
            <a:r>
              <a:rPr lang="en-US" altLang="zh-TW" dirty="0"/>
              <a:t>Switch RTS/CTS on or off per frame </a:t>
            </a:r>
          </a:p>
          <a:p>
            <a:pPr lvl="1"/>
            <a:r>
              <a:rPr lang="en-US" altLang="zh-TW" dirty="0"/>
              <a:t>Tune the RTS threshold value</a:t>
            </a:r>
          </a:p>
          <a:p>
            <a:r>
              <a:rPr lang="en-US" altLang="zh-TW" dirty="0"/>
              <a:t>Prior work relies on link information only </a:t>
            </a:r>
          </a:p>
          <a:p>
            <a:pPr lvl="1"/>
            <a:r>
              <a:rPr lang="en-US" altLang="zh-TW" dirty="0"/>
              <a:t>E.g., Loss statistics or traffic models</a:t>
            </a:r>
          </a:p>
          <a:p>
            <a:r>
              <a:rPr lang="en-US" altLang="zh-TW" dirty="0"/>
              <a:t>No design uses location information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72F0DEB-F8E2-4DFD-B328-4570945C9E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7</a:t>
            </a:fld>
            <a:endParaRPr lang="en-US" altLang="zh-TW" sz="1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108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3E4731-F479-499C-B7C2-9844D12AF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Spatially Aware Dynamic RTS Threshold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761585F-5E53-49CE-948C-C549D563F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Angle of Arrival (AoA)</a:t>
            </a:r>
            <a:r>
              <a:rPr lang="en-US" altLang="zh-TW" dirty="0"/>
              <a:t> is direction a signal arrives from </a:t>
            </a:r>
          </a:p>
          <a:p>
            <a:pPr lvl="1"/>
            <a:r>
              <a:rPr lang="en-US" altLang="zh-TW" dirty="0"/>
              <a:t>Reveals node’s relative directions</a:t>
            </a:r>
          </a:p>
          <a:p>
            <a:r>
              <a:rPr lang="en-US" altLang="zh-TW" dirty="0"/>
              <a:t>AP combines STA’s AoA with link information to estimate hidden-node risk</a:t>
            </a:r>
          </a:p>
          <a:p>
            <a:r>
              <a:rPr lang="en-US" altLang="zh-TW" dirty="0"/>
              <a:t>Estimated risk guides dynamic RTS threshold adjustment</a:t>
            </a:r>
          </a:p>
          <a:p>
            <a:r>
              <a:rPr lang="en-US" altLang="zh-TW" dirty="0"/>
              <a:t>Pay RTS/CTS overhead only when risk justifies it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AF4DB3-7A18-4C4D-BCB8-F507050E88E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BA58DA2A-B818-18A9-29C1-B697728D5BCE}" type="slidenum">
              <a:rPr sz="1400">
                <a:latin typeface="Times New Roman"/>
                <a:ea typeface="Times New Roman"/>
                <a:cs typeface="Times New Roman"/>
              </a:rPr>
              <a:t>8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04145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?蔣?楊???ａ?蝵桀? 1">
            <a:extLst>
              <a:ext uri="{FF2B5EF4-FFF2-40B4-BE49-F238E27FC236}">
                <a16:creationId xmlns:a16="http://schemas.microsoft.com/office/drawing/2014/main" id="{7C687AF8-AF63-1728-2C7B-76B8DC1837D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388657AE-30A1-5A7A-6A7F-315D84436430}" type="slidenum">
              <a:rPr sz="1400">
                <a:latin typeface="Times New Roman"/>
                <a:ea typeface="Times New Roman"/>
                <a:cs typeface="Times New Roman"/>
              </a:rPr>
              <a:t>9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?批捆??蔭? 2">
            <a:extLst>
              <a:ext uri="{FF2B5EF4-FFF2-40B4-BE49-F238E27FC236}">
                <a16:creationId xmlns:a16="http://schemas.microsoft.com/office/drawing/2014/main" id="{EFDF35B5-B6BD-325F-B271-EE420282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r>
              <a:rPr dirty="0"/>
              <a:t>Background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AoA-Assisted Dynamic RTS Threshold Adaptation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Evaluation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Conclusion</a:t>
            </a:r>
          </a:p>
        </p:txBody>
      </p:sp>
      <p:sp>
        <p:nvSpPr>
          <p:cNvPr id="4" name="璅? 3">
            <a:extLst>
              <a:ext uri="{FF2B5EF4-FFF2-40B4-BE49-F238E27FC236}">
                <a16:creationId xmlns:a16="http://schemas.microsoft.com/office/drawing/2014/main" id="{363B54DA-5A57-63A3-3957-4A5B100F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3201065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Wi-Fi </a:t>
            </a:r>
            <a:r>
              <a:rPr lang="zh-TW" altLang="zh-TW" b="1" dirty="0"/>
              <a:t>Channel State Information</a:t>
            </a:r>
            <a:r>
              <a:rPr lang="zh-TW" altLang="en-US" b="1" dirty="0"/>
              <a:t> </a:t>
            </a:r>
            <a:r>
              <a:rPr lang="en-US" altLang="zh-TW" b="1" dirty="0"/>
              <a:t>(CSI)</a:t>
            </a:r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B7BEEEC-A170-5376-2B6E-CB54687B0CB1}" type="slidenum">
              <a:rPr sz="1400">
                <a:latin typeface="Times New Roman"/>
                <a:ea typeface="Times New Roman"/>
                <a:cs typeface="Times New Roman"/>
              </a:rPr>
              <a:t>10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6361893-5D2A-0C1F-46D0-78D0A5600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13" y="1073275"/>
            <a:ext cx="10916870" cy="5413072"/>
          </a:xfrm>
        </p:spPr>
        <p:txBody>
          <a:bodyPr/>
          <a:lstStyle/>
          <a:p>
            <a:r>
              <a:rPr lang="en-US" altLang="zh-TW" dirty="0"/>
              <a:t>D</a:t>
            </a:r>
            <a:r>
              <a:rPr lang="zh-TW" altLang="zh-TW" dirty="0"/>
              <a:t>escribes </a:t>
            </a:r>
            <a:r>
              <a:rPr lang="en-US" altLang="zh-TW" dirty="0"/>
              <a:t>propagation process of the wireless signal </a:t>
            </a:r>
          </a:p>
          <a:p>
            <a:pPr lvl="1"/>
            <a:r>
              <a:rPr lang="en-US" altLang="zh-TW" dirty="0"/>
              <a:t>Contains geometric information</a:t>
            </a:r>
          </a:p>
          <a:p>
            <a:r>
              <a:rPr lang="en-US" altLang="zh-TW" dirty="0"/>
              <a:t>Sender transmits a pattern known to receiver</a:t>
            </a:r>
          </a:p>
          <a:p>
            <a:r>
              <a:rPr lang="en-US" altLang="zh-TW" dirty="0"/>
              <a:t>Receiver estimates CSI from received pattern</a:t>
            </a:r>
          </a:p>
        </p:txBody>
      </p:sp>
      <p:grpSp>
        <p:nvGrpSpPr>
          <p:cNvPr id="40" name="群組 39">
            <a:extLst>
              <a:ext uri="{FF2B5EF4-FFF2-40B4-BE49-F238E27FC236}">
                <a16:creationId xmlns:a16="http://schemas.microsoft.com/office/drawing/2014/main" id="{7FEA01D5-F631-4160-B957-66CC4C52B2EE}"/>
              </a:ext>
            </a:extLst>
          </p:cNvPr>
          <p:cNvGrpSpPr/>
          <p:nvPr/>
        </p:nvGrpSpPr>
        <p:grpSpPr>
          <a:xfrm>
            <a:off x="1984109" y="3488866"/>
            <a:ext cx="8223781" cy="1892997"/>
            <a:chOff x="1422748" y="4073235"/>
            <a:chExt cx="8223781" cy="1892997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6010C766-B3B0-4065-BB06-6C3220DE8E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2748" y="4520551"/>
              <a:ext cx="971430" cy="971430"/>
            </a:xfrm>
            <a:prstGeom prst="rect">
              <a:avLst/>
            </a:prstGeom>
          </p:spPr>
        </p:pic>
        <p:pic>
          <p:nvPicPr>
            <p:cNvPr id="9" name="內容版面配置區 5">
              <a:extLst>
                <a:ext uri="{FF2B5EF4-FFF2-40B4-BE49-F238E27FC236}">
                  <a16:creationId xmlns:a16="http://schemas.microsoft.com/office/drawing/2014/main" id="{CB892C52-E602-4F45-90B6-340B67A275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10392" y="4520551"/>
              <a:ext cx="1036137" cy="1036137"/>
            </a:xfrm>
            <a:prstGeom prst="rect">
              <a:avLst/>
            </a:prstGeom>
            <a:noFill/>
          </p:spPr>
        </p:pic>
        <p:cxnSp>
          <p:nvCxnSpPr>
            <p:cNvPr id="10" name="直線接點 9">
              <a:extLst>
                <a:ext uri="{FF2B5EF4-FFF2-40B4-BE49-F238E27FC236}">
                  <a16:creationId xmlns:a16="http://schemas.microsoft.com/office/drawing/2014/main" id="{CC6448C3-9AE5-41C9-A09C-502F5AC67BFD}"/>
                </a:ext>
              </a:extLst>
            </p:cNvPr>
            <p:cNvCxnSpPr/>
            <p:nvPr/>
          </p:nvCxnSpPr>
          <p:spPr>
            <a:xfrm>
              <a:off x="1422748" y="4073236"/>
              <a:ext cx="810571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手繪多邊形: 圖案 23">
              <a:extLst>
                <a:ext uri="{FF2B5EF4-FFF2-40B4-BE49-F238E27FC236}">
                  <a16:creationId xmlns:a16="http://schemas.microsoft.com/office/drawing/2014/main" id="{207C9F42-1C3F-42D6-9780-BB080908024E}"/>
                </a:ext>
              </a:extLst>
            </p:cNvPr>
            <p:cNvSpPr/>
            <p:nvPr/>
          </p:nvSpPr>
          <p:spPr>
            <a:xfrm>
              <a:off x="1433945" y="5340350"/>
              <a:ext cx="8073737" cy="619936"/>
            </a:xfrm>
            <a:custGeom>
              <a:avLst/>
              <a:gdLst>
                <a:gd name="connsiteX0" fmla="*/ 0 w 8073737"/>
                <a:gd name="connsiteY0" fmla="*/ 592859 h 619936"/>
                <a:gd name="connsiteX1" fmla="*/ 2431473 w 8073737"/>
                <a:gd name="connsiteY1" fmla="*/ 551295 h 619936"/>
                <a:gd name="connsiteX2" fmla="*/ 3564082 w 8073737"/>
                <a:gd name="connsiteY2" fmla="*/ 577 h 619936"/>
                <a:gd name="connsiteX3" fmla="*/ 3979719 w 8073737"/>
                <a:gd name="connsiteY3" fmla="*/ 447386 h 619936"/>
                <a:gd name="connsiteX4" fmla="*/ 8073737 w 8073737"/>
                <a:gd name="connsiteY4" fmla="*/ 520123 h 619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73737" h="619936">
                  <a:moveTo>
                    <a:pt x="0" y="592859"/>
                  </a:moveTo>
                  <a:cubicBezTo>
                    <a:pt x="918730" y="621434"/>
                    <a:pt x="1837460" y="650009"/>
                    <a:pt x="2431473" y="551295"/>
                  </a:cubicBezTo>
                  <a:cubicBezTo>
                    <a:pt x="3025486" y="452581"/>
                    <a:pt x="3306041" y="17895"/>
                    <a:pt x="3564082" y="577"/>
                  </a:cubicBezTo>
                  <a:cubicBezTo>
                    <a:pt x="3822123" y="-16741"/>
                    <a:pt x="3228110" y="360795"/>
                    <a:pt x="3979719" y="447386"/>
                  </a:cubicBezTo>
                  <a:cubicBezTo>
                    <a:pt x="4731328" y="533977"/>
                    <a:pt x="7335983" y="528782"/>
                    <a:pt x="8073737" y="520123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id="{0838522E-6A11-442B-9640-F8B7F1B7B862}"/>
                </a:ext>
              </a:extLst>
            </p:cNvPr>
            <p:cNvCxnSpPr>
              <a:stCxn id="8" idx="3"/>
              <a:endCxn id="9" idx="1"/>
            </p:cNvCxnSpPr>
            <p:nvPr/>
          </p:nvCxnSpPr>
          <p:spPr>
            <a:xfrm>
              <a:off x="2394178" y="5006266"/>
              <a:ext cx="6216214" cy="32354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lg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>
              <a:extLst>
                <a:ext uri="{FF2B5EF4-FFF2-40B4-BE49-F238E27FC236}">
                  <a16:creationId xmlns:a16="http://schemas.microsoft.com/office/drawing/2014/main" id="{73171AB8-6342-4A7D-A1F9-4BF06F1E29FD}"/>
                </a:ext>
              </a:extLst>
            </p:cNvPr>
            <p:cNvCxnSpPr>
              <a:stCxn id="8" idx="3"/>
            </p:cNvCxnSpPr>
            <p:nvPr/>
          </p:nvCxnSpPr>
          <p:spPr>
            <a:xfrm flipV="1">
              <a:off x="2394178" y="4073236"/>
              <a:ext cx="3076635" cy="933030"/>
            </a:xfrm>
            <a:prstGeom prst="line">
              <a:avLst/>
            </a:prstGeom>
            <a:ln w="12700">
              <a:solidFill>
                <a:srgbClr val="FF0000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單箭頭接點 29">
              <a:extLst>
                <a:ext uri="{FF2B5EF4-FFF2-40B4-BE49-F238E27FC236}">
                  <a16:creationId xmlns:a16="http://schemas.microsoft.com/office/drawing/2014/main" id="{9CC9A31A-1529-41FB-ABC3-72C5AF7DF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62869" y="4073235"/>
              <a:ext cx="3163411" cy="751799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lg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>
              <a:extLst>
                <a:ext uri="{FF2B5EF4-FFF2-40B4-BE49-F238E27FC236}">
                  <a16:creationId xmlns:a16="http://schemas.microsoft.com/office/drawing/2014/main" id="{23EF1E2B-298B-4078-BC0B-AAB23A76B184}"/>
                </a:ext>
              </a:extLst>
            </p:cNvPr>
            <p:cNvCxnSpPr>
              <a:stCxn id="8" idx="3"/>
            </p:cNvCxnSpPr>
            <p:nvPr/>
          </p:nvCxnSpPr>
          <p:spPr>
            <a:xfrm>
              <a:off x="2394178" y="5006266"/>
              <a:ext cx="2125867" cy="644052"/>
            </a:xfrm>
            <a:prstGeom prst="line">
              <a:avLst/>
            </a:prstGeom>
            <a:ln w="12700">
              <a:solidFill>
                <a:srgbClr val="FF0000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>
              <a:extLst>
                <a:ext uri="{FF2B5EF4-FFF2-40B4-BE49-F238E27FC236}">
                  <a16:creationId xmlns:a16="http://schemas.microsoft.com/office/drawing/2014/main" id="{2230EF8C-9824-4F48-B7EA-3D8D1C4937E2}"/>
                </a:ext>
              </a:extLst>
            </p:cNvPr>
            <p:cNvCxnSpPr>
              <a:endCxn id="24" idx="3"/>
            </p:cNvCxnSpPr>
            <p:nvPr/>
          </p:nvCxnSpPr>
          <p:spPr>
            <a:xfrm>
              <a:off x="4520045" y="5650318"/>
              <a:ext cx="893619" cy="137418"/>
            </a:xfrm>
            <a:prstGeom prst="line">
              <a:avLst/>
            </a:prstGeom>
            <a:ln w="12700">
              <a:solidFill>
                <a:srgbClr val="FF0000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單箭頭接點 35">
              <a:extLst>
                <a:ext uri="{FF2B5EF4-FFF2-40B4-BE49-F238E27FC236}">
                  <a16:creationId xmlns:a16="http://schemas.microsoft.com/office/drawing/2014/main" id="{D33F1F70-816C-4D85-897B-59ABC7366C03}"/>
                </a:ext>
              </a:extLst>
            </p:cNvPr>
            <p:cNvCxnSpPr>
              <a:stCxn id="24" idx="3"/>
            </p:cNvCxnSpPr>
            <p:nvPr/>
          </p:nvCxnSpPr>
          <p:spPr>
            <a:xfrm flipV="1">
              <a:off x="5413664" y="5328292"/>
              <a:ext cx="3212616" cy="459444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lg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1330D563-4B7E-4C21-B5AE-0B45A3B2FAF6}"/>
                </a:ext>
              </a:extLst>
            </p:cNvPr>
            <p:cNvSpPr txBox="1"/>
            <p:nvPr/>
          </p:nvSpPr>
          <p:spPr>
            <a:xfrm>
              <a:off x="2569141" y="4162905"/>
              <a:ext cx="965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Path 1 </a:t>
              </a:r>
              <a:endParaRPr lang="zh-TW" altLang="en-US" sz="2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B1965B1F-4DC8-45F7-A061-8BB110B4402A}"/>
                </a:ext>
              </a:extLst>
            </p:cNvPr>
            <p:cNvSpPr txBox="1"/>
            <p:nvPr/>
          </p:nvSpPr>
          <p:spPr>
            <a:xfrm>
              <a:off x="3840106" y="4630876"/>
              <a:ext cx="965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Path 2</a:t>
              </a:r>
              <a:endParaRPr lang="zh-TW" altLang="en-US" sz="2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4C5725DA-CDC1-46B9-92A9-0595974EC67D}"/>
                </a:ext>
              </a:extLst>
            </p:cNvPr>
            <p:cNvSpPr txBox="1"/>
            <p:nvPr/>
          </p:nvSpPr>
          <p:spPr>
            <a:xfrm>
              <a:off x="2825843" y="5504567"/>
              <a:ext cx="965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Path 3 </a:t>
              </a:r>
              <a:endParaRPr lang="zh-TW" altLang="en-US" sz="2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3342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5386B2-4D86-418A-841B-0E5321F04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Steering Vector:</a:t>
            </a:r>
            <a:r>
              <a:rPr lang="zh-TW" altLang="en-US" dirty="0"/>
              <a:t> </a:t>
            </a:r>
            <a:r>
              <a:rPr lang="en-US" altLang="zh-TW" dirty="0"/>
              <a:t>Direction's Fingerprint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6A93578-5499-48CF-8E24-075DF5B18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Antennas hear signal at slightly different times</a:t>
            </a:r>
          </a:p>
          <a:p>
            <a:r>
              <a:rPr lang="en-US" altLang="zh-TW" dirty="0"/>
              <a:t>Each AoA has a predictable arrival pattern</a:t>
            </a:r>
          </a:p>
          <a:p>
            <a:pPr lvl="1"/>
            <a:r>
              <a:rPr lang="en-US" altLang="zh-TW" dirty="0"/>
              <a:t>Predicted pattern is </a:t>
            </a:r>
            <a:r>
              <a:rPr lang="en-US" altLang="zh-TW" b="1" dirty="0"/>
              <a:t>Steering Vector</a:t>
            </a:r>
          </a:p>
          <a:p>
            <a:r>
              <a:rPr lang="en-US" altLang="zh-TW" dirty="0"/>
              <a:t>Compare measured CSI with every fingerprint</a:t>
            </a:r>
          </a:p>
          <a:p>
            <a:pPr lvl="1"/>
            <a:r>
              <a:rPr lang="en-US" altLang="zh-TW" dirty="0"/>
              <a:t>The best match is the AoA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66C22A3-9C71-4255-9FC7-490F7995214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BC8A1ED-4F98-4D8C-81F6-271243F7D6B0}" type="slidenum">
              <a:rPr lang="en-US" altLang="zh-TW" sz="1400" smtClean="0">
                <a:latin typeface="Times New Roman"/>
                <a:ea typeface="Times New Roman"/>
                <a:cs typeface="Times New Roman"/>
              </a:rPr>
              <a:t>11</a:t>
            </a:fld>
            <a:endParaRPr lang="en-US" altLang="zh-TW" sz="1400">
              <a:latin typeface="Times New Roman"/>
              <a:ea typeface="Times New Roman"/>
              <a:cs typeface="Times New Roman"/>
            </a:endParaRPr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7E7AC0B8-E206-48B0-82EB-C7C7FBDD70D1}"/>
              </a:ext>
            </a:extLst>
          </p:cNvPr>
          <p:cNvGrpSpPr/>
          <p:nvPr/>
        </p:nvGrpSpPr>
        <p:grpSpPr>
          <a:xfrm>
            <a:off x="4794524" y="2297482"/>
            <a:ext cx="7083343" cy="4140063"/>
            <a:chOff x="3682697" y="2357120"/>
            <a:chExt cx="7083343" cy="4140063"/>
          </a:xfrm>
        </p:grpSpPr>
        <p:grpSp>
          <p:nvGrpSpPr>
            <p:cNvPr id="5" name="群組 4">
              <a:extLst>
                <a:ext uri="{FF2B5EF4-FFF2-40B4-BE49-F238E27FC236}">
                  <a16:creationId xmlns:a16="http://schemas.microsoft.com/office/drawing/2014/main" id="{06F3A160-F109-41A4-85A1-9142BAF75D9B}"/>
                </a:ext>
              </a:extLst>
            </p:cNvPr>
            <p:cNvGrpSpPr/>
            <p:nvPr/>
          </p:nvGrpSpPr>
          <p:grpSpPr>
            <a:xfrm>
              <a:off x="3682697" y="3289102"/>
              <a:ext cx="4479876" cy="3197244"/>
              <a:chOff x="3546935" y="3137919"/>
              <a:chExt cx="4479876" cy="3197244"/>
            </a:xfrm>
          </p:grpSpPr>
          <p:grpSp>
            <p:nvGrpSpPr>
              <p:cNvPr id="43" name="群組 42">
                <a:extLst>
                  <a:ext uri="{FF2B5EF4-FFF2-40B4-BE49-F238E27FC236}">
                    <a16:creationId xmlns:a16="http://schemas.microsoft.com/office/drawing/2014/main" id="{3DAD3106-B511-445E-A7D5-CD1A30115821}"/>
                  </a:ext>
                </a:extLst>
              </p:cNvPr>
              <p:cNvGrpSpPr/>
              <p:nvPr/>
            </p:nvGrpSpPr>
            <p:grpSpPr>
              <a:xfrm>
                <a:off x="3546935" y="3137919"/>
                <a:ext cx="4479876" cy="3197244"/>
                <a:chOff x="2992580" y="1973964"/>
                <a:chExt cx="4479876" cy="3197244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9280B86F-59F2-4358-BE59-D7B56947E4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976254" y="4582391"/>
                  <a:ext cx="588817" cy="588817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7991B78D-C694-4413-8027-C7A8ABC614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736773" y="4582391"/>
                  <a:ext cx="588817" cy="588817"/>
                </a:xfrm>
                <a:prstGeom prst="rect">
                  <a:avLst/>
                </a:prstGeom>
              </p:spPr>
            </p:pic>
            <p:cxnSp>
              <p:nvCxnSpPr>
                <p:cNvPr id="9" name="直線單箭頭接點 8">
                  <a:extLst>
                    <a:ext uri="{FF2B5EF4-FFF2-40B4-BE49-F238E27FC236}">
                      <a16:creationId xmlns:a16="http://schemas.microsoft.com/office/drawing/2014/main" id="{A347363D-0293-4A51-A44B-DF7BB910E65A}"/>
                    </a:ext>
                  </a:extLst>
                </p:cNvPr>
                <p:cNvCxnSpPr>
                  <a:cxnSpLocks/>
                  <a:endCxn id="7" idx="0"/>
                </p:cNvCxnSpPr>
                <p:nvPr/>
              </p:nvCxnSpPr>
              <p:spPr>
                <a:xfrm>
                  <a:off x="4270662" y="4559531"/>
                  <a:ext cx="2760520" cy="2286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D9EB25E0-9122-4661-95C0-82F190E87EE9}"/>
                    </a:ext>
                  </a:extLst>
                </p:cNvPr>
                <p:cNvSpPr txBox="1"/>
                <p:nvPr/>
              </p:nvSpPr>
              <p:spPr>
                <a:xfrm>
                  <a:off x="5516684" y="4514461"/>
                  <a:ext cx="34809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24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d</a:t>
                  </a:r>
                  <a:endParaRPr lang="zh-TW" altLang="en-US" sz="24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13" name="直線單箭頭接點 12">
                  <a:extLst>
                    <a:ext uri="{FF2B5EF4-FFF2-40B4-BE49-F238E27FC236}">
                      <a16:creationId xmlns:a16="http://schemas.microsoft.com/office/drawing/2014/main" id="{6DD2B31A-D3FE-476F-95EC-AF9E5AC582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92580" y="3138055"/>
                  <a:ext cx="1278082" cy="1444336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線接點 14">
                  <a:extLst>
                    <a:ext uri="{FF2B5EF4-FFF2-40B4-BE49-F238E27FC236}">
                      <a16:creationId xmlns:a16="http://schemas.microsoft.com/office/drawing/2014/main" id="{59904E5F-5D86-40CC-B5E8-5BA0EB02523D}"/>
                    </a:ext>
                  </a:extLst>
                </p:cNvPr>
                <p:cNvCxnSpPr>
                  <a:cxnSpLocks/>
                  <a:stCxn id="6" idx="0"/>
                </p:cNvCxnSpPr>
                <p:nvPr/>
              </p:nvCxnSpPr>
              <p:spPr>
                <a:xfrm flipV="1">
                  <a:off x="4270663" y="3138055"/>
                  <a:ext cx="0" cy="144433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直線接點 17">
                  <a:extLst>
                    <a:ext uri="{FF2B5EF4-FFF2-40B4-BE49-F238E27FC236}">
                      <a16:creationId xmlns:a16="http://schemas.microsoft.com/office/drawing/2014/main" id="{3E5496BA-FF98-415A-A9C7-8B7535B7A85A}"/>
                    </a:ext>
                  </a:extLst>
                </p:cNvPr>
                <p:cNvCxnSpPr>
                  <a:cxnSpLocks/>
                  <a:stCxn id="7" idx="0"/>
                </p:cNvCxnSpPr>
                <p:nvPr/>
              </p:nvCxnSpPr>
              <p:spPr>
                <a:xfrm flipV="1">
                  <a:off x="7031182" y="3138055"/>
                  <a:ext cx="0" cy="144433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線單箭頭接點 19">
                  <a:extLst>
                    <a:ext uri="{FF2B5EF4-FFF2-40B4-BE49-F238E27FC236}">
                      <a16:creationId xmlns:a16="http://schemas.microsoft.com/office/drawing/2014/main" id="{4074F5E6-307D-4F7A-8D8E-F32546B814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17472" y="1973964"/>
                  <a:ext cx="2308177" cy="2608427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線接點 23">
                  <a:extLst>
                    <a:ext uri="{FF2B5EF4-FFF2-40B4-BE49-F238E27FC236}">
                      <a16:creationId xmlns:a16="http://schemas.microsoft.com/office/drawing/2014/main" id="{0ABF4525-4FF2-4A36-A0E0-C13AEC2A111F}"/>
                    </a:ext>
                  </a:extLst>
                </p:cNvPr>
                <p:cNvCxnSpPr>
                  <a:cxnSpLocks/>
                  <a:stCxn id="6" idx="0"/>
                </p:cNvCxnSpPr>
                <p:nvPr/>
              </p:nvCxnSpPr>
              <p:spPr>
                <a:xfrm flipV="1">
                  <a:off x="4270663" y="1973964"/>
                  <a:ext cx="3201793" cy="260842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L 圖案 35">
                  <a:extLst>
                    <a:ext uri="{FF2B5EF4-FFF2-40B4-BE49-F238E27FC236}">
                      <a16:creationId xmlns:a16="http://schemas.microsoft.com/office/drawing/2014/main" id="{8AE751F1-DA3A-421B-B199-44EF09DCC82A}"/>
                    </a:ext>
                  </a:extLst>
                </p:cNvPr>
                <p:cNvSpPr/>
                <p:nvPr/>
              </p:nvSpPr>
              <p:spPr>
                <a:xfrm rot="19381622">
                  <a:off x="5773722" y="3317462"/>
                  <a:ext cx="182117" cy="184893"/>
                </a:xfrm>
                <a:prstGeom prst="corner">
                  <a:avLst>
                    <a:gd name="adj1" fmla="val 0"/>
                    <a:gd name="adj2" fmla="val 0"/>
                  </a:avLst>
                </a:prstGeom>
                <a:solidFill>
                  <a:srgbClr val="FF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8" name="文字方塊 37">
                      <a:extLst>
                        <a:ext uri="{FF2B5EF4-FFF2-40B4-BE49-F238E27FC236}">
                          <a16:creationId xmlns:a16="http://schemas.microsoft.com/office/drawing/2014/main" id="{D4B25BA2-5813-4C8D-9D08-1BD12C7361A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97322" y="3765943"/>
                      <a:ext cx="870046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24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𝑑𝑠𝑖𝑛</m:t>
                            </m:r>
                            <m:r>
                              <a:rPr lang="el-GR" altLang="zh-TW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𝜃</m:t>
                            </m:r>
                          </m:oMath>
                        </m:oMathPara>
                      </a14:m>
                      <a:endParaRPr lang="zh-TW" altLang="en-US" sz="2400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38" name="文字方塊 37">
                      <a:extLst>
                        <a:ext uri="{FF2B5EF4-FFF2-40B4-BE49-F238E27FC236}">
                          <a16:creationId xmlns:a16="http://schemas.microsoft.com/office/drawing/2014/main" id="{D4B25BA2-5813-4C8D-9D08-1BD12C7361A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97322" y="3765943"/>
                      <a:ext cx="870046" cy="461665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113" r="-1056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37FA17A4-A4B0-4E85-A16C-99439F452005}"/>
                    </a:ext>
                  </a:extLst>
                </p:cNvPr>
                <p:cNvSpPr txBox="1"/>
                <p:nvPr/>
              </p:nvSpPr>
              <p:spPr>
                <a:xfrm>
                  <a:off x="3649807" y="3273995"/>
                  <a:ext cx="34809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l-GR" altLang="zh-TW" sz="24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θ</a:t>
                  </a:r>
                  <a:endParaRPr lang="zh-TW" altLang="en-US" sz="24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42" name="直線單箭頭接點 41">
                  <a:extLst>
                    <a:ext uri="{FF2B5EF4-FFF2-40B4-BE49-F238E27FC236}">
                      <a16:creationId xmlns:a16="http://schemas.microsoft.com/office/drawing/2014/main" id="{0BF44F4A-6F25-415D-A27F-6F39896AB33A}"/>
                    </a:ext>
                  </a:extLst>
                </p:cNvPr>
                <p:cNvCxnSpPr>
                  <a:endCxn id="7" idx="0"/>
                </p:cNvCxnSpPr>
                <p:nvPr/>
              </p:nvCxnSpPr>
              <p:spPr>
                <a:xfrm>
                  <a:off x="5864780" y="3278177"/>
                  <a:ext cx="1166402" cy="1304214"/>
                </a:xfrm>
                <a:prstGeom prst="straightConnector1">
                  <a:avLst/>
                </a:prstGeom>
                <a:ln w="5715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4" name="弧形 43">
                <a:extLst>
                  <a:ext uri="{FF2B5EF4-FFF2-40B4-BE49-F238E27FC236}">
                    <a16:creationId xmlns:a16="http://schemas.microsoft.com/office/drawing/2014/main" id="{2F604DA9-8BA2-4B31-BDB9-A9E821837C39}"/>
                  </a:ext>
                </a:extLst>
              </p:cNvPr>
              <p:cNvSpPr/>
              <p:nvPr/>
            </p:nvSpPr>
            <p:spPr>
              <a:xfrm>
                <a:off x="4218189" y="4881265"/>
                <a:ext cx="624840" cy="381000"/>
              </a:xfrm>
              <a:prstGeom prst="arc">
                <a:avLst>
                  <a:gd name="adj1" fmla="val 11099362"/>
                  <a:gd name="adj2" fmla="val 20898044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pic>
          <p:nvPicPr>
            <p:cNvPr id="21" name="圖片 20">
              <a:extLst>
                <a:ext uri="{FF2B5EF4-FFF2-40B4-BE49-F238E27FC236}">
                  <a16:creationId xmlns:a16="http://schemas.microsoft.com/office/drawing/2014/main" id="{01373AC0-E96E-4464-A232-F5F3E3A7F9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77223" y="5908366"/>
              <a:ext cx="588817" cy="588817"/>
            </a:xfrm>
            <a:prstGeom prst="rect">
              <a:avLst/>
            </a:prstGeom>
          </p:spPr>
        </p:pic>
        <p:cxnSp>
          <p:nvCxnSpPr>
            <p:cNvPr id="22" name="直線單箭頭接點 21">
              <a:extLst>
                <a:ext uri="{FF2B5EF4-FFF2-40B4-BE49-F238E27FC236}">
                  <a16:creationId xmlns:a16="http://schemas.microsoft.com/office/drawing/2014/main" id="{7D38B8C8-C97F-4BBE-AB3C-92270E79969E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>
              <a:off x="7711112" y="5885506"/>
              <a:ext cx="2760520" cy="2286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>
              <a:extLst>
                <a:ext uri="{FF2B5EF4-FFF2-40B4-BE49-F238E27FC236}">
                  <a16:creationId xmlns:a16="http://schemas.microsoft.com/office/drawing/2014/main" id="{B076A017-029F-42DB-8D08-E3852581F4A1}"/>
                </a:ext>
              </a:extLst>
            </p:cNvPr>
            <p:cNvCxnSpPr>
              <a:cxnSpLocks/>
              <a:stCxn id="21" idx="0"/>
            </p:cNvCxnSpPr>
            <p:nvPr/>
          </p:nvCxnSpPr>
          <p:spPr>
            <a:xfrm flipV="1">
              <a:off x="10471632" y="4464030"/>
              <a:ext cx="0" cy="14443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A2BD27C6-9FA1-43A8-B2A9-32B149143C9B}"/>
                </a:ext>
              </a:extLst>
            </p:cNvPr>
            <p:cNvSpPr txBox="1"/>
            <p:nvPr/>
          </p:nvSpPr>
          <p:spPr>
            <a:xfrm>
              <a:off x="8975040" y="5882014"/>
              <a:ext cx="348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</a:t>
              </a:r>
              <a:endParaRPr lang="zh-TW" altLang="en-US" sz="2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id="{34B230B2-CEA4-42FC-B3C4-7E3C3C98663E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>
              <a:off x="7347258" y="2357120"/>
              <a:ext cx="3124374" cy="355124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單箭頭接點 32">
              <a:extLst>
                <a:ext uri="{FF2B5EF4-FFF2-40B4-BE49-F238E27FC236}">
                  <a16:creationId xmlns:a16="http://schemas.microsoft.com/office/drawing/2014/main" id="{DDF36F0F-620F-4B21-A9EB-035C19207A01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>
              <a:off x="8162573" y="3279598"/>
              <a:ext cx="2309059" cy="2628768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字方塊 36">
                  <a:extLst>
                    <a:ext uri="{FF2B5EF4-FFF2-40B4-BE49-F238E27FC236}">
                      <a16:creationId xmlns:a16="http://schemas.microsoft.com/office/drawing/2014/main" id="{05F6A241-D958-41D2-9406-B043EED12A84}"/>
                    </a:ext>
                  </a:extLst>
                </p:cNvPr>
                <p:cNvSpPr txBox="1"/>
                <p:nvPr/>
              </p:nvSpPr>
              <p:spPr>
                <a:xfrm>
                  <a:off x="8517718" y="4783757"/>
                  <a:ext cx="114730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2400" dirty="0">
                      <a:solidFill>
                        <a:srgbClr val="FF0000"/>
                      </a:solidFill>
                      <a:ea typeface="Calibri" panose="020F0502020204030204" pitchFamily="34" charset="0"/>
                      <a:cs typeface="Calibri" panose="020F050202020403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n-US" altLang="zh-TW" sz="24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𝑑𝑠𝑖𝑛</m:t>
                      </m:r>
                      <m:r>
                        <a:rPr lang="el-GR" altLang="zh-TW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𝜃</m:t>
                      </m:r>
                    </m:oMath>
                  </a14:m>
                  <a:endParaRPr lang="zh-TW" altLang="en-US" sz="2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37" name="文字方塊 36">
                  <a:extLst>
                    <a:ext uri="{FF2B5EF4-FFF2-40B4-BE49-F238E27FC236}">
                      <a16:creationId xmlns:a16="http://schemas.microsoft.com/office/drawing/2014/main" id="{05F6A241-D958-41D2-9406-B043EED12A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17718" y="4783757"/>
                  <a:ext cx="1147308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7979" t="-11842" b="-2763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3011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A6F68BC6-C333-4646-BEC6-2D2D5F1082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6152" y="2757576"/>
            <a:ext cx="6908753" cy="3679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Multiple Signal Classification </a:t>
            </a:r>
            <a:r>
              <a:rPr lang="en-US" altLang="zh-TW" b="1" dirty="0"/>
              <a:t>(MUSIC)</a:t>
            </a:r>
            <a:endParaRPr 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TW" dirty="0"/>
              <a:t>MUSIC is algorithm that estimates AoA from CSI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dirty="0"/>
              <a:t>Widely used in Wi-Fi localization</a:t>
            </a:r>
          </a:p>
          <a:p>
            <a:r>
              <a:rPr lang="en-US" dirty="0"/>
              <a:t>MUSIC matches every angle's steering vector to CSI</a:t>
            </a:r>
          </a:p>
          <a:p>
            <a:pPr lvl="1"/>
            <a:r>
              <a:rPr lang="en-US" dirty="0"/>
              <a:t>Matching produces a spatial spectrum</a:t>
            </a:r>
          </a:p>
          <a:p>
            <a:pPr lvl="1"/>
            <a:r>
              <a:rPr lang="en-US" dirty="0"/>
              <a:t>Peaks indicate likely </a:t>
            </a:r>
            <a:r>
              <a:rPr lang="en-US" dirty="0" err="1"/>
              <a:t>AoAs</a:t>
            </a:r>
            <a:endParaRPr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327921A4-25C4-3DB4-06B1-32693CEE2241}" type="slidenum">
              <a:rPr sz="1400">
                <a:latin typeface="Times New Roman"/>
                <a:ea typeface="Times New Roman"/>
                <a:cs typeface="Times New Roman"/>
              </a:rPr>
              <a:t>12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37141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?蔣?楊???ａ?蝵桀? 1">
            <a:extLst>
              <a:ext uri="{FF2B5EF4-FFF2-40B4-BE49-F238E27FC236}">
                <a16:creationId xmlns:a16="http://schemas.microsoft.com/office/drawing/2014/main" id="{7C687AF8-AF63-1728-2C7B-76B8DC1837D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B1C6C81E-38B9-7560-621D-5A151A79DF9B}" type="slidenum">
              <a:rPr sz="1400">
                <a:latin typeface="Times New Roman"/>
                <a:ea typeface="Times New Roman"/>
                <a:cs typeface="Times New Roman"/>
              </a:rPr>
              <a:t>13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?批捆??蔭? 2">
            <a:extLst>
              <a:ext uri="{FF2B5EF4-FFF2-40B4-BE49-F238E27FC236}">
                <a16:creationId xmlns:a16="http://schemas.microsoft.com/office/drawing/2014/main" id="{EFDF35B5-B6BD-325F-B271-EE420282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Background</a:t>
            </a:r>
          </a:p>
          <a:p>
            <a:r>
              <a:rPr lang="en-US" dirty="0"/>
              <a:t>AoA-Assisted Dynamic RTS Threshold Adaptation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Evaluation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Conclusion</a:t>
            </a:r>
          </a:p>
        </p:txBody>
      </p:sp>
      <p:sp>
        <p:nvSpPr>
          <p:cNvPr id="4" name="璅? 3">
            <a:extLst>
              <a:ext uri="{FF2B5EF4-FFF2-40B4-BE49-F238E27FC236}">
                <a16:creationId xmlns:a16="http://schemas.microsoft.com/office/drawing/2014/main" id="{363B54DA-5A57-63A3-3957-4A5B100F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2663263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/>
              <a:t>AoA-Assisted Dynamic RTS Threshold Adaptation</a:t>
            </a:r>
            <a:endParaRPr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565" y="1073274"/>
            <a:ext cx="10916870" cy="5413072"/>
          </a:xfrm>
        </p:spPr>
        <p:txBody>
          <a:bodyPr/>
          <a:lstStyle/>
          <a:p>
            <a:endParaRPr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844E025A-983C-6D44-79C6-4612AACD43FC}" type="slidenum">
              <a:rPr sz="1400">
                <a:latin typeface="Times New Roman"/>
                <a:ea typeface="Times New Roman"/>
                <a:cs typeface="Times New Roman"/>
              </a:rPr>
              <a:t>14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3566535E-77B5-477A-BF25-59D4724EFFCA}"/>
              </a:ext>
            </a:extLst>
          </p:cNvPr>
          <p:cNvGrpSpPr/>
          <p:nvPr/>
        </p:nvGrpSpPr>
        <p:grpSpPr>
          <a:xfrm>
            <a:off x="1486974" y="2016710"/>
            <a:ext cx="9045914" cy="3295220"/>
            <a:chOff x="1055100" y="2081613"/>
            <a:chExt cx="9045914" cy="3295220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4C25DBC9-3EBD-4EC0-8DFB-BC101BEC54C0}"/>
                </a:ext>
              </a:extLst>
            </p:cNvPr>
            <p:cNvSpPr/>
            <p:nvPr/>
          </p:nvSpPr>
          <p:spPr bwMode="auto">
            <a:xfrm>
              <a:off x="1055100" y="2081959"/>
              <a:ext cx="1187392" cy="1213200"/>
            </a:xfrm>
            <a:prstGeom prst="rect">
              <a:avLst/>
            </a:prstGeom>
            <a:noFill/>
            <a:ln w="28575" cap="flat" cmpd="sng" algn="ctr">
              <a:solidFill>
                <a:srgbClr val="3297F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>
                  <a:solidFill>
                    <a:srgbClr val="3297FC"/>
                  </a:solidFill>
                  <a:latin typeface="Calibri" panose="020F0502020204030204" pitchFamily="34" charset="0"/>
                  <a:ea typeface="標楷體" pitchFamily="65" charset="-120"/>
                  <a:cs typeface="Calibri" panose="020F0502020204030204" pitchFamily="34" charset="0"/>
                </a:rPr>
                <a:t>Collect</a:t>
              </a:r>
              <a:br>
                <a:rPr kumimoji="1" lang="en-US" altLang="zh-TW" sz="2400" dirty="0">
                  <a:solidFill>
                    <a:srgbClr val="3297FC"/>
                  </a:solidFill>
                  <a:latin typeface="Calibri" panose="020F0502020204030204" pitchFamily="34" charset="0"/>
                  <a:ea typeface="標楷體" pitchFamily="65" charset="-120"/>
                  <a:cs typeface="Calibri" panose="020F0502020204030204" pitchFamily="34" charset="0"/>
                </a:rPr>
              </a:br>
              <a:r>
                <a:rPr kumimoji="1" lang="en-US" altLang="zh-TW" sz="2400" dirty="0">
                  <a:solidFill>
                    <a:srgbClr val="3297FC"/>
                  </a:solidFill>
                  <a:latin typeface="Calibri" panose="020F0502020204030204" pitchFamily="34" charset="0"/>
                  <a:ea typeface="標楷體" pitchFamily="65" charset="-120"/>
                  <a:cs typeface="Calibri" panose="020F0502020204030204" pitchFamily="34" charset="0"/>
                </a:rPr>
                <a:t>CSI</a:t>
              </a:r>
              <a:endPara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D674B59-0DCC-4CEA-9EFE-EFEFDE45CD17}"/>
                </a:ext>
              </a:extLst>
            </p:cNvPr>
            <p:cNvSpPr/>
            <p:nvPr/>
          </p:nvSpPr>
          <p:spPr bwMode="auto">
            <a:xfrm>
              <a:off x="4000510" y="2081613"/>
              <a:ext cx="1869311" cy="1213893"/>
            </a:xfrm>
            <a:prstGeom prst="rect">
              <a:avLst/>
            </a:prstGeom>
            <a:noFill/>
            <a:ln w="28575" cap="flat" cmpd="sng" algn="ctr">
              <a:solidFill>
                <a:srgbClr val="3297F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>
                  <a:solidFill>
                    <a:srgbClr val="3297FC"/>
                  </a:solidFill>
                  <a:latin typeface="Calibri" panose="020F0502020204030204" pitchFamily="34" charset="0"/>
                  <a:ea typeface="標楷體" pitchFamily="65" charset="-120"/>
                  <a:cs typeface="Calibri" panose="020F0502020204030204" pitchFamily="34" charset="0"/>
                </a:rPr>
                <a:t>Estimate AoA with MUSIC</a:t>
              </a:r>
              <a:endParaRPr kumimoji="1" lang="zh-TW" altLang="en-US" sz="2400" i="0" u="none" strike="noStrike" cap="none" normalizeH="0" baseline="0" dirty="0">
                <a:ln>
                  <a:noFill/>
                </a:ln>
                <a:solidFill>
                  <a:srgbClr val="3297FC"/>
                </a:solidFill>
                <a:effectLst/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F47BE7C-8C61-480A-836D-DE1747AEDB84}"/>
                </a:ext>
              </a:extLst>
            </p:cNvPr>
            <p:cNvSpPr/>
            <p:nvPr/>
          </p:nvSpPr>
          <p:spPr bwMode="auto">
            <a:xfrm>
              <a:off x="7627839" y="2081613"/>
              <a:ext cx="2473175" cy="1213893"/>
            </a:xfrm>
            <a:prstGeom prst="rect">
              <a:avLst/>
            </a:prstGeom>
            <a:noFill/>
            <a:ln w="28575" cap="flat" cmpd="sng" algn="ctr">
              <a:solidFill>
                <a:srgbClr val="3297F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>
                  <a:solidFill>
                    <a:srgbClr val="3297FC"/>
                  </a:solidFill>
                  <a:latin typeface="Calibri" panose="020F0502020204030204" pitchFamily="34" charset="0"/>
                  <a:ea typeface="標楷體" pitchFamily="65" charset="-120"/>
                  <a:cs typeface="Calibri" panose="020F0502020204030204" pitchFamily="34" charset="0"/>
                </a:rPr>
                <a:t>Score pair-level hidden-node risk</a:t>
              </a:r>
              <a:endParaRPr kumimoji="1" lang="zh-TW" altLang="en-US" sz="2400" i="0" u="none" strike="noStrike" cap="none" normalizeH="0" baseline="0" dirty="0">
                <a:ln>
                  <a:noFill/>
                </a:ln>
                <a:solidFill>
                  <a:srgbClr val="3297FC"/>
                </a:solidFill>
                <a:effectLst/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E2EF4AC1-7467-4647-A690-0E382B9540B3}"/>
                </a:ext>
              </a:extLst>
            </p:cNvPr>
            <p:cNvSpPr/>
            <p:nvPr/>
          </p:nvSpPr>
          <p:spPr bwMode="auto">
            <a:xfrm>
              <a:off x="7847685" y="4163286"/>
              <a:ext cx="2033482" cy="1213200"/>
            </a:xfrm>
            <a:prstGeom prst="rect">
              <a:avLst/>
            </a:prstGeom>
            <a:noFill/>
            <a:ln w="28575" cap="flat" cmpd="sng" algn="ctr">
              <a:solidFill>
                <a:srgbClr val="3297F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>
                  <a:solidFill>
                    <a:srgbClr val="3297FC"/>
                  </a:solidFill>
                  <a:latin typeface="Calibri" panose="020F0502020204030204" pitchFamily="34" charset="0"/>
                  <a:ea typeface="標楷體" pitchFamily="65" charset="-120"/>
                  <a:cs typeface="Calibri" panose="020F0502020204030204" pitchFamily="34" charset="0"/>
                </a:rPr>
                <a:t>Aggregate risk to BSS level</a:t>
              </a:r>
              <a:endParaRPr kumimoji="1" lang="zh-TW" altLang="en-US" sz="2400" i="0" u="none" strike="noStrike" cap="none" normalizeH="0" baseline="0" dirty="0">
                <a:ln>
                  <a:noFill/>
                </a:ln>
                <a:solidFill>
                  <a:srgbClr val="3297FC"/>
                </a:solidFill>
                <a:effectLst/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E13763C-5AAA-4D55-93CD-3C27988CF89D}"/>
                </a:ext>
              </a:extLst>
            </p:cNvPr>
            <p:cNvSpPr/>
            <p:nvPr/>
          </p:nvSpPr>
          <p:spPr bwMode="auto">
            <a:xfrm>
              <a:off x="4561316" y="4163286"/>
              <a:ext cx="1694032" cy="1213200"/>
            </a:xfrm>
            <a:prstGeom prst="rect">
              <a:avLst/>
            </a:prstGeom>
            <a:noFill/>
            <a:ln w="28575" cap="flat" cmpd="sng" algn="ctr">
              <a:solidFill>
                <a:srgbClr val="3297F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>
                  <a:solidFill>
                    <a:srgbClr val="3297FC"/>
                  </a:solidFill>
                  <a:latin typeface="Calibri" panose="020F0502020204030204" pitchFamily="34" charset="0"/>
                  <a:ea typeface="標楷體" pitchFamily="65" charset="-120"/>
                  <a:cs typeface="Calibri" panose="020F0502020204030204" pitchFamily="34" charset="0"/>
                </a:rPr>
                <a:t>Update RTS threshold</a:t>
              </a:r>
              <a:endParaRPr kumimoji="1" lang="zh-TW" altLang="en-US" sz="2400" i="0" u="none" strike="noStrike" cap="none" normalizeH="0" baseline="0" dirty="0">
                <a:ln>
                  <a:noFill/>
                </a:ln>
                <a:solidFill>
                  <a:srgbClr val="3297FC"/>
                </a:solidFill>
                <a:effectLst/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47422E6-1AA4-4193-9C3F-8FD803E14079}"/>
                </a:ext>
              </a:extLst>
            </p:cNvPr>
            <p:cNvSpPr/>
            <p:nvPr/>
          </p:nvSpPr>
          <p:spPr bwMode="auto">
            <a:xfrm>
              <a:off x="1055100" y="4162940"/>
              <a:ext cx="1694032" cy="1213893"/>
            </a:xfrm>
            <a:prstGeom prst="rect">
              <a:avLst/>
            </a:prstGeom>
            <a:noFill/>
            <a:ln w="28575" cap="flat" cmpd="sng" algn="ctr">
              <a:solidFill>
                <a:srgbClr val="3297F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i="0" u="none" strike="noStrike" cap="none" normalizeH="0" baseline="0" dirty="0">
                  <a:ln>
                    <a:noFill/>
                  </a:ln>
                  <a:solidFill>
                    <a:srgbClr val="3297FC"/>
                  </a:solidFill>
                  <a:effectLst/>
                  <a:latin typeface="Calibri" panose="020F0502020204030204" pitchFamily="34" charset="0"/>
                  <a:ea typeface="標楷體" pitchFamily="65" charset="-120"/>
                  <a:cs typeface="Calibri" panose="020F0502020204030204" pitchFamily="34" charset="0"/>
                </a:rPr>
                <a:t>Sync threshold to all STAs</a:t>
              </a:r>
              <a:endParaRPr kumimoji="1" lang="zh-TW" altLang="en-US" sz="2400" i="0" u="none" strike="noStrike" cap="none" normalizeH="0" baseline="0" dirty="0">
                <a:ln>
                  <a:noFill/>
                </a:ln>
                <a:solidFill>
                  <a:srgbClr val="3297FC"/>
                </a:solidFill>
                <a:effectLst/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endParaRPr>
            </a:p>
          </p:txBody>
        </p:sp>
      </p:grp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88B99F6E-DED3-429D-8F1F-D490A7D89A33}"/>
              </a:ext>
            </a:extLst>
          </p:cNvPr>
          <p:cNvCxnSpPr>
            <a:stCxn id="5" idx="3"/>
            <a:endCxn id="6" idx="1"/>
          </p:cNvCxnSpPr>
          <p:nvPr/>
        </p:nvCxnSpPr>
        <p:spPr bwMode="auto">
          <a:xfrm>
            <a:off x="2674366" y="2623656"/>
            <a:ext cx="1758018" cy="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8D6DB566-DA7A-42B4-B0F7-E04352F36853}"/>
              </a:ext>
            </a:extLst>
          </p:cNvPr>
          <p:cNvCxnSpPr>
            <a:stCxn id="6" idx="3"/>
          </p:cNvCxnSpPr>
          <p:nvPr/>
        </p:nvCxnSpPr>
        <p:spPr bwMode="auto">
          <a:xfrm flipV="1">
            <a:off x="6301695" y="2623656"/>
            <a:ext cx="1758018" cy="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230E37B2-5195-4BA8-9852-9EFC280C7B2D}"/>
              </a:ext>
            </a:extLst>
          </p:cNvPr>
          <p:cNvCxnSpPr>
            <a:stCxn id="7" idx="2"/>
            <a:endCxn id="8" idx="0"/>
          </p:cNvCxnSpPr>
          <p:nvPr/>
        </p:nvCxnSpPr>
        <p:spPr bwMode="auto">
          <a:xfrm flipH="1">
            <a:off x="9296300" y="3230603"/>
            <a:ext cx="1" cy="86778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90AF1626-20AA-4E20-94D8-5A5B4EB66648}"/>
              </a:ext>
            </a:extLst>
          </p:cNvPr>
          <p:cNvCxnSpPr>
            <a:stCxn id="8" idx="1"/>
            <a:endCxn id="9" idx="3"/>
          </p:cNvCxnSpPr>
          <p:nvPr/>
        </p:nvCxnSpPr>
        <p:spPr bwMode="auto">
          <a:xfrm flipH="1">
            <a:off x="6687222" y="4704983"/>
            <a:ext cx="1592337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D7449194-9A3E-496D-9D25-4AE0D67E5FB1}"/>
              </a:ext>
            </a:extLst>
          </p:cNvPr>
          <p:cNvCxnSpPr>
            <a:stCxn id="9" idx="1"/>
            <a:endCxn id="10" idx="3"/>
          </p:cNvCxnSpPr>
          <p:nvPr/>
        </p:nvCxnSpPr>
        <p:spPr bwMode="auto">
          <a:xfrm flipH="1">
            <a:off x="3181006" y="4704983"/>
            <a:ext cx="1812184" cy="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4992342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Hidden-Node Risk Score</a:t>
            </a:r>
            <a:endParaRPr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565" y="1073274"/>
            <a:ext cx="10916870" cy="5413072"/>
          </a:xfrm>
        </p:spPr>
        <p:txBody>
          <a:bodyPr/>
          <a:lstStyle/>
          <a:p>
            <a:r>
              <a:rPr lang="en-US" altLang="zh-TW" dirty="0"/>
              <a:t>Pair-level risk computed for each active STA pair</a:t>
            </a:r>
          </a:p>
          <a:p>
            <a:pPr lvl="1"/>
            <a:r>
              <a:rPr lang="en-US" altLang="zh-TW" dirty="0"/>
              <a:t>Geometric information</a:t>
            </a:r>
          </a:p>
          <a:p>
            <a:pPr lvl="2"/>
            <a:r>
              <a:rPr lang="en-US" altLang="zh-TW" dirty="0"/>
              <a:t>AoA between two active STAs</a:t>
            </a:r>
          </a:p>
          <a:p>
            <a:pPr lvl="1"/>
            <a:r>
              <a:rPr lang="en-US" altLang="zh-TW" dirty="0"/>
              <a:t>Link information</a:t>
            </a:r>
          </a:p>
          <a:p>
            <a:pPr lvl="2"/>
            <a:r>
              <a:rPr lang="en-US" altLang="zh-TW" dirty="0"/>
              <a:t>Retry rate / RSSI / MCS / traffic activity</a:t>
            </a:r>
          </a:p>
          <a:p>
            <a:r>
              <a:rPr lang="en-US" altLang="zh-TW" dirty="0"/>
              <a:t>Pair risks aggregate into a BSS-level score </a:t>
            </a:r>
          </a:p>
          <a:p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844E025A-983C-6D44-79C6-4612AACD43FC}" type="slidenum">
              <a:rPr sz="1400">
                <a:latin typeface="Times New Roman"/>
                <a:ea typeface="Times New Roman"/>
                <a:cs typeface="Times New Roman"/>
              </a:rPr>
              <a:t>15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341402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0C1B5A-7ECB-4B29-938A-FE380B200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Risk-Driven RTS Threshold Adaptation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973DB14-0049-47E8-9DE5-C2EF1F96A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High risk → lower the RTS threshold </a:t>
            </a:r>
          </a:p>
          <a:p>
            <a:pPr lvl="1"/>
            <a:r>
              <a:rPr lang="en-US" altLang="zh-TW" dirty="0"/>
              <a:t>Protect more frames</a:t>
            </a:r>
          </a:p>
          <a:p>
            <a:r>
              <a:rPr lang="en-US" altLang="zh-TW" dirty="0"/>
              <a:t>Low risk → raise/restore the threshold </a:t>
            </a:r>
          </a:p>
          <a:p>
            <a:pPr lvl="1"/>
            <a:r>
              <a:rPr lang="en-US" altLang="zh-TW" dirty="0"/>
              <a:t>Avoid unnecessary overhead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CFD60A6-02CF-43A6-97E9-1DB411585A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16</a:t>
            </a:fld>
            <a:endParaRPr lang="en-US" altLang="zh-TW" sz="1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33705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?蔣?楊???ａ?蝵桀? 1">
            <a:extLst>
              <a:ext uri="{FF2B5EF4-FFF2-40B4-BE49-F238E27FC236}">
                <a16:creationId xmlns:a16="http://schemas.microsoft.com/office/drawing/2014/main" id="{7C687AF8-AF63-1728-2C7B-76B8DC1837D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F3AE1AE4-D79E-94D6-E825-3FC6C21A77D2}" type="slidenum">
              <a:rPr sz="1400">
                <a:latin typeface="Times New Roman"/>
                <a:ea typeface="Times New Roman"/>
                <a:cs typeface="Times New Roman"/>
              </a:rPr>
              <a:t>17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?批捆??蔭? 2">
            <a:extLst>
              <a:ext uri="{FF2B5EF4-FFF2-40B4-BE49-F238E27FC236}">
                <a16:creationId xmlns:a16="http://schemas.microsoft.com/office/drawing/2014/main" id="{EFDF35B5-B6BD-325F-B271-EE420282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Background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AoA-Assisted Dynamic RTS Threshold Adaptation</a:t>
            </a:r>
          </a:p>
          <a:p>
            <a:r>
              <a:rPr lang="en-US" dirty="0"/>
              <a:t>Evaluation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Conclusion</a:t>
            </a:r>
          </a:p>
        </p:txBody>
      </p:sp>
      <p:sp>
        <p:nvSpPr>
          <p:cNvPr id="4" name="璅? 3">
            <a:extLst>
              <a:ext uri="{FF2B5EF4-FFF2-40B4-BE49-F238E27FC236}">
                <a16:creationId xmlns:a16="http://schemas.microsoft.com/office/drawing/2014/main" id="{363B54DA-5A57-63A3-3957-4A5B100F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346352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Evaluation</a:t>
            </a:r>
            <a:endParaRPr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Scenarios</a:t>
            </a:r>
          </a:p>
          <a:p>
            <a:pPr lvl="1"/>
            <a:r>
              <a:rPr lang="en-US" dirty="0"/>
              <a:t>H</a:t>
            </a:r>
            <a:r>
              <a:rPr dirty="0"/>
              <a:t>idden-node </a:t>
            </a:r>
            <a:endParaRPr lang="en-US" dirty="0"/>
          </a:p>
          <a:p>
            <a:pPr lvl="1"/>
            <a:r>
              <a:rPr lang="en-US" dirty="0"/>
              <a:t>N</a:t>
            </a:r>
            <a:r>
              <a:rPr dirty="0"/>
              <a:t>on-hidden-node</a:t>
            </a:r>
            <a:endParaRPr lang="en-US" dirty="0"/>
          </a:p>
          <a:p>
            <a:r>
              <a:rPr lang="en-US" altLang="zh-TW" dirty="0"/>
              <a:t>Threshold Control Policy</a:t>
            </a:r>
            <a:r>
              <a:rPr dirty="0"/>
              <a:t> </a:t>
            </a:r>
          </a:p>
          <a:p>
            <a:pPr lvl="1"/>
            <a:r>
              <a:rPr lang="en-US" dirty="0"/>
              <a:t>Static </a:t>
            </a:r>
            <a:r>
              <a:rPr dirty="0"/>
              <a:t>RTS </a:t>
            </a:r>
            <a:r>
              <a:rPr lang="en-US" altLang="zh-TW" dirty="0"/>
              <a:t>threshold</a:t>
            </a:r>
            <a:r>
              <a:rPr dirty="0"/>
              <a:t> </a:t>
            </a:r>
            <a:endParaRPr lang="en-US" dirty="0"/>
          </a:p>
          <a:p>
            <a:pPr lvl="1"/>
            <a:r>
              <a:rPr lang="en-US" dirty="0"/>
              <a:t>D</a:t>
            </a:r>
            <a:r>
              <a:rPr dirty="0"/>
              <a:t>ynamic RTS threshold</a:t>
            </a:r>
            <a:endParaRPr lang="en-US" dirty="0"/>
          </a:p>
          <a:p>
            <a:pPr lvl="1"/>
            <a:r>
              <a:rPr lang="en-US" dirty="0"/>
              <a:t>Disable</a:t>
            </a:r>
            <a:r>
              <a:rPr lang="zh-TW" altLang="en-US" dirty="0"/>
              <a:t> </a:t>
            </a:r>
            <a:r>
              <a:rPr lang="en-US" altLang="zh-TW" dirty="0"/>
              <a:t>RTS/CTS</a:t>
            </a:r>
            <a:endParaRPr lang="en-US" dirty="0"/>
          </a:p>
          <a:p>
            <a:pPr marL="288000" lvl="1" indent="0">
              <a:buNone/>
            </a:pPr>
            <a:endParaRPr dirty="0"/>
          </a:p>
          <a:p>
            <a:r>
              <a:rPr lang="en-US" altLang="zh-TW" dirty="0"/>
              <a:t>Metrics</a:t>
            </a:r>
            <a:endParaRPr dirty="0"/>
          </a:p>
          <a:p>
            <a:pPr lvl="1"/>
            <a:r>
              <a:rPr lang="en-US" dirty="0"/>
              <a:t>T</a:t>
            </a:r>
            <a:r>
              <a:rPr dirty="0"/>
              <a:t>hroughput </a:t>
            </a:r>
            <a:endParaRPr lang="en-US" dirty="0"/>
          </a:p>
          <a:p>
            <a:pPr lvl="1"/>
            <a:r>
              <a:rPr lang="en-US" dirty="0"/>
              <a:t>R</a:t>
            </a:r>
            <a:r>
              <a:rPr dirty="0"/>
              <a:t>etry rate</a:t>
            </a:r>
            <a:endParaRPr lang="en-US" dirty="0"/>
          </a:p>
          <a:p>
            <a:pPr lvl="1"/>
            <a:r>
              <a:rPr lang="en-US" altLang="zh-TW" dirty="0"/>
              <a:t>L</a:t>
            </a:r>
            <a:r>
              <a:rPr dirty="0"/>
              <a:t>atency</a:t>
            </a:r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5AB55966-FA28-BC73-EA9E-53DF014DF033}" type="slidenum">
              <a:rPr sz="1400">
                <a:latin typeface="Times New Roman"/>
                <a:ea typeface="Times New Roman"/>
                <a:cs typeface="Times New Roman"/>
              </a:rPr>
              <a:t>18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92342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?蔣?楊???ａ?蝵桀? 1">
            <a:extLst>
              <a:ext uri="{FF2B5EF4-FFF2-40B4-BE49-F238E27FC236}">
                <a16:creationId xmlns:a16="http://schemas.microsoft.com/office/drawing/2014/main" id="{7C687AF8-AF63-1728-2C7B-76B8DC1837D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68AD4375-9F50-F53A-6F9F-DD8473067C05}" type="slidenum">
              <a:rPr sz="1400">
                <a:latin typeface="Times New Roman"/>
                <a:ea typeface="Times New Roman"/>
                <a:cs typeface="Times New Roman"/>
              </a:rPr>
              <a:t>19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?批捆??蔭? 2">
            <a:extLst>
              <a:ext uri="{FF2B5EF4-FFF2-40B4-BE49-F238E27FC236}">
                <a16:creationId xmlns:a16="http://schemas.microsoft.com/office/drawing/2014/main" id="{EFDF35B5-B6BD-325F-B271-EE420282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Background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AoA-Assisted Dynamic RTS Threshold Adaptation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Evaluation</a:t>
            </a:r>
          </a:p>
          <a:p>
            <a:r>
              <a:rPr dirty="0"/>
              <a:t>Conclusion</a:t>
            </a:r>
          </a:p>
        </p:txBody>
      </p:sp>
      <p:sp>
        <p:nvSpPr>
          <p:cNvPr id="4" name="璅? 3">
            <a:extLst>
              <a:ext uri="{FF2B5EF4-FFF2-40B4-BE49-F238E27FC236}">
                <a16:creationId xmlns:a16="http://schemas.microsoft.com/office/drawing/2014/main" id="{363B54DA-5A57-63A3-3957-4A5B100F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7566687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68B381-88E0-4540-A720-E44FC5D00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Next Steps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AF9DBA-0B62-40AA-A21F-3A72F28DA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Adopt other MUSIC variant for AoA estimation</a:t>
            </a:r>
          </a:p>
          <a:p>
            <a:r>
              <a:rPr lang="en-US" altLang="zh-TW" dirty="0"/>
              <a:t>Speed up MUSIC </a:t>
            </a:r>
          </a:p>
          <a:p>
            <a:r>
              <a:rPr lang="en-US" altLang="zh-TW" dirty="0"/>
              <a:t>Define risk scoring and score-to-threshold mapping</a:t>
            </a:r>
          </a:p>
          <a:p>
            <a:pPr lvl="1"/>
            <a:r>
              <a:rPr lang="en-US" altLang="zh-TW" dirty="0"/>
              <a:t> Reinforcement learning?</a:t>
            </a:r>
          </a:p>
          <a:p>
            <a:r>
              <a:rPr lang="en-US" altLang="zh-TW" dirty="0"/>
              <a:t>Define evaluation scenarios, baselines, and metrics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95F32A-F583-40A3-82C9-26659D8E3B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20</a:t>
            </a:fld>
            <a:endParaRPr lang="en-US" altLang="zh-TW" sz="1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24692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94F076-2DF4-9E29-862A-AB256C8C3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Appendix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AAB997-52DC-E930-769C-64DBDAF0E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C2EBAC9-5BB1-9D5C-FA3C-1E85B99DD1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21</a:t>
            </a:fld>
            <a:endParaRPr lang="en-US" altLang="zh-TW" sz="1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6456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AFBF0E1-39CB-5C7F-5C2C-3FAEEF8D8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E2A0F9-9AD2-8D3B-3924-7807A20D2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RTS/CTS Mitigates Hidden-Node Collisions</a:t>
            </a:r>
            <a:endParaRPr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F014A24-8912-C2E4-B047-76FA0E7DBD99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noFill/>
            <a:prstDash val="solid"/>
          </a:ln>
        </p:spPr>
        <p:txBody>
          <a:bodyPr/>
          <a:lstStyle/>
          <a:p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23A8A2A-9895-F6E4-2B85-BF9087209916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3D7D1C8-AE23-AA48-DF65-C742588DBE47}" type="slidenum">
              <a:rPr sz="1400">
                <a:latin typeface="Times New Roman"/>
                <a:ea typeface="Times New Roman"/>
                <a:cs typeface="Times New Roman"/>
              </a:rPr>
              <a:t>22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F66C6B06-146C-8446-740C-954B48AB9D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9473" y="0"/>
            <a:ext cx="6885079" cy="3874915"/>
          </a:xfrm>
          <a:prstGeom prst="rect">
            <a:avLst/>
          </a:prstGeom>
        </p:spPr>
      </p:pic>
      <p:grpSp>
        <p:nvGrpSpPr>
          <p:cNvPr id="44" name="群組 43">
            <a:extLst>
              <a:ext uri="{FF2B5EF4-FFF2-40B4-BE49-F238E27FC236}">
                <a16:creationId xmlns:a16="http://schemas.microsoft.com/office/drawing/2014/main" id="{8F24FEFB-E948-6828-8820-A1BF738DBD54}"/>
              </a:ext>
            </a:extLst>
          </p:cNvPr>
          <p:cNvGrpSpPr/>
          <p:nvPr/>
        </p:nvGrpSpPr>
        <p:grpSpPr>
          <a:xfrm>
            <a:off x="683120" y="4412921"/>
            <a:ext cx="10525449" cy="1858978"/>
            <a:chOff x="683120" y="4412921"/>
            <a:chExt cx="10525449" cy="1858978"/>
          </a:xfrm>
        </p:grpSpPr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D1C34715-CD92-4EF6-E963-079FD25281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99497" y="4655880"/>
              <a:ext cx="1492696" cy="1492696"/>
            </a:xfrm>
            <a:prstGeom prst="rect">
              <a:avLst/>
            </a:prstGeom>
          </p:spPr>
        </p:pic>
        <p:pic>
          <p:nvPicPr>
            <p:cNvPr id="15" name="內容版面配置區 5">
              <a:extLst>
                <a:ext uri="{FF2B5EF4-FFF2-40B4-BE49-F238E27FC236}">
                  <a16:creationId xmlns:a16="http://schemas.microsoft.com/office/drawing/2014/main" id="{87DCA9B4-EBF1-BD47-0670-3F0E8127A2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3120" y="4606166"/>
              <a:ext cx="1592125" cy="1592125"/>
            </a:xfrm>
            <a:prstGeom prst="rect">
              <a:avLst/>
            </a:prstGeom>
            <a:noFill/>
          </p:spPr>
        </p:pic>
        <p:pic>
          <p:nvPicPr>
            <p:cNvPr id="13" name="內容版面配置區 5">
              <a:extLst>
                <a:ext uri="{FF2B5EF4-FFF2-40B4-BE49-F238E27FC236}">
                  <a16:creationId xmlns:a16="http://schemas.microsoft.com/office/drawing/2014/main" id="{CE1408E1-ECF2-BDAC-ECA9-38EAD55EDF0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16444" y="4606166"/>
              <a:ext cx="1592125" cy="1592125"/>
            </a:xfrm>
            <a:prstGeom prst="rect">
              <a:avLst/>
            </a:prstGeom>
            <a:noFill/>
          </p:spPr>
        </p:pic>
        <p:cxnSp>
          <p:nvCxnSpPr>
            <p:cNvPr id="7" name="直線接點 6">
              <a:extLst>
                <a:ext uri="{FF2B5EF4-FFF2-40B4-BE49-F238E27FC236}">
                  <a16:creationId xmlns:a16="http://schemas.microsoft.com/office/drawing/2014/main" id="{89E78668-A021-D738-3EF8-802EA919A37A}"/>
                </a:ext>
              </a:extLst>
            </p:cNvPr>
            <p:cNvCxnSpPr>
              <a:cxnSpLocks/>
            </p:cNvCxnSpPr>
            <p:nvPr/>
          </p:nvCxnSpPr>
          <p:spPr>
            <a:xfrm>
              <a:off x="6763161" y="5376122"/>
              <a:ext cx="2924251" cy="11622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接點 8">
              <a:extLst>
                <a:ext uri="{FF2B5EF4-FFF2-40B4-BE49-F238E27FC236}">
                  <a16:creationId xmlns:a16="http://schemas.microsoft.com/office/drawing/2014/main" id="{B8C16597-8B5A-3D23-22AC-962DAD5768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4771" y="4751322"/>
              <a:ext cx="3013758" cy="1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>
              <a:extLst>
                <a:ext uri="{FF2B5EF4-FFF2-40B4-BE49-F238E27FC236}">
                  <a16:creationId xmlns:a16="http://schemas.microsoft.com/office/drawing/2014/main" id="{DA1EB34A-BF3B-B9E7-B67E-4E0B7FB756D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14771" y="5181237"/>
              <a:ext cx="3013758" cy="1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>
              <a:extLst>
                <a:ext uri="{FF2B5EF4-FFF2-40B4-BE49-F238E27FC236}">
                  <a16:creationId xmlns:a16="http://schemas.microsoft.com/office/drawing/2014/main" id="{01B8D763-F711-C376-7B22-DD3174469F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4771" y="5611152"/>
              <a:ext cx="3013758" cy="1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>
              <a:extLst>
                <a:ext uri="{FF2B5EF4-FFF2-40B4-BE49-F238E27FC236}">
                  <a16:creationId xmlns:a16="http://schemas.microsoft.com/office/drawing/2014/main" id="{8E3E8D74-23EA-EEB8-22B0-13A3E5B7F5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14771" y="6041068"/>
              <a:ext cx="3013758" cy="1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乘號 24">
              <a:extLst>
                <a:ext uri="{FF2B5EF4-FFF2-40B4-BE49-F238E27FC236}">
                  <a16:creationId xmlns:a16="http://schemas.microsoft.com/office/drawing/2014/main" id="{2ADC5F1C-DA21-6D69-13F5-E4252A5A7618}"/>
                </a:ext>
              </a:extLst>
            </p:cNvPr>
            <p:cNvSpPr/>
            <p:nvPr/>
          </p:nvSpPr>
          <p:spPr bwMode="auto">
            <a:xfrm>
              <a:off x="9620029" y="4412921"/>
              <a:ext cx="914400" cy="914400"/>
            </a:xfrm>
            <a:prstGeom prst="mathMultiply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6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02DEAADC-FD9F-C6CA-E6F1-A67F1E247410}"/>
                </a:ext>
              </a:extLst>
            </p:cNvPr>
            <p:cNvSpPr txBox="1"/>
            <p:nvPr/>
          </p:nvSpPr>
          <p:spPr>
            <a:xfrm>
              <a:off x="3125774" y="4439939"/>
              <a:ext cx="1002848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1. RTS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9445FC50-601C-D5B8-5EDF-8B3B26827A35}"/>
                </a:ext>
              </a:extLst>
            </p:cNvPr>
            <p:cNvSpPr txBox="1"/>
            <p:nvPr/>
          </p:nvSpPr>
          <p:spPr>
            <a:xfrm>
              <a:off x="3125774" y="4926079"/>
              <a:ext cx="1002848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2. CTS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6DA75034-86A3-89B3-C452-1C71C7909568}"/>
                </a:ext>
              </a:extLst>
            </p:cNvPr>
            <p:cNvSpPr txBox="1"/>
            <p:nvPr/>
          </p:nvSpPr>
          <p:spPr>
            <a:xfrm>
              <a:off x="2880851" y="5371861"/>
              <a:ext cx="1492695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4. DATA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BF62DC32-75D3-366C-6191-9F703C15AE94}"/>
                </a:ext>
              </a:extLst>
            </p:cNvPr>
            <p:cNvSpPr txBox="1"/>
            <p:nvPr/>
          </p:nvSpPr>
          <p:spPr>
            <a:xfrm>
              <a:off x="3125774" y="5810234"/>
              <a:ext cx="1002848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5. ACK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D6564755-B0C2-1B87-E15E-1EDFFDB110A3}"/>
                </a:ext>
              </a:extLst>
            </p:cNvPr>
            <p:cNvSpPr txBox="1"/>
            <p:nvPr/>
          </p:nvSpPr>
          <p:spPr>
            <a:xfrm>
              <a:off x="7723862" y="5181237"/>
              <a:ext cx="1002848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2. CTS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95005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5386B2-4D86-418A-841B-0E5321F04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Antenna Timing Differences Reveal AoA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6A93578-5499-48CF-8E24-075DF5B18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Antennas hear</a:t>
            </a:r>
            <a:r>
              <a:rPr lang="zh-TW" altLang="en-US" dirty="0"/>
              <a:t> </a:t>
            </a:r>
            <a:r>
              <a:rPr lang="en-US" altLang="zh-TW" dirty="0"/>
              <a:t>signal at slightly different times	</a:t>
            </a:r>
          </a:p>
          <a:p>
            <a:r>
              <a:rPr lang="en-US" altLang="zh-TW" dirty="0"/>
              <a:t>Wave arrival pattern depends only on direction</a:t>
            </a:r>
          </a:p>
          <a:p>
            <a:r>
              <a:rPr lang="en-US" altLang="zh-TW" dirty="0"/>
              <a:t>Reading the pattern from CSI gives the AoA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66C22A3-9C71-4255-9FC7-490F7995214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BC8A1ED-4F98-4D8C-81F6-271243F7D6B0}" type="slidenum">
              <a:rPr lang="en-US" altLang="zh-TW" sz="1400" smtClean="0">
                <a:latin typeface="Times New Roman"/>
                <a:ea typeface="Times New Roman"/>
                <a:cs typeface="Times New Roman"/>
              </a:rPr>
              <a:t>23</a:t>
            </a:fld>
            <a:endParaRPr lang="en-US" altLang="zh-TW" sz="1400">
              <a:latin typeface="Times New Roman"/>
              <a:ea typeface="Times New Roman"/>
              <a:cs typeface="Times New Roman"/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82966C14-C85C-4C6B-95B8-93459039BC37}"/>
              </a:ext>
            </a:extLst>
          </p:cNvPr>
          <p:cNvGrpSpPr/>
          <p:nvPr/>
        </p:nvGrpSpPr>
        <p:grpSpPr>
          <a:xfrm>
            <a:off x="3685468" y="3289102"/>
            <a:ext cx="4333010" cy="3197244"/>
            <a:chOff x="3643905" y="2835055"/>
            <a:chExt cx="4333010" cy="3197244"/>
          </a:xfrm>
        </p:grpSpPr>
        <p:grpSp>
          <p:nvGrpSpPr>
            <p:cNvPr id="5" name="群組 4">
              <a:extLst>
                <a:ext uri="{FF2B5EF4-FFF2-40B4-BE49-F238E27FC236}">
                  <a16:creationId xmlns:a16="http://schemas.microsoft.com/office/drawing/2014/main" id="{06F3A160-F109-41A4-85A1-9142BAF75D9B}"/>
                </a:ext>
              </a:extLst>
            </p:cNvPr>
            <p:cNvGrpSpPr/>
            <p:nvPr/>
          </p:nvGrpSpPr>
          <p:grpSpPr>
            <a:xfrm>
              <a:off x="3643905" y="2835055"/>
              <a:ext cx="4333010" cy="3197244"/>
              <a:chOff x="3546935" y="3137919"/>
              <a:chExt cx="4333010" cy="3197244"/>
            </a:xfrm>
          </p:grpSpPr>
          <p:grpSp>
            <p:nvGrpSpPr>
              <p:cNvPr id="43" name="群組 42">
                <a:extLst>
                  <a:ext uri="{FF2B5EF4-FFF2-40B4-BE49-F238E27FC236}">
                    <a16:creationId xmlns:a16="http://schemas.microsoft.com/office/drawing/2014/main" id="{3DAD3106-B511-445E-A7D5-CD1A30115821}"/>
                  </a:ext>
                </a:extLst>
              </p:cNvPr>
              <p:cNvGrpSpPr/>
              <p:nvPr/>
            </p:nvGrpSpPr>
            <p:grpSpPr>
              <a:xfrm>
                <a:off x="3546935" y="3137919"/>
                <a:ext cx="4333010" cy="3197244"/>
                <a:chOff x="2992580" y="1973964"/>
                <a:chExt cx="4333010" cy="3197244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9280B86F-59F2-4358-BE59-D7B56947E4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3976254" y="4582391"/>
                  <a:ext cx="588817" cy="588817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7991B78D-C694-4413-8027-C7A8ABC614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736773" y="4582391"/>
                  <a:ext cx="588817" cy="588817"/>
                </a:xfrm>
                <a:prstGeom prst="rect">
                  <a:avLst/>
                </a:prstGeom>
              </p:spPr>
            </p:pic>
            <p:cxnSp>
              <p:nvCxnSpPr>
                <p:cNvPr id="9" name="直線單箭頭接點 8">
                  <a:extLst>
                    <a:ext uri="{FF2B5EF4-FFF2-40B4-BE49-F238E27FC236}">
                      <a16:creationId xmlns:a16="http://schemas.microsoft.com/office/drawing/2014/main" id="{A347363D-0293-4A51-A44B-DF7BB910E65A}"/>
                    </a:ext>
                  </a:extLst>
                </p:cNvPr>
                <p:cNvCxnSpPr>
                  <a:cxnSpLocks/>
                  <a:endCxn id="7" idx="0"/>
                </p:cNvCxnSpPr>
                <p:nvPr/>
              </p:nvCxnSpPr>
              <p:spPr>
                <a:xfrm>
                  <a:off x="4270662" y="4559531"/>
                  <a:ext cx="2760520" cy="2286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D9EB25E0-9122-4661-95C0-82F190E87EE9}"/>
                    </a:ext>
                  </a:extLst>
                </p:cNvPr>
                <p:cNvSpPr txBox="1"/>
                <p:nvPr/>
              </p:nvSpPr>
              <p:spPr>
                <a:xfrm>
                  <a:off x="5516684" y="4514461"/>
                  <a:ext cx="34809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24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d</a:t>
                  </a:r>
                  <a:endParaRPr lang="zh-TW" altLang="en-US" sz="24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13" name="直線單箭頭接點 12">
                  <a:extLst>
                    <a:ext uri="{FF2B5EF4-FFF2-40B4-BE49-F238E27FC236}">
                      <a16:creationId xmlns:a16="http://schemas.microsoft.com/office/drawing/2014/main" id="{6DD2B31A-D3FE-476F-95EC-AF9E5AC582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92580" y="3138055"/>
                  <a:ext cx="1278082" cy="1444336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線接點 14">
                  <a:extLst>
                    <a:ext uri="{FF2B5EF4-FFF2-40B4-BE49-F238E27FC236}">
                      <a16:creationId xmlns:a16="http://schemas.microsoft.com/office/drawing/2014/main" id="{59904E5F-5D86-40CC-B5E8-5BA0EB02523D}"/>
                    </a:ext>
                  </a:extLst>
                </p:cNvPr>
                <p:cNvCxnSpPr>
                  <a:cxnSpLocks/>
                  <a:stCxn id="6" idx="0"/>
                </p:cNvCxnSpPr>
                <p:nvPr/>
              </p:nvCxnSpPr>
              <p:spPr>
                <a:xfrm flipV="1">
                  <a:off x="4270663" y="3138055"/>
                  <a:ext cx="0" cy="144433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直線接點 17">
                  <a:extLst>
                    <a:ext uri="{FF2B5EF4-FFF2-40B4-BE49-F238E27FC236}">
                      <a16:creationId xmlns:a16="http://schemas.microsoft.com/office/drawing/2014/main" id="{3E5496BA-FF98-415A-A9C7-8B7535B7A85A}"/>
                    </a:ext>
                  </a:extLst>
                </p:cNvPr>
                <p:cNvCxnSpPr>
                  <a:cxnSpLocks/>
                  <a:stCxn id="7" idx="0"/>
                </p:cNvCxnSpPr>
                <p:nvPr/>
              </p:nvCxnSpPr>
              <p:spPr>
                <a:xfrm flipV="1">
                  <a:off x="7031182" y="3138055"/>
                  <a:ext cx="0" cy="144433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線單箭頭接點 19">
                  <a:extLst>
                    <a:ext uri="{FF2B5EF4-FFF2-40B4-BE49-F238E27FC236}">
                      <a16:creationId xmlns:a16="http://schemas.microsoft.com/office/drawing/2014/main" id="{4074F5E6-307D-4F7A-8D8E-F32546B814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17472" y="1973964"/>
                  <a:ext cx="2308177" cy="2608427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線接點 23">
                  <a:extLst>
                    <a:ext uri="{FF2B5EF4-FFF2-40B4-BE49-F238E27FC236}">
                      <a16:creationId xmlns:a16="http://schemas.microsoft.com/office/drawing/2014/main" id="{0ABF4525-4FF2-4A36-A0E0-C13AEC2A111F}"/>
                    </a:ext>
                  </a:extLst>
                </p:cNvPr>
                <p:cNvCxnSpPr>
                  <a:stCxn id="6" idx="0"/>
                </p:cNvCxnSpPr>
                <p:nvPr/>
              </p:nvCxnSpPr>
              <p:spPr>
                <a:xfrm flipV="1">
                  <a:off x="4270663" y="3278177"/>
                  <a:ext cx="1600897" cy="130421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L 圖案 35">
                  <a:extLst>
                    <a:ext uri="{FF2B5EF4-FFF2-40B4-BE49-F238E27FC236}">
                      <a16:creationId xmlns:a16="http://schemas.microsoft.com/office/drawing/2014/main" id="{8AE751F1-DA3A-421B-B199-44EF09DCC82A}"/>
                    </a:ext>
                  </a:extLst>
                </p:cNvPr>
                <p:cNvSpPr/>
                <p:nvPr/>
              </p:nvSpPr>
              <p:spPr>
                <a:xfrm rot="19381622">
                  <a:off x="5773722" y="3317462"/>
                  <a:ext cx="182117" cy="184893"/>
                </a:xfrm>
                <a:prstGeom prst="corner">
                  <a:avLst>
                    <a:gd name="adj1" fmla="val 0"/>
                    <a:gd name="adj2" fmla="val 0"/>
                  </a:avLst>
                </a:prstGeom>
                <a:solidFill>
                  <a:srgbClr val="FF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37FA17A4-A4B0-4E85-A16C-99439F452005}"/>
                    </a:ext>
                  </a:extLst>
                </p:cNvPr>
                <p:cNvSpPr txBox="1"/>
                <p:nvPr/>
              </p:nvSpPr>
              <p:spPr>
                <a:xfrm>
                  <a:off x="3649807" y="3273995"/>
                  <a:ext cx="34809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l-GR" altLang="zh-TW" sz="2400" dirty="0">
                      <a:solidFill>
                        <a:srgbClr val="FF000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θ</a:t>
                  </a:r>
                  <a:endParaRPr lang="zh-TW" altLang="en-US" sz="2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44" name="弧形 43">
                <a:extLst>
                  <a:ext uri="{FF2B5EF4-FFF2-40B4-BE49-F238E27FC236}">
                    <a16:creationId xmlns:a16="http://schemas.microsoft.com/office/drawing/2014/main" id="{2F604DA9-8BA2-4B31-BDB9-A9E821837C39}"/>
                  </a:ext>
                </a:extLst>
              </p:cNvPr>
              <p:cNvSpPr/>
              <p:nvPr/>
            </p:nvSpPr>
            <p:spPr>
              <a:xfrm>
                <a:off x="4218189" y="4881265"/>
                <a:ext cx="624840" cy="381000"/>
              </a:xfrm>
              <a:prstGeom prst="arc">
                <a:avLst>
                  <a:gd name="adj1" fmla="val 11099362"/>
                  <a:gd name="adj2" fmla="val 20898044"/>
                </a:avLst>
              </a:prstGeom>
              <a:noFill/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 sz="240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6CBC110D-A606-4AAD-A2A4-5BF86C2A99AA}"/>
                </a:ext>
              </a:extLst>
            </p:cNvPr>
            <p:cNvSpPr txBox="1"/>
            <p:nvPr/>
          </p:nvSpPr>
          <p:spPr>
            <a:xfrm>
              <a:off x="7024547" y="4135086"/>
              <a:ext cx="348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altLang="zh-TW" sz="2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θ</a:t>
              </a:r>
              <a:endParaRPr lang="zh-TW" alt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弧形 21">
              <a:extLst>
                <a:ext uri="{FF2B5EF4-FFF2-40B4-BE49-F238E27FC236}">
                  <a16:creationId xmlns:a16="http://schemas.microsoft.com/office/drawing/2014/main" id="{9CBF0CF5-E711-4472-AC10-DFA5BDA6E85D}"/>
                </a:ext>
              </a:extLst>
            </p:cNvPr>
            <p:cNvSpPr/>
            <p:nvPr/>
          </p:nvSpPr>
          <p:spPr>
            <a:xfrm>
              <a:off x="7075678" y="4578401"/>
              <a:ext cx="624840" cy="381000"/>
            </a:xfrm>
            <a:prstGeom prst="arc">
              <a:avLst>
                <a:gd name="adj1" fmla="val 11043331"/>
                <a:gd name="adj2" fmla="val 2080806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 sz="24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59738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CSI Representation</a:t>
            </a:r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B7BEEEC-A170-5376-2B6E-CB54687B0CB1}" type="slidenum">
              <a:rPr sz="1400">
                <a:latin typeface="Times New Roman"/>
                <a:ea typeface="Times New Roman"/>
                <a:cs typeface="Times New Roman"/>
              </a:rPr>
              <a:t>24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66361893-5D2A-0C1F-46D0-78D0A5600A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613" y="1073275"/>
                <a:ext cx="10916870" cy="5413072"/>
              </a:xfrm>
            </p:spPr>
            <p:txBody>
              <a:bodyPr/>
              <a:lstStyle/>
              <a:p>
                <a:r>
                  <a:rPr lang="en-US" altLang="zh-TW" dirty="0"/>
                  <a:t>Represented as a complex exponential</a:t>
                </a:r>
                <a:r>
                  <a:rPr lang="zh-TW" altLang="en-US" dirty="0"/>
                  <a:t> </a:t>
                </a:r>
                <a:br>
                  <a:rPr lang="en-US" altLang="zh-TW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zh-TW" b="0" i="1" dirty="0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𝑃𝑖</m:t>
                        </m:r>
                      </m:sup>
                    </m:sSup>
                  </m:oMath>
                </a14:m>
                <a:endParaRPr lang="en-US" altLang="zh-TW" dirty="0"/>
              </a:p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TW" altLang="zh-TW" dirty="0"/>
                  <a:t>:</a:t>
                </a:r>
                <a:r>
                  <a:rPr lang="en-US" altLang="zh-TW" dirty="0"/>
                  <a:t> Amplitude — </a:t>
                </a:r>
                <a:r>
                  <a:rPr lang="zh-TW" altLang="zh-TW" dirty="0"/>
                  <a:t>signal</a:t>
                </a:r>
                <a:r>
                  <a:rPr lang="en-US" altLang="zh-TW" dirty="0"/>
                  <a:t> strength relative to known transmitted wave</a:t>
                </a:r>
                <a:endParaRPr lang="zh-TW" altLang="zh-TW" dirty="0"/>
              </a:p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TW" altLang="zh-TW" dirty="0"/>
                  <a:t>:</a:t>
                </a:r>
                <a:r>
                  <a:rPr lang="en-US" altLang="zh-TW" dirty="0"/>
                  <a:t> Phase — signal’s rotation relative to a known transmitted wave</a:t>
                </a:r>
              </a:p>
              <a:p>
                <a:pPr marL="0" indent="0">
                  <a:buNone/>
                </a:pPr>
                <a:endParaRPr lang="zh-TW" altLang="zh-TW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66361893-5D2A-0C1F-46D0-78D0A5600A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613" y="1073275"/>
                <a:ext cx="10916870" cy="5413072"/>
              </a:xfrm>
              <a:blipFill>
                <a:blip r:embed="rId3"/>
                <a:stretch>
                  <a:fillRect l="-670" t="-9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>
            <a:extLst>
              <a:ext uri="{FF2B5EF4-FFF2-40B4-BE49-F238E27FC236}">
                <a16:creationId xmlns:a16="http://schemas.microsoft.com/office/drawing/2014/main" id="{630BB101-C222-4B90-A86F-55D35332D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1259" y="3136269"/>
            <a:ext cx="7813497" cy="2950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50150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Spatial Spectrum Estimation Estimates AoA</a:t>
            </a:r>
            <a:endParaRPr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Spatial spectrum estimation scores each angle by matching phase pattern to  CSI</a:t>
            </a:r>
          </a:p>
          <a:p>
            <a:pPr lvl="1"/>
            <a:r>
              <a:rPr lang="en-US" altLang="zh-TW" dirty="0"/>
              <a:t>Phase pattern of each angle is called </a:t>
            </a:r>
            <a:r>
              <a:rPr lang="en-US" altLang="zh-TW" b="1" dirty="0"/>
              <a:t>steering vector</a:t>
            </a:r>
          </a:p>
          <a:p>
            <a:r>
              <a:rPr lang="en-US" dirty="0"/>
              <a:t>Angle with the highest score is most likely signal's AoA</a:t>
            </a:r>
          </a:p>
          <a:p>
            <a:pPr lvl="1"/>
            <a:r>
              <a:rPr lang="en-US" dirty="0"/>
              <a:t>Multipath yields multiple peaks</a:t>
            </a:r>
            <a:endParaRPr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327921A4-25C4-3DB4-06B1-32693CEE2241}" type="slidenum">
              <a:rPr sz="1400">
                <a:latin typeface="Times New Roman"/>
                <a:ea typeface="Times New Roman"/>
                <a:cs typeface="Times New Roman"/>
              </a:rPr>
              <a:t>25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23A1663-12B7-489A-912B-C9D30A360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1802" y="2847109"/>
            <a:ext cx="6568395" cy="3498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05554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Classic Beamforming Hits a Resolution Wall</a:t>
            </a:r>
            <a:endParaRPr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straightforward scorer: shift each antenna's signal to align with a candidate angle, then sum - a true arrival from that angle adds up in phase (delay-and-sum beamforming)</a:t>
            </a:r>
          </a:p>
          <a:p>
            <a:r>
              <a:rPr dirty="0"/>
              <a:t>Sweeping this listening beam across all angles gives the spatial spectrum - like turning an ear toward each direction</a:t>
            </a:r>
          </a:p>
          <a:p>
            <a:r>
              <a:rPr dirty="0"/>
              <a:t>The beam's width is set by array size: with only 2-4 antennas it is roughly 60 degrees wide</a:t>
            </a:r>
          </a:p>
          <a:p>
            <a:r>
              <a:rPr dirty="0"/>
              <a:t>Indoor paths arrive just 10-20 degrees apart, so they merge into one blob inside the wide beam</a:t>
            </a:r>
          </a:p>
          <a:p>
            <a:r>
              <a:rPr dirty="0"/>
              <a:t>More antennas would sharpen the beam - but a commodity AP's antenna count is fixed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327921A4-25C4-3DB4-06B1-32693CEE2241}" type="slidenum">
              <a:rPr sz="1400">
                <a:latin typeface="Times New Roman"/>
                <a:ea typeface="Times New Roman"/>
                <a:cs typeface="Times New Roman"/>
              </a:rPr>
              <a:t>26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92342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Why We Use MUSIC</a:t>
            </a:r>
            <a:endParaRPr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MUSIC skips the beam entirely: it exploits the statistical structure of the received signal to test each angle directly, so resolution is not capped by antenna count</a:t>
            </a:r>
          </a:p>
          <a:p>
            <a:r>
              <a:rPr dirty="0"/>
              <a:t>Faster alternatives fit poorly: ESPRIT's algebraic shortcut exists only for strictly regular arrays and degrades under heavy multipath; exhaustive-search ML is accurate but computationally infeasible</a:t>
            </a:r>
          </a:p>
          <a:p>
            <a:r>
              <a:rPr dirty="0"/>
              <a:t>MUSIC works with any known antenna layout and stays robust in multipath; its heavier computation is affordable since localization does not need fast updates</a:t>
            </a:r>
          </a:p>
          <a:p>
            <a:r>
              <a:rPr dirty="0"/>
              <a:t>Proven on our hardware class: SpotFi reaches ~40 cm median accuracy with 3 antennas using MUSIC</a:t>
            </a:r>
          </a:p>
          <a:p>
            <a:r>
              <a:rPr dirty="0"/>
              <a:t>We therefore adopt MUSIC for AP-side AoA estimation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327921A4-25C4-3DB4-06B1-32693CEE2241}" type="slidenum">
              <a:rPr sz="1400">
                <a:latin typeface="Times New Roman"/>
                <a:ea typeface="Times New Roman"/>
                <a:cs typeface="Times New Roman"/>
              </a:rPr>
              <a:t>27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92342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LRG1 Provides AP-Side Control and Measurements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LRG1 exposes the RTS threshold as the main AP-side control knob.</a:t>
            </a:r>
          </a:p>
          <a:p>
            <a:r>
              <a:rPr dirty="0"/>
              <a:t>AP-side measurements include retry statistics, RSSI, CSI, AoA, and MCS.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30394428-F1DC-E5F6-DB0C-7DE31F3D8A23}" type="slidenum">
              <a:rPr sz="1400">
                <a:latin typeface="Times New Roman"/>
                <a:ea typeface="Times New Roman"/>
                <a:cs typeface="Times New Roman"/>
              </a:rPr>
              <a:t>28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92342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Performance Analysis Separates Gains from Limits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Analyze when the method improves performance and when its benefit is limited.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02F15020-66A7-620A-7B7A-C05C4312DEAE}" type="slidenum">
              <a:rPr sz="1400">
                <a:latin typeface="Times New Roman"/>
                <a:ea typeface="Times New Roman"/>
                <a:cs typeface="Times New Roman"/>
              </a:rPr>
              <a:t>29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9234266"/>
      </p:ext>
    </p:extLst>
  </p:cSld>
  <p:clrMapOvr>
    <a:masterClrMapping/>
  </p:clrMapOvr>
</p:sld>
</file>

<file path=ppt/theme/theme1.xml><?xml version="1.0" encoding="utf-8"?>
<a:theme xmlns:a="http://schemas.openxmlformats.org/drawingml/2006/main" name="2_Introduction to XSLT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Introduction to XSLT">
      <a:majorFont>
        <a:latin typeface="Arial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36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Times New Roman" pitchFamily="18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36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Times New Roman" pitchFamily="18" charset="0"/>
            <a:ea typeface="標楷體" pitchFamily="65" charset="-120"/>
          </a:defRPr>
        </a:defPPr>
      </a:lstStyle>
    </a:lnDef>
    <a:txDef>
      <a:spPr>
        <a:noFill/>
      </a:spPr>
      <a:bodyPr wrap="square" rtlCol="0" anchor="ctr">
        <a:spAutoFit/>
      </a:bodyPr>
      <a:lstStyle>
        <a:defPPr algn="ctr">
          <a:defRPr sz="2400" dirty="0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>
    <a:extraClrScheme>
      <a:clrScheme name="Introduction to XSLT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roduction to XSLT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uction to XSLT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uction to XSLT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uction to XSL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uction to XSL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uction to XSL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Introduction to XSLT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Introduction to XSLT">
      <a:majorFont>
        <a:latin typeface="Arial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1674</TotalTime>
  <Words>1119</Words>
  <Application>Microsoft Office PowerPoint</Application>
  <DocSecurity>0</DocSecurity>
  <PresentationFormat>寬螢幕</PresentationFormat>
  <Paragraphs>222</Paragraphs>
  <Slides>29</Slides>
  <Notes>21</Notes>
  <HiddenSlides>8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29</vt:i4>
      </vt:variant>
    </vt:vector>
  </HeadingPairs>
  <TitlesOfParts>
    <vt:vector size="37" baseType="lpstr">
      <vt:lpstr>微軟正黑體</vt:lpstr>
      <vt:lpstr>Arial</vt:lpstr>
      <vt:lpstr>Calibri</vt:lpstr>
      <vt:lpstr>Cambria Math</vt:lpstr>
      <vt:lpstr>Times New Roman</vt:lpstr>
      <vt:lpstr>Wingdings</vt:lpstr>
      <vt:lpstr>Wingdings 2</vt:lpstr>
      <vt:lpstr>2_Introduction to XSLT</vt:lpstr>
      <vt:lpstr>AoA-Assisted Dynamic RTS Threshold Adaptation for Hidden-Node Risk Mitigation in Wi-Fi</vt:lpstr>
      <vt:lpstr>Outline</vt:lpstr>
      <vt:lpstr>Outline</vt:lpstr>
      <vt:lpstr>Hidden Nodes Problem</vt:lpstr>
      <vt:lpstr>RTS/CTS Mitigates Hidden-Node Collisions</vt:lpstr>
      <vt:lpstr>No Static RTS Threshold Fits All Scenarios</vt:lpstr>
      <vt:lpstr>Location Info Unused for RTS Control</vt:lpstr>
      <vt:lpstr>Spatially Aware Dynamic RTS Threshold</vt:lpstr>
      <vt:lpstr>Outline</vt:lpstr>
      <vt:lpstr>Wi-Fi Channel State Information (CSI)</vt:lpstr>
      <vt:lpstr>Steering Vector: Direction's Fingerprint</vt:lpstr>
      <vt:lpstr>Multiple Signal Classification (MUSIC)</vt:lpstr>
      <vt:lpstr>Outline</vt:lpstr>
      <vt:lpstr>AoA-Assisted Dynamic RTS Threshold Adaptation</vt:lpstr>
      <vt:lpstr>Hidden-Node Risk Score</vt:lpstr>
      <vt:lpstr>Risk-Driven RTS Threshold Adaptation</vt:lpstr>
      <vt:lpstr>Outline</vt:lpstr>
      <vt:lpstr>Evaluation</vt:lpstr>
      <vt:lpstr>Outline</vt:lpstr>
      <vt:lpstr>Next Steps</vt:lpstr>
      <vt:lpstr>Appendix</vt:lpstr>
      <vt:lpstr>RTS/CTS Mitigates Hidden-Node Collisions</vt:lpstr>
      <vt:lpstr>Antenna Timing Differences Reveal AoA</vt:lpstr>
      <vt:lpstr>CSI Representation</vt:lpstr>
      <vt:lpstr>Spatial Spectrum Estimation Estimates AoA</vt:lpstr>
      <vt:lpstr>Classic Beamforming Hits a Resolution Wall</vt:lpstr>
      <vt:lpstr>Why We Use MUSIC</vt:lpstr>
      <vt:lpstr>LRG1 Provides AP-Side Control and Measurements</vt:lpstr>
      <vt:lpstr>Performance Analysis Separates Gains from Limits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惠品嘉</cp:lastModifiedBy>
  <cp:revision>193</cp:revision>
  <dcterms:created xsi:type="dcterms:W3CDTF">2026-07-03T03:43:28Z</dcterms:created>
  <dcterms:modified xsi:type="dcterms:W3CDTF">2026-07-17T09:00:24Z</dcterms:modified>
</cp:coreProperties>
</file>