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62" r:id="rId6"/>
    <p:sldId id="286" r:id="rId7"/>
    <p:sldId id="296" r:id="rId8"/>
    <p:sldId id="263" r:id="rId9"/>
    <p:sldId id="264" r:id="rId10"/>
    <p:sldId id="265" r:id="rId11"/>
    <p:sldId id="295" r:id="rId12"/>
    <p:sldId id="285" r:id="rId13"/>
    <p:sldId id="273" r:id="rId14"/>
    <p:sldId id="275" r:id="rId15"/>
    <p:sldId id="297" r:id="rId16"/>
    <p:sldId id="298" r:id="rId17"/>
    <p:sldId id="280" r:id="rId18"/>
    <p:sldId id="281" r:id="rId19"/>
    <p:sldId id="283" r:id="rId20"/>
    <p:sldId id="294" r:id="rId21"/>
    <p:sldId id="293" r:id="rId22"/>
    <p:sldId id="292" r:id="rId23"/>
    <p:sldId id="287" r:id="rId24"/>
    <p:sldId id="289" r:id="rId25"/>
    <p:sldId id="269" r:id="rId26"/>
    <p:sldId id="291" r:id="rId27"/>
    <p:sldId id="290" r:id="rId28"/>
    <p:sldId id="266" r:id="rId29"/>
    <p:sldId id="282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35" autoAdjust="0"/>
  </p:normalViewPr>
  <p:slideViewPr>
    <p:cSldViewPr snapToGrid="0">
      <p:cViewPr>
        <p:scale>
          <a:sx n="50" d="100"/>
          <a:sy n="50" d="100"/>
        </p:scale>
        <p:origin x="1260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只能控制 AP side的RTS threshold是問題嗎?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45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388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AFD-031B-0436-DE48-43D141BD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E3A4-B1A7-2C29-A3BB-1AC7E6D3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C6BEB-B163-351B-D7A5-C9DE47275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EBE5-E60A-E884-12FE-D8E2CA7D79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16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60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https://www.sciencedirect.com/science/article/pii/S209099771300031X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8868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 err="1"/>
              <a:t>AoA</a:t>
            </a:r>
            <a:r>
              <a:rPr sz="4000" dirty="0"/>
              <a:t>-Assisted Dynamic RTS Threshold Adaptation for Hidden-Node Risk Mitigation in</a:t>
            </a:r>
            <a:r>
              <a:rPr lang="en-US" sz="4000" dirty="0"/>
              <a:t> </a:t>
            </a:r>
            <a:r>
              <a:rPr sz="4000" dirty="0"/>
              <a:t>Wi-Fi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altLang="zh-TW" sz="2400" dirty="0"/>
              <a:t>AoA-Assisted Dynamic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Problem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evices</a:t>
            </a:r>
            <a:r>
              <a:rPr lang="zh-TW" altLang="en-US" dirty="0"/>
              <a:t> </a:t>
            </a:r>
            <a:r>
              <a:rPr lang="zh-TW" altLang="zh-TW" dirty="0"/>
              <a:t>can communicate with AP but cannot detect each other</a:t>
            </a:r>
            <a:endParaRPr lang="en-US" altLang="zh-TW" dirty="0"/>
          </a:p>
          <a:p>
            <a:r>
              <a:rPr lang="zh-TW" altLang="zh-TW" dirty="0"/>
              <a:t>When they transmit at the same time, their signals collide at the AP</a:t>
            </a:r>
            <a:endParaRPr lang="en-US" altLang="zh-TW" dirty="0"/>
          </a:p>
          <a:p>
            <a:pPr lvl="1"/>
            <a:r>
              <a:rPr lang="en-US" altLang="zh-TW" dirty="0"/>
              <a:t>C</a:t>
            </a:r>
            <a:r>
              <a:rPr lang="zh-TW" altLang="zh-TW" dirty="0"/>
              <a:t>auses packet loss and lower throughput</a:t>
            </a:r>
            <a:endParaRPr lang="en-US" altLang="zh-TW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8B64D92-EB49-29A6-9035-D014E91FA694}"/>
              </a:ext>
            </a:extLst>
          </p:cNvPr>
          <p:cNvGrpSpPr/>
          <p:nvPr/>
        </p:nvGrpSpPr>
        <p:grpSpPr>
          <a:xfrm>
            <a:off x="3040250" y="2824942"/>
            <a:ext cx="6255516" cy="3356964"/>
            <a:chOff x="2864188" y="3407243"/>
            <a:chExt cx="6255516" cy="335696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2864188" y="3407243"/>
              <a:ext cx="6255516" cy="3356964"/>
              <a:chOff x="2864188" y="3407243"/>
              <a:chExt cx="6255516" cy="3356964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6477661" y="5107482"/>
              <a:ext cx="407696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5098536" y="5107482"/>
              <a:ext cx="407695" cy="16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r>
              <a:rPr lang="zh-TW" altLang="zh-TW" dirty="0"/>
              <a:t>RTS/CTS makes nearby nodes defer, reducing hidden-node collisions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 Static RTS Threshold Fits All Scenarios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RTS/CTS is used only for frames above threshold</a:t>
            </a:r>
          </a:p>
          <a:p>
            <a:r>
              <a:rPr lang="en-US" altLang="zh-TW" dirty="0"/>
              <a:t>Commodity APs use one fixed</a:t>
            </a:r>
            <a:r>
              <a:rPr lang="zh-TW" altLang="en-US" dirty="0"/>
              <a:t> </a:t>
            </a:r>
            <a:r>
              <a:rPr lang="en-US" altLang="zh-TW" dirty="0"/>
              <a:t>threshold</a:t>
            </a:r>
          </a:p>
          <a:p>
            <a:r>
              <a:rPr lang="en-US" altLang="zh-TW" dirty="0"/>
              <a:t>Suitable threshold changes as nodes move </a:t>
            </a:r>
          </a:p>
          <a:p>
            <a:r>
              <a:rPr lang="en-US" altLang="zh-TW" dirty="0"/>
              <a:t>A fixed value falls below or above the suitable value</a:t>
            </a:r>
          </a:p>
          <a:p>
            <a:pPr lvl="1"/>
            <a:r>
              <a:rPr lang="en-US" altLang="zh-TW" dirty="0"/>
              <a:t>Below → RTS/CTS overhead even without hidden nodes</a:t>
            </a:r>
          </a:p>
          <a:p>
            <a:pPr lvl="1"/>
            <a:r>
              <a:rPr lang="en-US" altLang="zh-TW" dirty="0"/>
              <a:t>Above → Hidden-node collisions stay unresolved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6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537BE-4165-4A69-AB5D-4F2F037A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Location Info Unused for RTS Control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8B4F06-0621-4167-94AA-CF779A3D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Adaptive RTS threshold control already exists </a:t>
            </a:r>
          </a:p>
          <a:p>
            <a:pPr lvl="1"/>
            <a:r>
              <a:rPr lang="en-US" altLang="zh-TW" dirty="0"/>
              <a:t>Switch RTS/CTS on or off per frame </a:t>
            </a:r>
          </a:p>
          <a:p>
            <a:pPr lvl="1"/>
            <a:r>
              <a:rPr lang="en-US" altLang="zh-TW" dirty="0"/>
              <a:t>Tune the RTS threshold value</a:t>
            </a:r>
          </a:p>
          <a:p>
            <a:r>
              <a:rPr lang="en-US" altLang="zh-TW" dirty="0"/>
              <a:t>Prior work relies on link information only </a:t>
            </a:r>
          </a:p>
          <a:p>
            <a:pPr lvl="1"/>
            <a:r>
              <a:rPr lang="en-US" altLang="zh-TW" dirty="0"/>
              <a:t>E.g., Loss statistics or traffic models</a:t>
            </a:r>
          </a:p>
          <a:p>
            <a:r>
              <a:rPr lang="en-US" altLang="zh-TW" dirty="0"/>
              <a:t>No design uses location information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2F0DEB-F8E2-4DFD-B328-4570945C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7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108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Spatially Aware Dynamic RTS Threshold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Angle of Arrival (AoA)</a:t>
            </a:r>
            <a:r>
              <a:rPr lang="en-US" altLang="zh-TW" dirty="0"/>
              <a:t> is direction a signal arrives from </a:t>
            </a:r>
          </a:p>
          <a:p>
            <a:pPr lvl="1"/>
            <a:r>
              <a:rPr lang="en-US" altLang="zh-TW" dirty="0"/>
              <a:t>Reveals node’s relative directions</a:t>
            </a:r>
          </a:p>
          <a:p>
            <a:r>
              <a:rPr lang="en-US" altLang="zh-TW" dirty="0"/>
              <a:t>AP combines STA’s AoA with link information to estimate hidden-node risk</a:t>
            </a:r>
          </a:p>
          <a:p>
            <a:r>
              <a:rPr lang="en-US" altLang="zh-TW" dirty="0"/>
              <a:t>Estimated risk guides dynamic RTS threshold adjustment</a:t>
            </a:r>
          </a:p>
          <a:p>
            <a:r>
              <a:rPr lang="en-US" altLang="zh-TW" dirty="0"/>
              <a:t>Pay RTS/CTS overhead only when risk justifies it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779E7BFB-20B6-B8B2-C90A-141A37E3871B}"/>
              </a:ext>
            </a:extLst>
          </p:cNvPr>
          <p:cNvGrpSpPr/>
          <p:nvPr/>
        </p:nvGrpSpPr>
        <p:grpSpPr>
          <a:xfrm>
            <a:off x="4794524" y="2297482"/>
            <a:ext cx="7083343" cy="4140063"/>
            <a:chOff x="3682697" y="2357120"/>
            <a:chExt cx="7083343" cy="4140063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AD5334E4-5E3F-271D-49A4-A0339F43456F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194C1D77-EB0E-1156-5683-039C44728ACD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16" name="圖片 15">
                  <a:extLst>
                    <a:ext uri="{FF2B5EF4-FFF2-40B4-BE49-F238E27FC236}">
                      <a16:creationId xmlns:a16="http://schemas.microsoft.com/office/drawing/2014/main" id="{2D2CF050-5F83-3684-BBEA-1DD0F843D7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F00B8740-4605-14FE-830A-2D0CDFB89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18" name="直線單箭頭接點 17">
                  <a:extLst>
                    <a:ext uri="{FF2B5EF4-FFF2-40B4-BE49-F238E27FC236}">
                      <a16:creationId xmlns:a16="http://schemas.microsoft.com/office/drawing/2014/main" id="{1999D702-3560-3FC6-7FBA-6EC06343FA73}"/>
                    </a:ext>
                  </a:extLst>
                </p:cNvPr>
                <p:cNvCxnSpPr>
                  <a:cxnSpLocks/>
                  <a:endCxn id="1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EABBC760-7C29-7F9A-988B-B2DECB6484DA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59C273DE-AC46-CC90-7136-F30AC3F3C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線接點 20">
                  <a:extLst>
                    <a:ext uri="{FF2B5EF4-FFF2-40B4-BE49-F238E27FC236}">
                      <a16:creationId xmlns:a16="http://schemas.microsoft.com/office/drawing/2014/main" id="{5F053051-9B72-9E62-5F1E-205EFBCBF9C0}"/>
                    </a:ext>
                  </a:extLst>
                </p:cNvPr>
                <p:cNvCxnSpPr>
                  <a:cxnSpLocks/>
                  <a:stCxn id="1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線接點 21">
                  <a:extLst>
                    <a:ext uri="{FF2B5EF4-FFF2-40B4-BE49-F238E27FC236}">
                      <a16:creationId xmlns:a16="http://schemas.microsoft.com/office/drawing/2014/main" id="{E1350A11-69C6-BD43-7B60-6EC05C43BDCB}"/>
                    </a:ext>
                  </a:extLst>
                </p:cNvPr>
                <p:cNvCxnSpPr>
                  <a:cxnSpLocks/>
                  <a:stCxn id="1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單箭頭接點 22">
                  <a:extLst>
                    <a:ext uri="{FF2B5EF4-FFF2-40B4-BE49-F238E27FC236}">
                      <a16:creationId xmlns:a16="http://schemas.microsoft.com/office/drawing/2014/main" id="{A28ED947-9978-BE70-0264-753B8494A1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72F095FA-1420-80DB-E7EE-099E348D0954}"/>
                    </a:ext>
                  </a:extLst>
                </p:cNvPr>
                <p:cNvCxnSpPr>
                  <a:cxnSpLocks/>
                  <a:stCxn id="1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L 圖案 24">
                  <a:extLst>
                    <a:ext uri="{FF2B5EF4-FFF2-40B4-BE49-F238E27FC236}">
                      <a16:creationId xmlns:a16="http://schemas.microsoft.com/office/drawing/2014/main" id="{37E34BAC-2BDA-4B15-6682-D88B0BD7F6BD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文字方塊 25">
                      <a:extLst>
                        <a:ext uri="{FF2B5EF4-FFF2-40B4-BE49-F238E27FC236}">
                          <a16:creationId xmlns:a16="http://schemas.microsoft.com/office/drawing/2014/main" id="{5139A836-85F2-D9C2-FF76-E69A7EAD54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337AAD95-4056-BBC8-77E4-E8BCEFA3B5E0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8" name="直線單箭頭接點 27">
                  <a:extLst>
                    <a:ext uri="{FF2B5EF4-FFF2-40B4-BE49-F238E27FC236}">
                      <a16:creationId xmlns:a16="http://schemas.microsoft.com/office/drawing/2014/main" id="{22E06623-0C2F-4AC1-F285-A0B4FC0B2715}"/>
                    </a:ext>
                  </a:extLst>
                </p:cNvPr>
                <p:cNvCxnSpPr>
                  <a:endCxn id="1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弧形 14">
                <a:extLst>
                  <a:ext uri="{FF2B5EF4-FFF2-40B4-BE49-F238E27FC236}">
                    <a16:creationId xmlns:a16="http://schemas.microsoft.com/office/drawing/2014/main" id="{37794749-FE7C-961D-CF59-B785152D26C0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5C78E0C7-06D4-0DF6-904D-DA0449916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FA6650CF-0941-5C2A-952A-75FB7151EAA0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A93DDAA3-97B2-38F1-175D-A23E550F16ED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FB92FD6-4F5E-7F20-7586-E34A7DA7CC76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B1B95C03-4F9C-1DCC-4986-3616583D4716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1DA09D9A-A6E4-C776-51D6-27C00EC649EB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09C40FA9-9C6D-4870-F6C2-DF087996037F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Contains geometric information</a:t>
            </a:r>
          </a:p>
          <a:p>
            <a:r>
              <a:rPr lang="en-US" altLang="zh-TW" dirty="0"/>
              <a:t>Sender transmits a pattern known to receiver</a:t>
            </a:r>
          </a:p>
          <a:p>
            <a:r>
              <a:rPr lang="en-US" altLang="zh-TW" dirty="0"/>
              <a:t>Receiver estimates CSI from received pattern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1984109" y="3488866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stCxn id="8" idx="3"/>
            </p:cNvCxnSpPr>
            <p:nvPr/>
          </p:nvCxnSpPr>
          <p:spPr>
            <a:xfrm flipV="1">
              <a:off x="2394178" y="4073236"/>
              <a:ext cx="3076635" cy="93303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62869" y="4073235"/>
              <a:ext cx="3163411" cy="75179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394178" y="5006266"/>
              <a:ext cx="2125867" cy="644052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5413664" y="5328292"/>
              <a:ext cx="3212616" cy="45944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Vector:</a:t>
            </a:r>
            <a:r>
              <a:rPr lang="zh-TW" altLang="en-US" dirty="0"/>
              <a:t> </a:t>
            </a:r>
            <a:r>
              <a:rPr lang="en-US" altLang="zh-TW" dirty="0"/>
              <a:t>Direction's Fingerprint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 signal at slightly different times</a:t>
            </a:r>
          </a:p>
          <a:p>
            <a:r>
              <a:rPr lang="en-US" altLang="zh-TW" dirty="0"/>
              <a:t>Each AoA has a predictable arrival pattern</a:t>
            </a:r>
          </a:p>
          <a:p>
            <a:pPr lvl="1"/>
            <a:r>
              <a:rPr lang="en-US" altLang="zh-TW" dirty="0"/>
              <a:t>Predicted pattern is </a:t>
            </a:r>
            <a:r>
              <a:rPr lang="en-US" altLang="zh-TW" b="1" dirty="0"/>
              <a:t>Steering Vector</a:t>
            </a:r>
          </a:p>
          <a:p>
            <a:r>
              <a:rPr lang="en-US" altLang="zh-TW" dirty="0"/>
              <a:t>Compare measured CSI with every fingerprint</a:t>
            </a:r>
          </a:p>
          <a:p>
            <a:pPr lvl="1"/>
            <a:r>
              <a:rPr lang="en-US" altLang="zh-TW" dirty="0"/>
              <a:t>The best match is the AoA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11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E7AC0B8-E206-48B0-82EB-C7C7FBDD70D1}"/>
              </a:ext>
            </a:extLst>
          </p:cNvPr>
          <p:cNvGrpSpPr/>
          <p:nvPr/>
        </p:nvGrpSpPr>
        <p:grpSpPr>
          <a:xfrm>
            <a:off x="4794524" y="2297482"/>
            <a:ext cx="7083343" cy="4140063"/>
            <a:chOff x="3682697" y="2357120"/>
            <a:chExt cx="7083343" cy="41400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0BF44F4A-6F25-415D-A27F-6F39896AB33A}"/>
                    </a:ext>
                  </a:extLst>
                </p:cNvPr>
                <p:cNvCxnSpPr>
                  <a:endCxn id="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1373AC0-E96E-4464-A232-F5F3E3A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D38B8C8-C97F-4BBE-AB3C-92270E79969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076A017-029F-42DB-8D08-E3852581F4A1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2BD27C6-9FA1-43A8-B2A9-32B149143C9B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4B230B2-CEA4-42FC-B3C4-7E3C3C98663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DF36F0F-620F-4B21-A9EB-035C19207A0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01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6F68BC6-C333-4646-BEC6-2D2D5F10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152" y="2757576"/>
            <a:ext cx="6908753" cy="36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Signal Classification </a:t>
            </a:r>
            <a:r>
              <a:rPr lang="en-US" altLang="zh-TW" b="1" dirty="0"/>
              <a:t>(MUSIC)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MUSIC is algorithm that estimates AoA from CSI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Widely used in Wi-Fi localization</a:t>
            </a:r>
          </a:p>
          <a:p>
            <a:r>
              <a:rPr lang="en-US" dirty="0"/>
              <a:t>MUSIC matches every angle's steering vector to CSI</a:t>
            </a:r>
          </a:p>
          <a:p>
            <a:pPr lvl="1"/>
            <a:r>
              <a:rPr lang="en-US" dirty="0"/>
              <a:t>Matching produces a spatial spectrum</a:t>
            </a:r>
          </a:p>
          <a:p>
            <a:pPr lvl="1"/>
            <a:r>
              <a:rPr lang="en-US" dirty="0"/>
              <a:t>Peaks indicate likely </a:t>
            </a:r>
            <a:r>
              <a:rPr lang="en-US" dirty="0" err="1"/>
              <a:t>AoAs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/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AoA-Assisted Dynamic RTS Threshold Adaptation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3566535E-77B5-477A-BF25-59D4724EFFCA}"/>
              </a:ext>
            </a:extLst>
          </p:cNvPr>
          <p:cNvGrpSpPr/>
          <p:nvPr/>
        </p:nvGrpSpPr>
        <p:grpSpPr>
          <a:xfrm>
            <a:off x="1486974" y="2016710"/>
            <a:ext cx="9045914" cy="3295220"/>
            <a:chOff x="1055100" y="2081613"/>
            <a:chExt cx="9045914" cy="32952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C25DBC9-3EBD-4EC0-8DFB-BC101BEC54C0}"/>
                </a:ext>
              </a:extLst>
            </p:cNvPr>
            <p:cNvSpPr/>
            <p:nvPr/>
          </p:nvSpPr>
          <p:spPr bwMode="auto">
            <a:xfrm>
              <a:off x="1055100" y="2081959"/>
              <a:ext cx="1187392" cy="1213200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Collect</a:t>
              </a:r>
              <a:b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</a:b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CSI</a:t>
              </a:r>
              <a:endPara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674B59-0DCC-4CEA-9EFE-EFEFDE45CD17}"/>
                </a:ext>
              </a:extLst>
            </p:cNvPr>
            <p:cNvSpPr/>
            <p:nvPr/>
          </p:nvSpPr>
          <p:spPr bwMode="auto">
            <a:xfrm>
              <a:off x="4000510" y="2081613"/>
              <a:ext cx="1869311" cy="1213893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Estimate AoA with MUSIC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F47BE7C-8C61-480A-836D-DE1747AEDB84}"/>
                </a:ext>
              </a:extLst>
            </p:cNvPr>
            <p:cNvSpPr/>
            <p:nvPr/>
          </p:nvSpPr>
          <p:spPr bwMode="auto">
            <a:xfrm>
              <a:off x="7627839" y="2081613"/>
              <a:ext cx="2473175" cy="1213893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Score pair-level hidden-node risk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2EF4AC1-7467-4647-A690-0E382B9540B3}"/>
                </a:ext>
              </a:extLst>
            </p:cNvPr>
            <p:cNvSpPr/>
            <p:nvPr/>
          </p:nvSpPr>
          <p:spPr bwMode="auto">
            <a:xfrm>
              <a:off x="7847685" y="4163286"/>
              <a:ext cx="2033482" cy="1213200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Aggregate risk to BSS level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E13763C-5AAA-4D55-93CD-3C27988CF89D}"/>
                </a:ext>
              </a:extLst>
            </p:cNvPr>
            <p:cNvSpPr/>
            <p:nvPr/>
          </p:nvSpPr>
          <p:spPr bwMode="auto">
            <a:xfrm>
              <a:off x="4561316" y="4163286"/>
              <a:ext cx="1694032" cy="1213200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dirty="0">
                  <a:solidFill>
                    <a:srgbClr val="3297FC"/>
                  </a:solidFill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Update RTS threshold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47422E6-1AA4-4193-9C3F-8FD803E14079}"/>
                </a:ext>
              </a:extLst>
            </p:cNvPr>
            <p:cNvSpPr/>
            <p:nvPr/>
          </p:nvSpPr>
          <p:spPr bwMode="auto">
            <a:xfrm>
              <a:off x="1055100" y="4162940"/>
              <a:ext cx="1694032" cy="1213893"/>
            </a:xfrm>
            <a:prstGeom prst="rect">
              <a:avLst/>
            </a:prstGeom>
            <a:noFill/>
            <a:ln w="28575" cap="flat" cmpd="sng" algn="ctr">
              <a:solidFill>
                <a:srgbClr val="3297F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TW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rPr>
                <a:t>Sync threshold to all STAs</a:t>
              </a:r>
              <a:endParaRPr kumimoji="1" lang="zh-TW" altLang="en-US" sz="2400" i="0" u="none" strike="noStrike" cap="none" normalizeH="0" baseline="0" dirty="0">
                <a:ln>
                  <a:noFill/>
                </a:ln>
                <a:solidFill>
                  <a:srgbClr val="3297FC"/>
                </a:solidFill>
                <a:effectLst/>
                <a:latin typeface="Calibri" panose="020F0502020204030204" pitchFamily="34" charset="0"/>
                <a:ea typeface="標楷體" pitchFamily="65" charset="-120"/>
                <a:cs typeface="Calibri" panose="020F0502020204030204" pitchFamily="34" charset="0"/>
              </a:endParaRPr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8B99F6E-DED3-429D-8F1F-D490A7D89A33}"/>
              </a:ext>
            </a:extLst>
          </p:cNvPr>
          <p:cNvCxnSpPr>
            <a:stCxn id="5" idx="3"/>
            <a:endCxn id="6" idx="1"/>
          </p:cNvCxnSpPr>
          <p:nvPr/>
        </p:nvCxnSpPr>
        <p:spPr bwMode="auto">
          <a:xfrm>
            <a:off x="2674366" y="2623656"/>
            <a:ext cx="1758018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D6DB566-DA7A-42B4-B0F7-E04352F36853}"/>
              </a:ext>
            </a:extLst>
          </p:cNvPr>
          <p:cNvCxnSpPr>
            <a:stCxn id="6" idx="3"/>
          </p:cNvCxnSpPr>
          <p:nvPr/>
        </p:nvCxnSpPr>
        <p:spPr bwMode="auto">
          <a:xfrm flipV="1">
            <a:off x="6301695" y="2623656"/>
            <a:ext cx="1758018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230E37B2-5195-4BA8-9852-9EFC280C7B2D}"/>
              </a:ext>
            </a:extLst>
          </p:cNvPr>
          <p:cNvCxnSpPr>
            <a:stCxn id="7" idx="2"/>
            <a:endCxn id="8" idx="0"/>
          </p:cNvCxnSpPr>
          <p:nvPr/>
        </p:nvCxnSpPr>
        <p:spPr bwMode="auto">
          <a:xfrm flipH="1">
            <a:off x="9296300" y="3230603"/>
            <a:ext cx="1" cy="8677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0AF1626-20AA-4E20-94D8-5A5B4EB66648}"/>
              </a:ext>
            </a:extLst>
          </p:cNvPr>
          <p:cNvCxnSpPr>
            <a:stCxn id="8" idx="1"/>
            <a:endCxn id="9" idx="3"/>
          </p:cNvCxnSpPr>
          <p:nvPr/>
        </p:nvCxnSpPr>
        <p:spPr bwMode="auto">
          <a:xfrm flipH="1">
            <a:off x="6687222" y="4704983"/>
            <a:ext cx="1592337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D7449194-9A3E-496D-9D25-4AE0D67E5FB1}"/>
              </a:ext>
            </a:extLst>
          </p:cNvPr>
          <p:cNvCxnSpPr>
            <a:stCxn id="9" idx="1"/>
            <a:endCxn id="10" idx="3"/>
          </p:cNvCxnSpPr>
          <p:nvPr/>
        </p:nvCxnSpPr>
        <p:spPr bwMode="auto">
          <a:xfrm flipH="1">
            <a:off x="3181006" y="4704983"/>
            <a:ext cx="1812184" cy="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Hidden-Node Risk Score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r>
              <a:rPr lang="en-US" altLang="zh-TW" dirty="0"/>
              <a:t>Pair-level risk computed for each active STA pair</a:t>
            </a:r>
          </a:p>
          <a:p>
            <a:pPr lvl="1"/>
            <a:r>
              <a:rPr lang="en-US" altLang="zh-TW" dirty="0"/>
              <a:t>Geometric information</a:t>
            </a:r>
          </a:p>
          <a:p>
            <a:pPr lvl="2"/>
            <a:r>
              <a:rPr lang="en-US" altLang="zh-TW" dirty="0"/>
              <a:t>AoA between two active STAs</a:t>
            </a:r>
          </a:p>
          <a:p>
            <a:pPr lvl="1"/>
            <a:r>
              <a:rPr lang="en-US" altLang="zh-TW" dirty="0"/>
              <a:t>Link information</a:t>
            </a:r>
          </a:p>
          <a:p>
            <a:pPr lvl="2"/>
            <a:r>
              <a:rPr lang="en-US" altLang="zh-TW" dirty="0"/>
              <a:t>Retry rate / RSSI / MCS / traffic activity</a:t>
            </a:r>
          </a:p>
          <a:p>
            <a:r>
              <a:rPr lang="en-US" altLang="zh-TW" dirty="0"/>
              <a:t>Pair risks aggregate into a BSS-level score 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4140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C1B5A-7ECB-4B29-938A-FE380B20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Risk-Driven RTS Threshold Adaptation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73DB14-0049-47E8-9DE5-C2EF1F96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High risk → lower the RTS threshold </a:t>
            </a:r>
          </a:p>
          <a:p>
            <a:pPr lvl="1"/>
            <a:r>
              <a:rPr lang="en-US" altLang="zh-TW" dirty="0"/>
              <a:t>Protect more frames</a:t>
            </a:r>
          </a:p>
          <a:p>
            <a:r>
              <a:rPr lang="en-US" altLang="zh-TW" dirty="0"/>
              <a:t>Low risk → raise/restore the threshold </a:t>
            </a:r>
          </a:p>
          <a:p>
            <a:pPr lvl="1"/>
            <a:r>
              <a:rPr lang="en-US" altLang="zh-TW" dirty="0"/>
              <a:t>Avoid unnecessary overhead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FD60A6-02CF-43A6-97E9-1DB411585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16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70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Evaluation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Scenarios</a:t>
            </a:r>
          </a:p>
          <a:p>
            <a:pPr lvl="1"/>
            <a:r>
              <a:rPr lang="en-US" dirty="0"/>
              <a:t>H</a:t>
            </a:r>
            <a:r>
              <a:rPr dirty="0"/>
              <a:t>idden-node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on-hidden-node</a:t>
            </a:r>
            <a:endParaRPr lang="en-US" dirty="0"/>
          </a:p>
          <a:p>
            <a:r>
              <a:rPr lang="en-US" altLang="zh-TW" dirty="0"/>
              <a:t>Threshold Control Policy</a:t>
            </a:r>
            <a:r>
              <a:rPr dirty="0"/>
              <a:t> </a:t>
            </a:r>
          </a:p>
          <a:p>
            <a:pPr lvl="1"/>
            <a:r>
              <a:rPr lang="en-US" dirty="0"/>
              <a:t>Static </a:t>
            </a:r>
            <a:r>
              <a:rPr dirty="0"/>
              <a:t>RTS </a:t>
            </a:r>
            <a:r>
              <a:rPr lang="en-US" altLang="zh-TW" dirty="0"/>
              <a:t>threshold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ynamic RTS threshold</a:t>
            </a:r>
            <a:endParaRPr lang="en-US" dirty="0"/>
          </a:p>
          <a:p>
            <a:pPr lvl="1"/>
            <a:r>
              <a:rPr lang="en-US" dirty="0"/>
              <a:t>Disable</a:t>
            </a:r>
            <a:r>
              <a:rPr lang="zh-TW" altLang="en-US" dirty="0"/>
              <a:t> </a:t>
            </a:r>
            <a:r>
              <a:rPr lang="en-US" altLang="zh-TW" dirty="0"/>
              <a:t>RTS/CTS</a:t>
            </a:r>
            <a:endParaRPr lang="en-US" dirty="0"/>
          </a:p>
          <a:p>
            <a:pPr marL="288000" lvl="1" indent="0">
              <a:buNone/>
            </a:pPr>
            <a:endParaRPr dirty="0"/>
          </a:p>
          <a:p>
            <a:r>
              <a:rPr lang="en-US" altLang="zh-TW" dirty="0"/>
              <a:t>Metrics</a:t>
            </a:r>
            <a:endParaRPr dirty="0"/>
          </a:p>
          <a:p>
            <a:pPr lvl="1"/>
            <a:r>
              <a:rPr lang="en-US" dirty="0"/>
              <a:t>T</a:t>
            </a:r>
            <a:r>
              <a:rPr dirty="0"/>
              <a:t>hroughput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etry rate</a:t>
            </a:r>
            <a:endParaRPr lang="en-US" dirty="0"/>
          </a:p>
          <a:p>
            <a:pPr lvl="1"/>
            <a:r>
              <a:rPr lang="en-US" altLang="zh-TW" dirty="0"/>
              <a:t>L</a:t>
            </a:r>
            <a:r>
              <a:rPr dirty="0"/>
              <a:t>atency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19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B381-88E0-4540-A720-E44FC5D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9DBA-0B62-40AA-A21F-3A72F28D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Adopt other MUSIC variant for AoA estimation</a:t>
            </a:r>
          </a:p>
          <a:p>
            <a:r>
              <a:rPr lang="en-US" altLang="zh-TW" dirty="0"/>
              <a:t>Speed up MUSIC </a:t>
            </a:r>
          </a:p>
          <a:p>
            <a:r>
              <a:rPr lang="en-US" altLang="zh-TW" dirty="0"/>
              <a:t>Define risk scoring and score-to-threshold mapping</a:t>
            </a:r>
          </a:p>
          <a:p>
            <a:pPr lvl="1"/>
            <a:r>
              <a:rPr lang="en-US" altLang="zh-TW" dirty="0"/>
              <a:t> Reinforcement learning?</a:t>
            </a:r>
          </a:p>
          <a:p>
            <a:r>
              <a:rPr lang="en-US" altLang="zh-TW" dirty="0"/>
              <a:t>Define evaluation scenarios, baselines, and metrics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5F32A-F583-40A3-82C9-26659D8E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20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69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4F076-2DF4-9E29-862A-AB256C8C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AB997-52DC-E930-769C-64DBDAF0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EBAC9-5BB1-9D5C-FA3C-1E85B99DD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21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45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FBF0E1-39CB-5C7F-5C2C-3FAEEF8D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2A0F9-9AD2-8D3B-3924-7807A20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14A24-8912-C2E4-B047-76FA0E7DBD9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prstDash val="solid"/>
          </a:ln>
        </p:spPr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A8A2A-9895-F6E4-2B85-BF908720991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6C6B06-146C-8446-740C-954B48AB9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73" y="0"/>
            <a:ext cx="6885079" cy="3874915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8F24FEFB-E948-6828-8820-A1BF738DBD54}"/>
              </a:ext>
            </a:extLst>
          </p:cNvPr>
          <p:cNvGrpSpPr/>
          <p:nvPr/>
        </p:nvGrpSpPr>
        <p:grpSpPr>
          <a:xfrm>
            <a:off x="683120" y="4412921"/>
            <a:ext cx="10525449" cy="1858978"/>
            <a:chOff x="683120" y="4412921"/>
            <a:chExt cx="10525449" cy="1858978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C34715-CD92-4EF6-E963-079FD2528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497" y="4655880"/>
              <a:ext cx="1492696" cy="1492696"/>
            </a:xfrm>
            <a:prstGeom prst="rect">
              <a:avLst/>
            </a:prstGeom>
          </p:spPr>
        </p:pic>
        <p:pic>
          <p:nvPicPr>
            <p:cNvPr id="15" name="內容版面配置區 5">
              <a:extLst>
                <a:ext uri="{FF2B5EF4-FFF2-40B4-BE49-F238E27FC236}">
                  <a16:creationId xmlns:a16="http://schemas.microsoft.com/office/drawing/2014/main" id="{87DCA9B4-EBF1-BD47-0670-3F0E8127A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120" y="4606166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13" name="內容版面配置區 5">
              <a:extLst>
                <a:ext uri="{FF2B5EF4-FFF2-40B4-BE49-F238E27FC236}">
                  <a16:creationId xmlns:a16="http://schemas.microsoft.com/office/drawing/2014/main" id="{CE1408E1-ECF2-BDAC-ECA9-38EAD55E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4" y="4606166"/>
              <a:ext cx="1592125" cy="1592125"/>
            </a:xfrm>
            <a:prstGeom prst="rect">
              <a:avLst/>
            </a:prstGeom>
            <a:noFill/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9E78668-A021-D738-3EF8-802EA91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161" y="5376122"/>
              <a:ext cx="2924251" cy="1162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8C16597-8B5A-3D23-22AC-962DAD57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475132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1EB34A-BF3B-B9E7-B67E-4E0B7FB756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5181237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1B8D763-F711-C376-7B22-DD3174469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561115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E3E8D74-23EA-EEB8-22B0-13A3E5B7F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6041068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乘號 24">
              <a:extLst>
                <a:ext uri="{FF2B5EF4-FFF2-40B4-BE49-F238E27FC236}">
                  <a16:creationId xmlns:a16="http://schemas.microsoft.com/office/drawing/2014/main" id="{2ADC5F1C-DA21-6D69-13F5-E4252A5A7618}"/>
                </a:ext>
              </a:extLst>
            </p:cNvPr>
            <p:cNvSpPr/>
            <p:nvPr/>
          </p:nvSpPr>
          <p:spPr bwMode="auto">
            <a:xfrm>
              <a:off x="9620029" y="4412921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2DEAADC-FD9F-C6CA-E6F1-A67F1E247410}"/>
                </a:ext>
              </a:extLst>
            </p:cNvPr>
            <p:cNvSpPr txBox="1"/>
            <p:nvPr/>
          </p:nvSpPr>
          <p:spPr>
            <a:xfrm>
              <a:off x="3125774" y="443993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RTS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445FC50-601C-D5B8-5EDF-8B3B26827A35}"/>
                </a:ext>
              </a:extLst>
            </p:cNvPr>
            <p:cNvSpPr txBox="1"/>
            <p:nvPr/>
          </p:nvSpPr>
          <p:spPr>
            <a:xfrm>
              <a:off x="3125774" y="492607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DA75034-86A3-89B3-C452-1C71C7909568}"/>
                </a:ext>
              </a:extLst>
            </p:cNvPr>
            <p:cNvSpPr txBox="1"/>
            <p:nvPr/>
          </p:nvSpPr>
          <p:spPr>
            <a:xfrm>
              <a:off x="2880851" y="5371861"/>
              <a:ext cx="149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DATA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F62DC32-75D3-366C-6191-9F703C15AE94}"/>
                </a:ext>
              </a:extLst>
            </p:cNvPr>
            <p:cNvSpPr txBox="1"/>
            <p:nvPr/>
          </p:nvSpPr>
          <p:spPr>
            <a:xfrm>
              <a:off x="3125774" y="5810234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ACK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6564755-B0C2-1B87-E15E-1EDFFDB110A3}"/>
                </a:ext>
              </a:extLst>
            </p:cNvPr>
            <p:cNvSpPr txBox="1"/>
            <p:nvPr/>
          </p:nvSpPr>
          <p:spPr>
            <a:xfrm>
              <a:off x="7723862" y="5181237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500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Antenna Timing Differences Reveal AoA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</a:t>
            </a:r>
            <a:r>
              <a:rPr lang="zh-TW" altLang="en-US" dirty="0"/>
              <a:t> </a:t>
            </a:r>
            <a:r>
              <a:rPr lang="en-US" altLang="zh-TW" dirty="0"/>
              <a:t>signal at slightly different times	</a:t>
            </a:r>
          </a:p>
          <a:p>
            <a:r>
              <a:rPr lang="en-US" altLang="zh-TW" dirty="0"/>
              <a:t>Wave arrival pattern depends only on direction</a:t>
            </a:r>
          </a:p>
          <a:p>
            <a:r>
              <a:rPr lang="en-US" altLang="zh-TW" dirty="0"/>
              <a:t>Reading the pattern from CSI gives the AoA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23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966C14-C85C-4C6B-95B8-93459039BC37}"/>
              </a:ext>
            </a:extLst>
          </p:cNvPr>
          <p:cNvGrpSpPr/>
          <p:nvPr/>
        </p:nvGrpSpPr>
        <p:grpSpPr>
          <a:xfrm>
            <a:off x="3685468" y="3289102"/>
            <a:ext cx="4333010" cy="3197244"/>
            <a:chOff x="3643905" y="2835055"/>
            <a:chExt cx="4333010" cy="3197244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stCxn id="6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CBC110D-A606-4AAD-A2A4-5BF86C2A99AA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9CBF0CF5-E711-4472-AC10-DFA5BDA6E85D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24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1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Spatial spectrum estimation scores each angle by matching phase pattern to  CSI</a:t>
            </a:r>
          </a:p>
          <a:p>
            <a:pPr lvl="1"/>
            <a:r>
              <a:rPr lang="en-US" altLang="zh-TW" dirty="0"/>
              <a:t>Phase pattern of each angle is called </a:t>
            </a:r>
            <a:r>
              <a:rPr lang="en-US" altLang="zh-TW" b="1" dirty="0"/>
              <a:t>steering vector</a:t>
            </a:r>
          </a:p>
          <a:p>
            <a:r>
              <a:rPr lang="en-US" dirty="0"/>
              <a:t>Angle with the highest score is most likely signal's AoA</a:t>
            </a:r>
          </a:p>
          <a:p>
            <a:pPr lvl="1"/>
            <a:r>
              <a:rPr lang="en-US" dirty="0"/>
              <a:t>Multipath yields multiple peaks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3A1663-12B7-489A-912B-C9D30A360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02" y="2847109"/>
            <a:ext cx="6568395" cy="34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555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Classic Beamforming Hits a Resolution Wall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straightforward scorer: shift each antenna's signal to align with a candidate angle, then sum - a true arrival from that angle adds up in phase (delay-and-sum beamforming)</a:t>
            </a:r>
          </a:p>
          <a:p>
            <a:r>
              <a:rPr dirty="0"/>
              <a:t>Sweeping this listening beam across all angles gives the spatial spectrum - like turning an ear toward each direction</a:t>
            </a:r>
          </a:p>
          <a:p>
            <a:r>
              <a:rPr dirty="0"/>
              <a:t>The beam's width is set by array size: with only 2-4 antennas it is roughly 60 degrees wide</a:t>
            </a:r>
          </a:p>
          <a:p>
            <a:r>
              <a:rPr dirty="0"/>
              <a:t>Indoor paths arrive just 10-20 degrees apart, so they merge into one blob inside the wide beam</a:t>
            </a:r>
          </a:p>
          <a:p>
            <a:r>
              <a:rPr dirty="0"/>
              <a:t>More antennas would sharpen the beam - but a commodity AP's antenna count is fixed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We Use 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skips the beam entirely: it exploits the statistical structure of the received signal to test each angle directly, so resolution is not capped by antenna count</a:t>
            </a:r>
          </a:p>
          <a:p>
            <a:r>
              <a:rPr dirty="0"/>
              <a:t>Faster alternatives fit poorly: ESPRIT's algebraic shortcut exists only for strictly regular arrays and degrades under heavy multipath; exhaustive-search ML is accurate but computationally infeasible</a:t>
            </a:r>
          </a:p>
          <a:p>
            <a:r>
              <a:rPr dirty="0"/>
              <a:t>MUSIC works with any known antenna layout and stays robust in multipath; its heavier computation is affordable since localization does not need fast updates</a:t>
            </a:r>
          </a:p>
          <a:p>
            <a:r>
              <a:rPr dirty="0"/>
              <a:t>Proven on our hardware class: SpotFi reaches ~40 cm median accuracy with 3 antennas using MUSIC</a:t>
            </a:r>
          </a:p>
          <a:p>
            <a:r>
              <a:rPr dirty="0"/>
              <a:t>We therefore adopt MUSIC for AP-side AoA estimation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28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1127</Words>
  <Application>Microsoft Office PowerPoint</Application>
  <DocSecurity>0</DocSecurity>
  <PresentationFormat>寬螢幕</PresentationFormat>
  <Paragraphs>227</Paragraphs>
  <Slides>29</Slides>
  <Notes>21</Notes>
  <HiddenSlides>8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AoA-Assisted Dynamic RTS Threshold Adaptation for Hidden-Node Risk Mitigation in Wi-Fi</vt:lpstr>
      <vt:lpstr>Outline</vt:lpstr>
      <vt:lpstr>Outline</vt:lpstr>
      <vt:lpstr>Hidden Nodes Problem</vt:lpstr>
      <vt:lpstr>RTS/CTS Mitigates Hidden-Node Collisions</vt:lpstr>
      <vt:lpstr>No Static RTS Threshold Fits All Scenarios</vt:lpstr>
      <vt:lpstr>Location Info Unused for RTS Control</vt:lpstr>
      <vt:lpstr>Spatially Aware Dynamic RTS Threshold</vt:lpstr>
      <vt:lpstr>Outline</vt:lpstr>
      <vt:lpstr>Wi-Fi Channel State Information (CSI)</vt:lpstr>
      <vt:lpstr>Steering Vector: Direction's Fingerprint</vt:lpstr>
      <vt:lpstr>Multiple Signal Classification (MUSIC)</vt:lpstr>
      <vt:lpstr>Outline</vt:lpstr>
      <vt:lpstr>AoA-Assisted Dynamic RTS Threshold Adaptation</vt:lpstr>
      <vt:lpstr>Hidden-Node Risk Score</vt:lpstr>
      <vt:lpstr>Risk-Driven RTS Threshold Adaptation</vt:lpstr>
      <vt:lpstr>Outline</vt:lpstr>
      <vt:lpstr>Evaluation</vt:lpstr>
      <vt:lpstr>Outline</vt:lpstr>
      <vt:lpstr>Next Steps</vt:lpstr>
      <vt:lpstr>Appendix</vt:lpstr>
      <vt:lpstr>RTS/CTS Mitigates Hidden-Node Collisions</vt:lpstr>
      <vt:lpstr>Antenna Timing Differences Reveal AoA</vt:lpstr>
      <vt:lpstr>CSI Representation</vt:lpstr>
      <vt:lpstr>Spatial Spectrum Estimation Estimates AoA</vt:lpstr>
      <vt:lpstr>Classic Beamforming Hits a Resolution Wall</vt:lpstr>
      <vt:lpstr>Why We Use MUSIC</vt:lpstr>
      <vt:lpstr>LRG1 Provides AP-Side Control and Measurements</vt:lpstr>
      <vt:lpstr>Performance Analysis Separates Gains from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194</cp:revision>
  <dcterms:created xsi:type="dcterms:W3CDTF">2026-07-03T03:43:28Z</dcterms:created>
  <dcterms:modified xsi:type="dcterms:W3CDTF">2026-07-20T06:46:51Z</dcterms:modified>
</cp:coreProperties>
</file>