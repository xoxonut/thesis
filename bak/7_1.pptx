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2" r:id="rId6"/>
    <p:sldId id="286" r:id="rId7"/>
    <p:sldId id="263" r:id="rId8"/>
    <p:sldId id="264" r:id="rId9"/>
    <p:sldId id="265" r:id="rId10"/>
    <p:sldId id="269" r:id="rId11"/>
    <p:sldId id="287" r:id="rId12"/>
    <p:sldId id="285" r:id="rId13"/>
    <p:sldId id="288" r:id="rId14"/>
    <p:sldId id="266" r:id="rId15"/>
    <p:sldId id="273" r:id="rId16"/>
    <p:sldId id="274" r:id="rId17"/>
    <p:sldId id="275" r:id="rId18"/>
    <p:sldId id="277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3527ECD-3B7D-48AF-8209-F9F6ECCDC9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>
              <a:buNone/>
            </a:pPr>
            <a:r>
              <a:t>封面看要放      機櫃、NCTU照片、或其他</a:t>
            </a:r>
          </a:p>
          <a:p>
            <a:pPr>
              <a:buNone/>
            </a:pPr>
            <a:r>
              <a:t>按一下以編輯母片副標題樣式</a:t>
            </a:r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DE5CCFFA-BB39-4AC8-9914-C410FC690B47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0FAAEC-1858-4685-98AA-F4DB2E25313A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標題 15">
            <a:extLst>
              <a:ext uri="{FF2B5EF4-FFF2-40B4-BE49-F238E27FC236}">
                <a16:creationId xmlns:a16="http://schemas.microsoft.com/office/drawing/2014/main" id="{2B9E3D8F-9614-4F1E-A82E-3D68C5EC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06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EEEAB-B03B-448E-97DE-64DAD77F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7E82E76-F0A8-4496-8985-11AF5F703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0F6A7DA4-E894-494D-AAE9-AB52CC43733C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F6CF54-E884-4B0B-B76D-07A8FAB8F3B1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B0D921CC-6E9E-9736-56F4-1FACE8D5A904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4830C6-10FC-8690-4E44-34E0175936F9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B233E-828E-45EE-B567-D0B8127B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D9B85E1-5167-4ADC-B944-63A2905E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1E054C21-F1B7-40DD-AE70-E00B4E8ECCE9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794B12-34E7-40DF-8879-7286EDF5FA3E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B0D921CC-6E9E-9736-56F4-1FACE8D5A904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4830C6-10FC-8690-4E44-34E0175936F9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B4333-6BDF-45E2-9B84-F9EAC0A9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93BF12CC-9135-44DC-A3AC-7EC89A5E8667}"/>
              </a:ext>
            </a:extLst>
          </p:cNvPr>
          <p:cNvSpPr>
            <a:spLocks noGrp="1"/>
          </p:cNvSpPr>
          <p:nvPr/>
        </p:nvSpPr>
        <p:spPr>
          <a:xfrm>
            <a:off x="695400" y="1092306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A9BF05-7C6A-4B83-913B-2230294A1E14}"/>
              </a:ext>
            </a:extLst>
          </p:cNvPr>
          <p:cNvSpPr>
            <a:spLocks noGrp="1"/>
          </p:cNvSpPr>
          <p:nvPr/>
        </p:nvSpPr>
        <p:spPr>
          <a:xfrm>
            <a:off x="695400" y="1057055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0758D79E-32AB-45AB-9216-803052C57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>
              <a:buNone/>
            </a:pPr>
            <a:endParaRPr/>
          </a:p>
        </p:txBody>
      </p:sp>
      <p:pic>
        <p:nvPicPr>
          <p:cNvPr id="4100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</p:spPr>
      </p:pic>
      <p:pic>
        <p:nvPicPr>
          <p:cNvPr id="4101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sp>
        <p:nvSpPr>
          <p:cNvPr id="3" name="弧形 2">
            <a:extLst>
              <a:ext uri="{FF2B5EF4-FFF2-40B4-BE49-F238E27FC236}">
                <a16:creationId xmlns:a16="http://schemas.microsoft.com/office/drawing/2014/main" id="{0AEEF28E-0B33-4819-83DA-4DABFD9D6AC3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F01A1A-3BF3-42CF-A2B3-86106841325F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4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>
            <a:extLst>
              <a:ext uri="{FF2B5EF4-FFF2-40B4-BE49-F238E27FC236}">
                <a16:creationId xmlns:a16="http://schemas.microsoft.com/office/drawing/2014/main" id="{A4717AEB-C8EB-4F12-844D-123205FF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t>按一下以編輯母片標題樣式</a:t>
            </a:r>
          </a:p>
        </p:txBody>
      </p:sp>
      <p:sp>
        <p:nvSpPr>
          <p:cNvPr id="18" name="投影片編號版面配置區 2">
            <a:extLst>
              <a:ext uri="{FF2B5EF4-FFF2-40B4-BE49-F238E27FC236}">
                <a16:creationId xmlns:a16="http://schemas.microsoft.com/office/drawing/2014/main" id="{95C02333-A5BB-41BA-A9D1-B0C6E7FBCE82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buNone/>
            </a:pPr>
            <a:fld id="{DBC8A1ED-4F98-4D8C-81F6-271243F7D6B0}" type="slidenum">
              <a:t>‹#›</a:t>
            </a:fld>
            <a:endParaRPr/>
          </a:p>
        </p:txBody>
      </p:sp>
      <p:pic>
        <p:nvPicPr>
          <p:cNvPr id="4107" name="圖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4108" name="內容版面配置區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>
            <a:spLocks noGrp="1"/>
          </p:cNvSpPr>
          <p:nvPr/>
        </p:nvSpPr>
        <p:spPr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10" name="圖片 40"/>
          <p:cNvPicPr>
            <a:picLocks noChangeAspect="1"/>
          </p:cNvPicPr>
          <p:nvPr/>
        </p:nvPicPr>
        <p:blipFill>
          <a:blip r:embed="rId7">
            <a:alphaModFix amt="13000"/>
            <a:lum bright="70000" contrast="-70000"/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111" name="圖片 39"/>
          <p:cNvPicPr>
            <a:picLocks noChangeAspect="1"/>
          </p:cNvPicPr>
          <p:nvPr/>
        </p:nvPicPr>
        <p:blipFill rotWithShape="1">
          <a:blip r:embed="rId8">
            <a:alphaModFix amt="50000"/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12" name="圖片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113" name="圖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114" name="圖片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115" name="圖片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116" name="圖片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117" name="圖片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118" name="圖片 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119" name="圖片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120" name="圖片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4121" name="圖片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4122" name="圖片 50"/>
          <p:cNvPicPr>
            <a:picLocks noChangeAspect="1"/>
          </p:cNvPicPr>
          <p:nvPr/>
        </p:nvPicPr>
        <p:blipFill rotWithShape="1">
          <a:blip r:embed="rId19">
            <a:alphaModFix amt="50000"/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4123" name="圖片 51"/>
          <p:cNvPicPr>
            <a:picLocks noChangeAspect="1"/>
          </p:cNvPicPr>
          <p:nvPr/>
        </p:nvPicPr>
        <p:blipFill rotWithShape="1">
          <a:blip r:embed="rId2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4124" name="Picture 6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891893" y="28689"/>
            <a:ext cx="2057400" cy="438150"/>
          </a:xfrm>
          <a:prstGeom prst="rect">
            <a:avLst/>
          </a:prstGeom>
        </p:spPr>
      </p:pic>
      <p:pic>
        <p:nvPicPr>
          <p:cNvPr id="4125" name="內容版面配置區 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89804" y="3747453"/>
            <a:ext cx="1780748" cy="1449446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4126" name="圖片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4127" name="圖片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4128" name="圖片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>
            <a:spLocks noGrp="1"/>
          </p:cNvSpPr>
          <p:nvPr/>
        </p:nvSpPr>
        <p:spPr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30" name="Picture 2"/>
          <p:cNvPicPr>
            <a:picLocks noChangeAspect="1"/>
          </p:cNvPicPr>
          <p:nvPr/>
        </p:nvPicPr>
        <p:blipFill rotWithShape="1">
          <a:blip r:embed="rId26"/>
          <a:srcRect r="51740" b="20361"/>
          <a:stretch/>
        </p:blipFill>
        <p:spPr>
          <a:xfrm>
            <a:off x="9574796" y="4458667"/>
            <a:ext cx="878200" cy="1041608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>
            <a:spLocks noGrp="1"/>
          </p:cNvSpPr>
          <p:nvPr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t>電子/資通訊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>
            <a:spLocks noGrp="1"/>
          </p:cNvSpPr>
          <p:nvPr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sz="1600" b="1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生物醫學</a:t>
            </a:r>
          </a:p>
        </p:txBody>
      </p:sp>
      <p:pic>
        <p:nvPicPr>
          <p:cNvPr id="4133" name="Picture 2"/>
          <p:cNvPicPr>
            <a:picLocks noChangeAspect="1"/>
          </p:cNvPicPr>
          <p:nvPr/>
        </p:nvPicPr>
        <p:blipFill rotWithShape="1">
          <a:blip r:embed="rId26"/>
          <a:srcRect l="48135" b="20361"/>
          <a:stretch/>
        </p:blipFill>
        <p:spPr>
          <a:xfrm>
            <a:off x="10702093" y="4447943"/>
            <a:ext cx="943786" cy="10416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BBFF59-DD79-4B36-84ED-48AC9E33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t>按一下以編輯母片標題樣式</a:t>
            </a:r>
          </a:p>
        </p:txBody>
      </p:sp>
      <p:pic>
        <p:nvPicPr>
          <p:cNvPr id="3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sp>
        <p:nvSpPr>
          <p:cNvPr id="6" name="弧形 5">
            <a:extLst>
              <a:ext uri="{FF2B5EF4-FFF2-40B4-BE49-F238E27FC236}">
                <a16:creationId xmlns:a16="http://schemas.microsoft.com/office/drawing/2014/main" id="{E04097B6-326E-4C38-9743-4463D489760B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31A808-357A-4BF7-8E12-EA85DCF75AF0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79419" y="1097909"/>
            <a:ext cx="1836205" cy="1200878"/>
          </a:xfrm>
          <a:prstGeom prst="rect">
            <a:avLst/>
          </a:prstGeom>
        </p:spPr>
      </p:pic>
      <p:pic>
        <p:nvPicPr>
          <p:cNvPr id="10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1" name="Picture 1"/>
          <p:cNvPicPr>
            <a:picLocks noChangeAspect="1"/>
          </p:cNvPicPr>
          <p:nvPr/>
        </p:nvPicPr>
        <p:blipFill rotWithShape="1">
          <a:blip r:embed="rId6"/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/>
        </p:nvPicPr>
        <p:blipFill rotWithShape="1">
          <a:blip r:embed="rId7"/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3" name="圖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4" name="圖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15" name="圖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16" name="圖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17" name="圖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18" name="圖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19" name="圖片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20" name="圖片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21" name="圖片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E40BD8-1AD1-4494-8055-75B98060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01D97C8-7A27-4AD0-9C39-B6315D8E9C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AoA-Assisted Dynamic RTS Threshold Adaptation for Hidden-Node Risk Mitigation in Commodity Wi-Fi APs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dirty="0" err="1"/>
              <a:t>AoA</a:t>
            </a:r>
            <a:r>
              <a:rPr dirty="0"/>
              <a:t>-Assisted Risk Score and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 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 Problem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The hidden node problem occurs when two nodes in a wireless network can communicate with a third node, but cannot communicate with each other directly due to obstacles or being out of range</a:t>
            </a:r>
            <a:endParaRPr lang="en-US" altLang="zh-TW" dirty="0"/>
          </a:p>
          <a:p>
            <a:r>
              <a:rPr lang="zh-TW" altLang="zh-TW" dirty="0"/>
              <a:t> This can lead to collisions at the third node when both nodes transmit simultaneously</a:t>
            </a:r>
            <a:endParaRPr lang="zh-TW" altLang="en-US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8B64D92-EB49-29A6-9035-D014E91FA694}"/>
              </a:ext>
            </a:extLst>
          </p:cNvPr>
          <p:cNvGrpSpPr/>
          <p:nvPr/>
        </p:nvGrpSpPr>
        <p:grpSpPr>
          <a:xfrm>
            <a:off x="2968242" y="3129382"/>
            <a:ext cx="6255516" cy="3356964"/>
            <a:chOff x="2864188" y="3407243"/>
            <a:chExt cx="6255516" cy="335696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2864188" y="3407243"/>
              <a:ext cx="6255516" cy="3356964"/>
              <a:chOff x="2864188" y="3407243"/>
              <a:chExt cx="6255516" cy="3356964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6477661" y="5107482"/>
              <a:ext cx="407696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5098536" y="5107482"/>
              <a:ext cx="407695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Mitigation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RTS/CTS is an optional 802.11 mechanism used before data transmission</a:t>
            </a:r>
            <a:endParaRPr lang="en-US" altLang="zh-TW" dirty="0"/>
          </a:p>
          <a:p>
            <a:r>
              <a:rPr lang="zh-TW" altLang="zh-TW" dirty="0"/>
              <a:t>Sender first sends an </a:t>
            </a:r>
            <a:r>
              <a:rPr lang="zh-TW" altLang="zh-TW" b="1" dirty="0"/>
              <a:t>RTS</a:t>
            </a:r>
            <a:r>
              <a:rPr lang="zh-TW" altLang="zh-TW" dirty="0"/>
              <a:t> frame to request channel access</a:t>
            </a:r>
            <a:endParaRPr lang="en-US" altLang="zh-TW" dirty="0"/>
          </a:p>
          <a:p>
            <a:r>
              <a:rPr lang="zh-TW" altLang="zh-TW" dirty="0"/>
              <a:t>Receiver replies with a </a:t>
            </a:r>
            <a:r>
              <a:rPr lang="zh-TW" altLang="zh-TW" b="1" dirty="0"/>
              <a:t>CTS</a:t>
            </a:r>
            <a:r>
              <a:rPr lang="zh-TW" altLang="zh-TW" dirty="0"/>
              <a:t> frame to grant transmission permission</a:t>
            </a:r>
            <a:endParaRPr lang="en-US" altLang="zh-TW" dirty="0"/>
          </a:p>
          <a:p>
            <a:r>
              <a:rPr lang="zh-TW" altLang="zh-TW" dirty="0"/>
              <a:t>Nearby nodes that hear RTS or CTS update their </a:t>
            </a:r>
            <a:r>
              <a:rPr lang="zh-TW" altLang="zh-TW" b="1" dirty="0"/>
              <a:t>NAV</a:t>
            </a:r>
            <a:r>
              <a:rPr lang="zh-TW" altLang="zh-TW" dirty="0"/>
              <a:t> and defer transmission</a:t>
            </a:r>
            <a:endParaRPr lang="en-US" altLang="zh-TW" dirty="0"/>
          </a:p>
          <a:p>
            <a:r>
              <a:rPr lang="zh-TW" altLang="zh-TW" dirty="0"/>
              <a:t>Hidden nodes that cannot hear the sender may still hear the receiver</a:t>
            </a:r>
            <a:r>
              <a:rPr lang="en-US" altLang="zh-TW" dirty="0"/>
              <a:t>’s </a:t>
            </a:r>
            <a:r>
              <a:rPr lang="zh-TW" altLang="zh-TW" dirty="0"/>
              <a:t>CTS, so they remain silent</a:t>
            </a:r>
            <a:endParaRPr lang="en-US" altLang="zh-TW" dirty="0"/>
          </a:p>
          <a:p>
            <a:r>
              <a:rPr lang="en-US" altLang="zh-TW" dirty="0"/>
              <a:t>Sender sends real data</a:t>
            </a:r>
          </a:p>
          <a:p>
            <a:r>
              <a:rPr lang="zh-TW" altLang="zh-TW" dirty="0"/>
              <a:t>This reserves the channel around the receiver and reduces hidden-node collisions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48C459E-E296-531E-6CCD-6F0C86BAB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348" y="4216853"/>
            <a:ext cx="3784424" cy="212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Static RTS Threshold Limitation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In conventional 802.11, the RTS threshold is usually configured as a </a:t>
            </a:r>
            <a:r>
              <a:rPr lang="zh-TW" altLang="zh-TW" b="1" dirty="0"/>
              <a:t>static value</a:t>
            </a:r>
            <a:r>
              <a:rPr lang="zh-TW" altLang="zh-TW" dirty="0"/>
              <a:t>.</a:t>
            </a:r>
            <a:endParaRPr lang="en-US" altLang="zh-TW" dirty="0"/>
          </a:p>
          <a:p>
            <a:r>
              <a:rPr lang="zh-TW" altLang="zh-TW" dirty="0"/>
              <a:t>Because the threshold is fixed, it cannot adapt to STA physical location or hidden-node conditions.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6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Hidden-Node Risk-Aware RTS Threshold Control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State the thesis goal early: let the AP infer hidden-node risk from </a:t>
            </a:r>
            <a:r>
              <a:rPr lang="en-US" altLang="zh-TW" dirty="0"/>
              <a:t>Angle of Arrival 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dirty="0" err="1"/>
              <a:t>AoA</a:t>
            </a:r>
            <a:r>
              <a:rPr lang="en-US" altLang="zh-TW" dirty="0"/>
              <a:t>)</a:t>
            </a:r>
            <a:r>
              <a:rPr dirty="0"/>
              <a:t> and link observations, then tune the RTS threshold dynamically.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/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WiFi OFDM</a:t>
            </a:r>
            <a:r>
              <a:rPr lang="en-US" altLang="zh-TW" dirty="0"/>
              <a:t> </a:t>
            </a:r>
            <a:r>
              <a:rPr b="1" dirty="0"/>
              <a:t>CSI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zh-TW" altLang="zh-TW" b="1" dirty="0"/>
              <a:t>CSI means Channel State Information</a:t>
            </a:r>
            <a:endParaRPr lang="en-US" altLang="zh-TW" b="1" dirty="0"/>
          </a:p>
          <a:p>
            <a:r>
              <a:rPr lang="zh-TW" altLang="zh-TW" dirty="0"/>
              <a:t>It describes how a WiFi signal changes from transmitter to receiver</a:t>
            </a:r>
            <a:endParaRPr lang="en-US" altLang="zh-TW" dirty="0"/>
          </a:p>
          <a:p>
            <a:r>
              <a:rPr lang="zh-TW" altLang="zh-TW" dirty="0"/>
              <a:t>CSI is not measured directly from random data.</a:t>
            </a:r>
          </a:p>
          <a:p>
            <a:r>
              <a:rPr lang="zh-TW" altLang="zh-TW" dirty="0"/>
              <a:t>The sender first sends a </a:t>
            </a:r>
            <a:r>
              <a:rPr lang="zh-TW" altLang="zh-TW" b="1" dirty="0"/>
              <a:t>known signal pattern</a:t>
            </a:r>
            <a:endParaRPr lang="en-US" altLang="zh-TW" b="1" dirty="0"/>
          </a:p>
          <a:p>
            <a:r>
              <a:rPr lang="en-US" altLang="zh-TW" dirty="0"/>
              <a:t>Receiver </a:t>
            </a:r>
            <a:r>
              <a:rPr lang="zh-TW" altLang="zh-TW" dirty="0"/>
              <a:t>measure</a:t>
            </a:r>
            <a:r>
              <a:rPr lang="en-US" altLang="zh-TW" dirty="0"/>
              <a:t> CSI</a:t>
            </a:r>
            <a:r>
              <a:rPr lang="zh-TW" altLang="zh-TW" dirty="0"/>
              <a:t> on </a:t>
            </a:r>
            <a:r>
              <a:rPr lang="en-US" altLang="zh-TW" dirty="0"/>
              <a:t>each subcarrier and each transmit-receiver antenna pair</a:t>
            </a:r>
            <a:endParaRPr lang="zh-TW" altLang="zh-TW" dirty="0"/>
          </a:p>
          <a:p>
            <a:r>
              <a:rPr lang="zh-TW" altLang="zh-TW" dirty="0"/>
              <a:t>Each CSI value is complex:</a:t>
            </a:r>
          </a:p>
          <a:p>
            <a:pPr lvl="1"/>
            <a:r>
              <a:rPr lang="zh-TW" altLang="zh-TW" b="1" dirty="0"/>
              <a:t>Amplitude</a:t>
            </a:r>
            <a:r>
              <a:rPr lang="zh-TW" altLang="zh-TW" dirty="0"/>
              <a:t>:</a:t>
            </a:r>
            <a:endParaRPr lang="en-US" altLang="zh-TW" dirty="0"/>
          </a:p>
          <a:p>
            <a:pPr lvl="2"/>
            <a:r>
              <a:rPr lang="zh-TW" altLang="zh-TW" dirty="0"/>
              <a:t> how strong the signal is</a:t>
            </a:r>
            <a:endParaRPr lang="en-US" altLang="zh-TW" dirty="0"/>
          </a:p>
          <a:p>
            <a:pPr lvl="2"/>
            <a:r>
              <a:rPr lang="zh-TW" altLang="zh-TW" dirty="0"/>
              <a:t>A larger amplitude means the signal is stronger</a:t>
            </a:r>
          </a:p>
          <a:p>
            <a:pPr lvl="1"/>
            <a:r>
              <a:rPr lang="zh-TW" altLang="zh-TW" b="1" dirty="0"/>
              <a:t>Phase</a:t>
            </a:r>
            <a:r>
              <a:rPr lang="zh-TW" altLang="zh-TW" dirty="0"/>
              <a:t>: </a:t>
            </a:r>
            <a:endParaRPr lang="en-US" altLang="zh-TW" dirty="0"/>
          </a:p>
          <a:p>
            <a:pPr lvl="2"/>
            <a:r>
              <a:rPr lang="zh-TW" altLang="zh-TW" dirty="0"/>
              <a:t>how much the signal is shifted</a:t>
            </a:r>
            <a:endParaRPr lang="en-US" altLang="zh-TW" dirty="0"/>
          </a:p>
          <a:p>
            <a:pPr lvl="2"/>
            <a:r>
              <a:rPr lang="zh-TW" altLang="zh-TW" dirty="0"/>
              <a:t>Different paths or arrival directions create different phase shifts</a:t>
            </a:r>
            <a:endParaRPr lang="en-US" altLang="zh-TW" dirty="0"/>
          </a:p>
          <a:p>
            <a:r>
              <a:rPr lang="en-US" altLang="zh-TW" dirty="0"/>
              <a:t>Represent in e 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phase pattern across antenna array</a:t>
            </a:r>
            <a:r>
              <a:rPr lang="zh-TW" altLang="en-US" dirty="0"/>
              <a:t> </a:t>
            </a:r>
            <a:r>
              <a:rPr lang="en-US" altLang="zh-TW" dirty="0"/>
              <a:t>when signal arrives from</a:t>
            </a:r>
            <a:r>
              <a:rPr lang="zh-TW" altLang="en-US" dirty="0"/>
              <a:t> </a:t>
            </a:r>
            <a:r>
              <a:rPr lang="en-US" altLang="zh-TW" dirty="0"/>
              <a:t>specific angle</a:t>
            </a:r>
            <a:r>
              <a:rPr lang="zh-TW" altLang="en-US" dirty="0"/>
              <a:t> </a:t>
            </a:r>
            <a:r>
              <a:rPr lang="el-GR" altLang="zh-TW" dirty="0"/>
              <a:t>θ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dirty="0"/>
              <a:t>Physical origin</a:t>
            </a:r>
            <a:r>
              <a:rPr lang="zh-TW" altLang="en-US" dirty="0"/>
              <a:t> </a:t>
            </a:r>
            <a:r>
              <a:rPr lang="en-US" altLang="zh-TW" dirty="0"/>
              <a:t>from a plane wave reaches different antennas with different propagation distances </a:t>
            </a:r>
            <a:r>
              <a:rPr lang="en-US" altLang="zh-TW" dirty="0" err="1"/>
              <a:t>dsin</a:t>
            </a:r>
            <a:r>
              <a:rPr lang="el-GR" altLang="zh-TW" dirty="0"/>
              <a:t>θ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DAD3106-B511-445E-A7D5-CD1A30115821}"/>
              </a:ext>
            </a:extLst>
          </p:cNvPr>
          <p:cNvGrpSpPr/>
          <p:nvPr/>
        </p:nvGrpSpPr>
        <p:grpSpPr>
          <a:xfrm>
            <a:off x="3546935" y="3137919"/>
            <a:ext cx="4333010" cy="3197244"/>
            <a:chOff x="2992580" y="1973964"/>
            <a:chExt cx="4333010" cy="319724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80B86F-59F2-4358-BE59-D7B56947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6254" y="4582391"/>
              <a:ext cx="588817" cy="5888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991B78D-C694-4413-8027-C7A8ABC61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6773" y="4582391"/>
              <a:ext cx="588817" cy="588817"/>
            </a:xfrm>
            <a:prstGeom prst="rect">
              <a:avLst/>
            </a:prstGeom>
          </p:spPr>
        </p:pic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A347363D-0293-4A51-A44B-DF7BB910E65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4270662" y="4559531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9EB25E0-9122-4661-95C0-82F190E87EE9}"/>
                </a:ext>
              </a:extLst>
            </p:cNvPr>
            <p:cNvSpPr txBox="1"/>
            <p:nvPr/>
          </p:nvSpPr>
          <p:spPr>
            <a:xfrm>
              <a:off x="5516684" y="4514461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DD2B31A-D3FE-476F-95EC-AF9E5AC58250}"/>
                </a:ext>
              </a:extLst>
            </p:cNvPr>
            <p:cNvCxnSpPr>
              <a:cxnSpLocks/>
            </p:cNvCxnSpPr>
            <p:nvPr/>
          </p:nvCxnSpPr>
          <p:spPr>
            <a:xfrm>
              <a:off x="2992580" y="3138055"/>
              <a:ext cx="1278082" cy="14443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9904E5F-5D86-40CC-B5E8-5BA0EB02523D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270663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E5496BA-FF98-415A-A9C7-8B7535B7A85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031182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074F5E6-307D-4F7A-8D8E-F32546B814E2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72" y="1973964"/>
              <a:ext cx="2308177" cy="26084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0ABF4525-4FF2-4A36-A0E0-C13AEC2A111F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4270663" y="3278177"/>
              <a:ext cx="1600897" cy="13042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L 圖案 35">
              <a:extLst>
                <a:ext uri="{FF2B5EF4-FFF2-40B4-BE49-F238E27FC236}">
                  <a16:creationId xmlns:a16="http://schemas.microsoft.com/office/drawing/2014/main" id="{8AE751F1-DA3A-421B-B199-44EF09DCC82A}"/>
                </a:ext>
              </a:extLst>
            </p:cNvPr>
            <p:cNvSpPr/>
            <p:nvPr/>
          </p:nvSpPr>
          <p:spPr>
            <a:xfrm rot="19381622">
              <a:off x="5773722" y="3317462"/>
              <a:ext cx="182117" cy="184893"/>
            </a:xfrm>
            <a:prstGeom prst="corner">
              <a:avLst>
                <a:gd name="adj1" fmla="val 0"/>
                <a:gd name="adj2" fmla="val 0"/>
              </a:avLst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D4B25BA2-5813-4C8D-9D08-1BD12C7361A8}"/>
                </a:ext>
              </a:extLst>
            </p:cNvPr>
            <p:cNvSpPr txBox="1"/>
            <p:nvPr/>
          </p:nvSpPr>
          <p:spPr>
            <a:xfrm>
              <a:off x="5638726" y="3752015"/>
              <a:ext cx="870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dsin</a:t>
              </a:r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7FA17A4-A4B0-4E85-A16C-99439F452005}"/>
                </a:ext>
              </a:extLst>
            </p:cNvPr>
            <p:cNvSpPr txBox="1"/>
            <p:nvPr/>
          </p:nvSpPr>
          <p:spPr>
            <a:xfrm>
              <a:off x="3649807" y="3273995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0BF44F4A-6F25-415D-A27F-6F39896AB33A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5864780" y="3278177"/>
              <a:ext cx="1166402" cy="13042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弧形 43">
            <a:extLst>
              <a:ext uri="{FF2B5EF4-FFF2-40B4-BE49-F238E27FC236}">
                <a16:creationId xmlns:a16="http://schemas.microsoft.com/office/drawing/2014/main" id="{2F604DA9-8BA2-4B31-BDB9-A9E821837C39}"/>
              </a:ext>
            </a:extLst>
          </p:cNvPr>
          <p:cNvSpPr/>
          <p:nvPr/>
        </p:nvSpPr>
        <p:spPr>
          <a:xfrm>
            <a:off x="4218189" y="4881265"/>
            <a:ext cx="624840" cy="381000"/>
          </a:xfrm>
          <a:prstGeom prst="arc">
            <a:avLst>
              <a:gd name="adj1" fmla="val 11099362"/>
              <a:gd name="adj2" fmla="val 2089804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Motivate MUSIC for Wi-Fi APs because it can use existing multi-antenna CSI, provide higher angular resolution than other </a:t>
            </a:r>
            <a:r>
              <a:rPr lang="en-US" altLang="zh-TW" dirty="0"/>
              <a:t>Spatial Spectrum Estimation algorithm </a:t>
            </a:r>
            <a:r>
              <a:rPr dirty="0"/>
              <a:t>without extra localization hardware</a:t>
            </a:r>
          </a:p>
          <a:p>
            <a:r>
              <a:rPr lang="zh-TW" altLang="en-US" dirty="0"/>
              <a:t>每一個收到的 </a:t>
            </a:r>
            <a:r>
              <a:rPr lang="en-US" altLang="zh-TW" dirty="0"/>
              <a:t>CSI</a:t>
            </a:r>
            <a:r>
              <a:rPr lang="zh-TW" altLang="en-US" dirty="0"/>
              <a:t> 是</a:t>
            </a:r>
            <a:r>
              <a:rPr lang="en-US" altLang="zh-TW" dirty="0" err="1"/>
              <a:t>X_n</a:t>
            </a:r>
            <a:r>
              <a:rPr lang="en-US" altLang="zh-TW" dirty="0"/>
              <a:t> </a:t>
            </a:r>
            <a:r>
              <a:rPr lang="zh-TW" altLang="en-US" dirty="0"/>
              <a:t>有多個 </a:t>
            </a:r>
            <a:r>
              <a:rPr lang="en-US" altLang="zh-TW" dirty="0"/>
              <a:t>snapshot =&gt;</a:t>
            </a:r>
            <a:r>
              <a:rPr lang="zh-TW" altLang="en-US" dirty="0"/>
              <a:t> </a:t>
            </a:r>
            <a:r>
              <a:rPr lang="en-US" altLang="zh-TW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[X_0, X_1, … </a:t>
            </a:r>
            <a:r>
              <a:rPr lang="en-US" altLang="zh-TW" dirty="0" err="1"/>
              <a:t>X_n</a:t>
            </a:r>
            <a:r>
              <a:rPr lang="en-US" altLang="zh-TW" dirty="0"/>
              <a:t>] </a:t>
            </a:r>
            <a:r>
              <a:rPr lang="zh-TW" altLang="en-US" dirty="0"/>
              <a:t>是 </a:t>
            </a:r>
            <a:r>
              <a:rPr lang="en-US" altLang="zh-TW" dirty="0"/>
              <a:t>CSI Dimension * snapshot number </a:t>
            </a:r>
            <a:r>
              <a:rPr lang="zh-TW" altLang="en-US" dirty="0"/>
              <a:t>的矩陣</a:t>
            </a:r>
            <a:endParaRPr lang="en-US" altLang="zh-TW" dirty="0"/>
          </a:p>
          <a:p>
            <a:r>
              <a:rPr lang="zh-TW" altLang="en-US" dirty="0"/>
              <a:t>做 </a:t>
            </a:r>
            <a:r>
              <a:rPr lang="en-US" altLang="zh-TW" dirty="0"/>
              <a:t>correlation Rx = 1/n X </a:t>
            </a:r>
            <a:r>
              <a:rPr lang="en-US" altLang="zh-TW" dirty="0" err="1"/>
              <a:t>X</a:t>
            </a:r>
            <a:r>
              <a:rPr lang="en-US" altLang="zh-TW" dirty="0"/>
              <a:t> ^H</a:t>
            </a:r>
          </a:p>
          <a:p>
            <a:r>
              <a:rPr dirty="0"/>
              <a:t>Rx</a:t>
            </a:r>
            <a:r>
              <a:rPr lang="zh-TW" altLang="en-US" dirty="0"/>
              <a:t> 做 </a:t>
            </a:r>
            <a:r>
              <a:rPr lang="en-US" altLang="zh-TW" dirty="0"/>
              <a:t>eigenvalue decomposition</a:t>
            </a:r>
            <a:r>
              <a:rPr lang="zh-TW" altLang="en-US" dirty="0"/>
              <a:t> 把 </a:t>
            </a:r>
            <a:r>
              <a:rPr lang="en-US" altLang="zh-TW" dirty="0"/>
              <a:t>eigen value </a:t>
            </a:r>
            <a:r>
              <a:rPr lang="zh-TW" altLang="en-US" dirty="0"/>
              <a:t>小的</a:t>
            </a:r>
            <a:r>
              <a:rPr lang="en-US" altLang="zh-TW" dirty="0"/>
              <a:t>eigen vector</a:t>
            </a:r>
            <a:r>
              <a:rPr lang="zh-TW" altLang="en-US" dirty="0"/>
              <a:t>挑出來當 </a:t>
            </a:r>
            <a:r>
              <a:rPr lang="en-US" altLang="zh-TW" dirty="0"/>
              <a:t>noise subspace </a:t>
            </a:r>
            <a:r>
              <a:rPr lang="zh-TW" altLang="en-US" dirty="0"/>
              <a:t>的 </a:t>
            </a:r>
            <a:r>
              <a:rPr lang="en-US" altLang="zh-TW" dirty="0"/>
              <a:t>base</a:t>
            </a:r>
          </a:p>
          <a:p>
            <a:r>
              <a:rPr lang="zh-TW" altLang="en-US" dirty="0"/>
              <a:t>每一個角度都會有自己的 </a:t>
            </a:r>
            <a:r>
              <a:rPr lang="en-US" altLang="zh-TW" dirty="0"/>
              <a:t>steering vector </a:t>
            </a:r>
            <a:r>
              <a:rPr lang="zh-TW" altLang="en-US" dirty="0"/>
              <a:t>每一個跟</a:t>
            </a:r>
            <a:r>
              <a:rPr lang="en-US" altLang="zh-TW" dirty="0"/>
              <a:t>noise subspace </a:t>
            </a:r>
            <a:r>
              <a:rPr lang="zh-TW" altLang="en-US" dirty="0"/>
              <a:t>比對有沒有正交 愈是正交愈可能是 </a:t>
            </a:r>
            <a:r>
              <a:rPr lang="en-US" altLang="zh-TW" dirty="0" err="1"/>
              <a:t>AoA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 Vector Math Presentation  from antenna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a(</a:t>
            </a:r>
            <a:r>
              <a:rPr lang="el-GR" altLang="zh-TW" dirty="0"/>
              <a:t>θ)=[1,</a:t>
            </a:r>
            <a:r>
              <a:rPr lang="en-US" altLang="zh-TW" dirty="0"/>
              <a:t>e−j</a:t>
            </a:r>
            <a:r>
              <a:rPr lang="el-GR" altLang="zh-TW" dirty="0"/>
              <a:t>Δϕ,</a:t>
            </a:r>
            <a:r>
              <a:rPr lang="en-US" altLang="zh-TW" dirty="0"/>
              <a:t>e−j2</a:t>
            </a:r>
            <a:r>
              <a:rPr lang="el-GR" altLang="zh-TW" dirty="0"/>
              <a:t>Δϕ,...,</a:t>
            </a:r>
            <a:r>
              <a:rPr lang="en-US" altLang="zh-TW" dirty="0"/>
              <a:t>e−j(M−1)</a:t>
            </a:r>
            <a:r>
              <a:rPr lang="el-GR" altLang="zh-TW" dirty="0"/>
              <a:t>Δϕ]</a:t>
            </a:r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13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DAD3106-B511-445E-A7D5-CD1A30115821}"/>
              </a:ext>
            </a:extLst>
          </p:cNvPr>
          <p:cNvGrpSpPr/>
          <p:nvPr/>
        </p:nvGrpSpPr>
        <p:grpSpPr>
          <a:xfrm>
            <a:off x="3546935" y="3137919"/>
            <a:ext cx="4333010" cy="3197244"/>
            <a:chOff x="2992580" y="1973964"/>
            <a:chExt cx="4333010" cy="319724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80B86F-59F2-4358-BE59-D7B56947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6254" y="4582391"/>
              <a:ext cx="588817" cy="5888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991B78D-C694-4413-8027-C7A8ABC61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6773" y="4582391"/>
              <a:ext cx="588817" cy="588817"/>
            </a:xfrm>
            <a:prstGeom prst="rect">
              <a:avLst/>
            </a:prstGeom>
          </p:spPr>
        </p:pic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A347363D-0293-4A51-A44B-DF7BB910E65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4270662" y="4559531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9EB25E0-9122-4661-95C0-82F190E87EE9}"/>
                </a:ext>
              </a:extLst>
            </p:cNvPr>
            <p:cNvSpPr txBox="1"/>
            <p:nvPr/>
          </p:nvSpPr>
          <p:spPr>
            <a:xfrm>
              <a:off x="5516684" y="4514461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DD2B31A-D3FE-476F-95EC-AF9E5AC58250}"/>
                </a:ext>
              </a:extLst>
            </p:cNvPr>
            <p:cNvCxnSpPr>
              <a:cxnSpLocks/>
            </p:cNvCxnSpPr>
            <p:nvPr/>
          </p:nvCxnSpPr>
          <p:spPr>
            <a:xfrm>
              <a:off x="2992580" y="3138055"/>
              <a:ext cx="1278082" cy="14443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9904E5F-5D86-40CC-B5E8-5BA0EB02523D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270663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E5496BA-FF98-415A-A9C7-8B7535B7A85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031182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074F5E6-307D-4F7A-8D8E-F32546B814E2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72" y="1973964"/>
              <a:ext cx="2308177" cy="26084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0ABF4525-4FF2-4A36-A0E0-C13AEC2A111F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4270663" y="3278177"/>
              <a:ext cx="1600897" cy="13042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L 圖案 35">
              <a:extLst>
                <a:ext uri="{FF2B5EF4-FFF2-40B4-BE49-F238E27FC236}">
                  <a16:creationId xmlns:a16="http://schemas.microsoft.com/office/drawing/2014/main" id="{8AE751F1-DA3A-421B-B199-44EF09DCC82A}"/>
                </a:ext>
              </a:extLst>
            </p:cNvPr>
            <p:cNvSpPr/>
            <p:nvPr/>
          </p:nvSpPr>
          <p:spPr>
            <a:xfrm rot="19381622">
              <a:off x="5773722" y="3317462"/>
              <a:ext cx="182117" cy="184893"/>
            </a:xfrm>
            <a:prstGeom prst="corner">
              <a:avLst>
                <a:gd name="adj1" fmla="val 0"/>
                <a:gd name="adj2" fmla="val 0"/>
              </a:avLst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D4B25BA2-5813-4C8D-9D08-1BD12C7361A8}"/>
                </a:ext>
              </a:extLst>
            </p:cNvPr>
            <p:cNvSpPr txBox="1"/>
            <p:nvPr/>
          </p:nvSpPr>
          <p:spPr>
            <a:xfrm>
              <a:off x="5638726" y="3752015"/>
              <a:ext cx="870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dsin</a:t>
              </a:r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7FA17A4-A4B0-4E85-A16C-99439F452005}"/>
                </a:ext>
              </a:extLst>
            </p:cNvPr>
            <p:cNvSpPr txBox="1"/>
            <p:nvPr/>
          </p:nvSpPr>
          <p:spPr>
            <a:xfrm>
              <a:off x="3649807" y="3273995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0BF44F4A-6F25-415D-A27F-6F39896AB33A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5864780" y="3278177"/>
              <a:ext cx="1166402" cy="13042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弧形 43">
            <a:extLst>
              <a:ext uri="{FF2B5EF4-FFF2-40B4-BE49-F238E27FC236}">
                <a16:creationId xmlns:a16="http://schemas.microsoft.com/office/drawing/2014/main" id="{2F604DA9-8BA2-4B31-BDB9-A9E821837C39}"/>
              </a:ext>
            </a:extLst>
          </p:cNvPr>
          <p:cNvSpPr/>
          <p:nvPr/>
        </p:nvSpPr>
        <p:spPr>
          <a:xfrm>
            <a:off x="4218189" y="4881265"/>
            <a:ext cx="624840" cy="381000"/>
          </a:xfrm>
          <a:prstGeom prst="arc">
            <a:avLst>
              <a:gd name="adj1" fmla="val 11099362"/>
              <a:gd name="adj2" fmla="val 2089804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13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Ability  for RTS threshold control and metric collection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Review the RTS threshold as the main AP-side control knob.</a:t>
            </a:r>
          </a:p>
          <a:p>
            <a:r>
              <a:rPr dirty="0"/>
              <a:t>Describe AP-side measurements, including retry statistics, RSSI, CSI, </a:t>
            </a:r>
            <a:r>
              <a:rPr dirty="0" err="1"/>
              <a:t>AoA</a:t>
            </a:r>
            <a:r>
              <a:rPr dirty="0"/>
              <a:t>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/>
              <a:t>AoA</a:t>
            </a:r>
            <a:r>
              <a:rPr dirty="0"/>
              <a:t>-Assisted Risk Score and RTS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/>
              <a:t>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Risk scoring design goal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the overall design goal: use AP-side AoA and link observations to decide when RTS/CTS overhead is worthwhile.</a:t>
            </a:r>
          </a:p>
          <a:p>
            <a:r>
              <a:t>Define the hidden-node risk score as the core decision variable for RTS threshold control.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CCF91274-D221-1BB4-3BF9-836E3AD31EBE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AoA and link features for hidden-node risk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AoA estimates from AP-side multi-antenna CSI as the main spatial feature for judging whether two clients are likely to be hidden from each other.</a:t>
            </a:r>
          </a:p>
          <a:p>
            <a:r>
              <a:t>Combine AoA-based spatial separation with retry behavior, RSSI, MCS, and traffic activity so the score reflects both geometry and observed collision symptoms.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RTS threshold adaptation rule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the RTS threshold adaptation rule: lower the threshold when hidden-node risk is high, and restore or raise it when risk is low to avoid unnecessary RTS/CTS overhead.</a:t>
            </a:r>
          </a:p>
          <a:p>
            <a:r>
              <a:t>Include smoothing and hysteresis so the RTS threshold does not oscillate under noisy AoA or retry measurements.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BB18BA8-60F4-C50D-CD9B-1BB87D3E8506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Evaluation scenarios, baselines, and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test scenarios for hidden-node and non-hidden-node conditions.</a:t>
            </a:r>
          </a:p>
          <a:p>
            <a:r>
              <a:t>Compare static RTS/CTS settings with the proposed AoA-assisted dynamic RTS threshold policy.</a:t>
            </a:r>
          </a:p>
          <a:p>
            <a:r>
              <a:t>Measure throughput, retry rate, latency, MCS distribution, and fairness.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20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focus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when the proposed method improves performance and when it has limited benefit.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894</Words>
  <Application>Microsoft Office PowerPoint</Application>
  <DocSecurity>0</DocSecurity>
  <PresentationFormat>寬螢幕</PresentationFormat>
  <Paragraphs>131</Paragraphs>
  <Slides>22</Slides>
  <Notes>19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微軟正黑體</vt:lpstr>
      <vt:lpstr>Arial</vt:lpstr>
      <vt:lpstr>Calibri</vt:lpstr>
      <vt:lpstr>Times New Roman</vt:lpstr>
      <vt:lpstr>Wingdings</vt:lpstr>
      <vt:lpstr>Wingdings 2</vt:lpstr>
      <vt:lpstr>2_Introduction to XSLT</vt:lpstr>
      <vt:lpstr>AoA-Assisted Dynamic RTS Threshold Adaptation for Hidden-Node Risk Mitigation in Commodity Wi-Fi APs</vt:lpstr>
      <vt:lpstr>Outline</vt:lpstr>
      <vt:lpstr>Outline</vt:lpstr>
      <vt:lpstr>Hidden Node Problem</vt:lpstr>
      <vt:lpstr>RTS/CTS Mitigation</vt:lpstr>
      <vt:lpstr>Static RTS Threshold Limitation</vt:lpstr>
      <vt:lpstr>Hidden-Node Risk-Aware RTS Threshold Control</vt:lpstr>
      <vt:lpstr>Outline</vt:lpstr>
      <vt:lpstr>WiFi OFDM CSI</vt:lpstr>
      <vt:lpstr>Spatial Spectrum Estimation</vt:lpstr>
      <vt:lpstr>Steering Vector</vt:lpstr>
      <vt:lpstr>MUSIC</vt:lpstr>
      <vt:lpstr>Steer Vector Math Presentation  from antenna array</vt:lpstr>
      <vt:lpstr>LRG1 Ability  for RTS threshold control and metric collection</vt:lpstr>
      <vt:lpstr>Outline</vt:lpstr>
      <vt:lpstr>Risk scoring design goal</vt:lpstr>
      <vt:lpstr>AoA and link features for hidden-node risk</vt:lpstr>
      <vt:lpstr>RTS threshold adaptation rule</vt:lpstr>
      <vt:lpstr>Outline</vt:lpstr>
      <vt:lpstr>Evaluation scenarios, baselines, and metrics</vt:lpstr>
      <vt:lpstr>Performance analysis focus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24</cp:revision>
  <dcterms:created xsi:type="dcterms:W3CDTF">2026-07-03T03:43:28Z</dcterms:created>
  <dcterms:modified xsi:type="dcterms:W3CDTF">2026-07-09T01:21:27Z</dcterms:modified>
</cp:coreProperties>
</file>